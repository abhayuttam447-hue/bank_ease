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Good morning. I am Abhay Uttam. Today I am presenting BankEase: NextGen Net Banking, a web-based banking platform for account management, fund transfer, bill payment, loans and investments. The project is designed as an academic prototype using Angular, Spring Boot and MySQL.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main problem is fragmentation of common banking tasks and the need for secure financial processing. Our objectives are secure authentication, account and money-transfer support, service access for bills, loans and investments, and administrative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These are the seven functional areas defined in the SRS. The most important user flow is fund transfer, while administration provides controlled KYC and loan-decision functions.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project uses a three-tier architecture. Angular is the presentation layer. Spring Boot handles business logic, DTO validation, REST APIs and security. MySQL stores persistent data using JPA and Hibernate. Protected requests use JSON and a Bearer JWT.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Security is a core requirement. Passwords are processed with BCrypt, protected requests use JWT, and role-based access separates USER and ADMIN operations. Ownership checks, balance validation, DTO validation and atomic financial updates protect transactions.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data model contains identity, banking, service, wealth and audit entities. One user can own multiple accounts and beneficiaries. Transfers reference a source account and, where applicable, a beneficiary. Investments reference a product and funding account. Roles control administrative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transfer starts after login and JWT authentication. The service validates account ownership, beneficiary ownership, account status and transfer amount, then checks available balance. If valid, the transfer is created and the account is debited. Otherwise, the request is rejected with an error. The design also keeps a unique reference and status for traceability.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SRS covers registration, login, authorization, beneficiary, transfer, bill, loan and admin tests. The key negative test is insufficient balance. Future enhancements include two-factor authentication, fraud detection, integrations, notifications, analytics and production operations. The main takeaway is that BankEase centralizes everyday banking services with a security-first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F80ED"/>
          </a:solidFill>
          <a:ln w="12700">
            <a:solidFill>
              <a:srgbClr val="2F80ED"/>
            </a:solidFill>
            <a:prstDash val="solid"/>
          </a:ln>
        </p:spPr>
      </p:sp>
      <p:sp>
        <p:nvSpPr>
          <p:cNvPr id="3" name="Shape 1"/>
          <p:cNvSpPr/>
          <p:nvPr/>
        </p:nvSpPr>
        <p:spPr>
          <a:xfrm>
            <a:off x="457200" y="6428232"/>
            <a:ext cx="11274552" cy="0"/>
          </a:xfrm>
          <a:prstGeom prst="line">
            <a:avLst/>
          </a:prstGeom>
          <a:noFill/>
          <a:ln w="8890">
            <a:solidFill>
              <a:srgbClr val="DCE6EF"/>
            </a:solidFill>
            <a:prstDash val="solid"/>
          </a:ln>
        </p:spPr>
      </p:sp>
      <p:sp>
        <p:nvSpPr>
          <p:cNvPr id="4" name="Text 2"/>
          <p:cNvSpPr/>
          <p:nvPr/>
        </p:nvSpPr>
        <p:spPr>
          <a:xfrm>
            <a:off x="502920" y="6473952"/>
            <a:ext cx="4389120" cy="182880"/>
          </a:xfrm>
          <a:prstGeom prst="rect">
            <a:avLst/>
          </a:prstGeom>
          <a:noFill/>
          <a:ln/>
        </p:spPr>
        <p:txBody>
          <a:bodyPr wrap="square" lIns="0" tIns="0" rIns="0" bIns="0" rtlCol="0" anchor="ctr"/>
          <a:lstStyle/>
          <a:p>
            <a:pPr indent="0" marL="0">
              <a:buNone/>
            </a:pPr>
            <a:r>
              <a:rPr lang="en-US" sz="850" dirty="0">
                <a:solidFill>
                  <a:srgbClr val="6B7C8C"/>
                </a:solidFill>
                <a:latin typeface="Aptos" pitchFamily="34" charset="0"/>
                <a:ea typeface="Aptos" pitchFamily="34" charset="-122"/>
                <a:cs typeface="Aptos" pitchFamily="34" charset="-120"/>
              </a:rPr>
              <a:t>BankEase: NextGen Net Banking</a:t>
            </a:r>
            <a:endParaRPr lang="en-US" sz="850" dirty="0"/>
          </a:p>
        </p:txBody>
      </p:sp>
      <p:sp>
        <p:nvSpPr>
          <p:cNvPr id="5" name="Text 3"/>
          <p:cNvSpPr/>
          <p:nvPr/>
        </p:nvSpPr>
        <p:spPr>
          <a:xfrm>
            <a:off x="7726680" y="6473952"/>
            <a:ext cx="3886200" cy="182880"/>
          </a:xfrm>
          <a:prstGeom prst="rect">
            <a:avLst/>
          </a:prstGeom>
          <a:noFill/>
          <a:ln/>
        </p:spPr>
        <p:txBody>
          <a:bodyPr wrap="square" lIns="0" tIns="0" rIns="0" bIns="0" rtlCol="0" anchor="ctr"/>
          <a:lstStyle/>
          <a:p>
            <a:pPr algn="r" indent="0" marL="0">
              <a:buNone/>
            </a:pPr>
            <a:r>
              <a:rPr lang="en-US" sz="850" dirty="0">
                <a:solidFill>
                  <a:srgbClr val="6B7C8C"/>
                </a:solidFill>
                <a:latin typeface="Aptos" pitchFamily="34" charset="0"/>
                <a:ea typeface="Aptos" pitchFamily="34" charset="-122"/>
                <a:cs typeface="Aptos" pitchFamily="34" charset="-120"/>
              </a:rPr>
              <a:t>Abhay Uttam • Roll No: 2400320100027</a:t>
            </a:r>
            <a:endParaRPr lang="en-US" sz="850" dirty="0"/>
          </a:p>
        </p:txBody>
      </p:sp>
      <p:sp>
        <p:nvSpPr>
          <p:cNvPr id="25" name="Slide Number Placeholder 0"/>
          <p:cNvSpPr>
            <a:spLocks noGrp="1"/>
          </p:cNvSpPr>
          <p:nvPr>
            <p:ph type="sldNum" sz="quarter" idx="4294967295"/>
          </p:nvPr>
        </p:nvSpPr>
        <p:spPr>
          <a:xfrm>
            <a:off x="11631168" y="647395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B7C8C"/>
                </a:solidFill>
                <a:latin typeface="Aptos"/>
                <a:ea typeface="Aptos"/>
                <a:cs typeface="Aptos"/>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31168" y="647395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B7C8C"/>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66928" y="914400"/>
            <a:ext cx="6492240" cy="4754880"/>
          </a:xfrm>
          <a:prstGeom prst="roundRect">
            <a:avLst>
              <a:gd name="adj" fmla="val 1923"/>
            </a:avLst>
          </a:prstGeom>
          <a:solidFill>
            <a:srgbClr val="FFFFFF"/>
          </a:solidFill>
          <a:ln w="12700">
            <a:solidFill>
              <a:srgbClr val="E4ECF3"/>
            </a:solidFill>
            <a:prstDash val="solid"/>
          </a:ln>
        </p:spPr>
      </p:sp>
      <p:sp>
        <p:nvSpPr>
          <p:cNvPr id="3" name="Shape 1"/>
          <p:cNvSpPr/>
          <p:nvPr/>
        </p:nvSpPr>
        <p:spPr>
          <a:xfrm>
            <a:off x="859536" y="1234440"/>
            <a:ext cx="2423160" cy="301752"/>
          </a:xfrm>
          <a:prstGeom prst="roundRect">
            <a:avLst>
              <a:gd name="adj" fmla="val 21212"/>
            </a:avLst>
          </a:prstGeom>
          <a:solidFill>
            <a:srgbClr val="EAF3FF"/>
          </a:solidFill>
          <a:ln w="12700">
            <a:solidFill>
              <a:srgbClr val="EAF3FF"/>
            </a:solidFill>
            <a:prstDash val="solid"/>
          </a:ln>
        </p:spPr>
      </p:sp>
      <p:sp>
        <p:nvSpPr>
          <p:cNvPr id="4" name="Text 2"/>
          <p:cNvSpPr/>
          <p:nvPr/>
        </p:nvSpPr>
        <p:spPr>
          <a:xfrm>
            <a:off x="859536" y="1252728"/>
            <a:ext cx="2423160" cy="228600"/>
          </a:xfrm>
          <a:prstGeom prst="rect">
            <a:avLst/>
          </a:prstGeom>
          <a:noFill/>
          <a:ln/>
        </p:spPr>
        <p:txBody>
          <a:bodyPr wrap="square" lIns="0" tIns="0" rIns="0" bIns="0" rtlCol="0" anchor="ctr"/>
          <a:lstStyle/>
          <a:p>
            <a:pPr algn="ctr" indent="0" marL="0">
              <a:buNone/>
            </a:pPr>
            <a:r>
              <a:rPr lang="en-US" sz="950" b="1" dirty="0">
                <a:solidFill>
                  <a:srgbClr val="2F80ED"/>
                </a:solidFill>
              </a:rPr>
              <a:t>COLLEGE PROJECT PRESENTATION</a:t>
            </a:r>
            <a:endParaRPr lang="en-US" sz="950" dirty="0"/>
          </a:p>
        </p:txBody>
      </p:sp>
      <p:sp>
        <p:nvSpPr>
          <p:cNvPr id="5" name="Text 3"/>
          <p:cNvSpPr/>
          <p:nvPr/>
        </p:nvSpPr>
        <p:spPr>
          <a:xfrm>
            <a:off x="868680" y="1719072"/>
            <a:ext cx="5303520" cy="548640"/>
          </a:xfrm>
          <a:prstGeom prst="rect">
            <a:avLst/>
          </a:prstGeom>
          <a:noFill/>
          <a:ln/>
        </p:spPr>
        <p:txBody>
          <a:bodyPr wrap="square" lIns="0" tIns="0" rIns="0" bIns="0" rtlCol="0" anchor="ctr"/>
          <a:lstStyle/>
          <a:p>
            <a:pPr indent="0" marL="0">
              <a:buNone/>
            </a:pPr>
            <a:r>
              <a:rPr lang="en-US" sz="3600" b="1" dirty="0">
                <a:solidFill>
                  <a:srgbClr val="12344D"/>
                </a:solidFill>
                <a:latin typeface="Aptos Display" pitchFamily="34" charset="0"/>
                <a:ea typeface="Aptos Display" pitchFamily="34" charset="-122"/>
                <a:cs typeface="Aptos Display" pitchFamily="34" charset="-120"/>
              </a:rPr>
              <a:t>BankEase:</a:t>
            </a:r>
            <a:endParaRPr lang="en-US" sz="3600" dirty="0"/>
          </a:p>
        </p:txBody>
      </p:sp>
      <p:sp>
        <p:nvSpPr>
          <p:cNvPr id="6" name="Text 4"/>
          <p:cNvSpPr/>
          <p:nvPr/>
        </p:nvSpPr>
        <p:spPr>
          <a:xfrm>
            <a:off x="868680" y="2258568"/>
            <a:ext cx="5303520" cy="530352"/>
          </a:xfrm>
          <a:prstGeom prst="rect">
            <a:avLst/>
          </a:prstGeom>
          <a:noFill/>
          <a:ln/>
        </p:spPr>
        <p:txBody>
          <a:bodyPr wrap="square" lIns="0" tIns="0" rIns="0" bIns="0" rtlCol="0" anchor="ctr"/>
          <a:lstStyle/>
          <a:p>
            <a:pPr indent="0" marL="0">
              <a:buNone/>
            </a:pPr>
            <a:r>
              <a:rPr lang="en-US" sz="3200" b="1" dirty="0">
                <a:solidFill>
                  <a:srgbClr val="2F80ED"/>
                </a:solidFill>
                <a:latin typeface="Aptos Display" pitchFamily="34" charset="0"/>
                <a:ea typeface="Aptos Display" pitchFamily="34" charset="-122"/>
                <a:cs typeface="Aptos Display" pitchFamily="34" charset="-120"/>
              </a:rPr>
              <a:t>NextGen Net Banking</a:t>
            </a:r>
            <a:endParaRPr lang="en-US" sz="3200" dirty="0"/>
          </a:p>
        </p:txBody>
      </p:sp>
      <p:sp>
        <p:nvSpPr>
          <p:cNvPr id="7" name="Text 5"/>
          <p:cNvSpPr/>
          <p:nvPr/>
        </p:nvSpPr>
        <p:spPr>
          <a:xfrm>
            <a:off x="896112" y="2880360"/>
            <a:ext cx="5486400" cy="384048"/>
          </a:xfrm>
          <a:prstGeom prst="rect">
            <a:avLst/>
          </a:prstGeom>
          <a:noFill/>
          <a:ln/>
        </p:spPr>
        <p:txBody>
          <a:bodyPr wrap="square" lIns="0" tIns="0" rIns="0" bIns="0" rtlCol="0" anchor="ctr">
            <a:normAutofit/>
          </a:bodyPr>
          <a:lstStyle/>
          <a:p>
            <a:pPr indent="0" marL="0">
              <a:buNone/>
            </a:pPr>
            <a:r>
              <a:rPr lang="en-US" sz="1300" dirty="0">
                <a:solidFill>
                  <a:srgbClr val="5D7182"/>
                </a:solidFill>
              </a:rPr>
              <a:t>Account Management • Fund Transfer • Bill Pay • Loans &amp; Investments</a:t>
            </a:r>
            <a:endParaRPr lang="en-US" sz="1300" dirty="0"/>
          </a:p>
        </p:txBody>
      </p:sp>
      <p:sp>
        <p:nvSpPr>
          <p:cNvPr id="8" name="Shape 6"/>
          <p:cNvSpPr/>
          <p:nvPr/>
        </p:nvSpPr>
        <p:spPr>
          <a:xfrm>
            <a:off x="896112" y="3456432"/>
            <a:ext cx="5440680" cy="0"/>
          </a:xfrm>
          <a:prstGeom prst="line">
            <a:avLst/>
          </a:prstGeom>
          <a:noFill/>
          <a:ln w="15240">
            <a:solidFill>
              <a:srgbClr val="D7E2EB"/>
            </a:solidFill>
            <a:prstDash val="solid"/>
          </a:ln>
        </p:spPr>
      </p:sp>
      <p:sp>
        <p:nvSpPr>
          <p:cNvPr id="9" name="Text 7"/>
          <p:cNvSpPr/>
          <p:nvPr/>
        </p:nvSpPr>
        <p:spPr>
          <a:xfrm>
            <a:off x="896112" y="3730752"/>
            <a:ext cx="1143000" cy="228600"/>
          </a:xfrm>
          <a:prstGeom prst="rect">
            <a:avLst/>
          </a:prstGeom>
          <a:noFill/>
          <a:ln/>
        </p:spPr>
        <p:txBody>
          <a:bodyPr wrap="square" lIns="0" tIns="0" rIns="0" bIns="0" rtlCol="0" anchor="ctr"/>
          <a:lstStyle/>
          <a:p>
            <a:pPr indent="0" marL="0">
              <a:buNone/>
            </a:pPr>
            <a:r>
              <a:rPr lang="en-US" sz="1050" b="1" dirty="0">
                <a:solidFill>
                  <a:srgbClr val="5D7182"/>
                </a:solidFill>
              </a:rPr>
              <a:t>Presented by</a:t>
            </a:r>
            <a:endParaRPr lang="en-US" sz="1050" dirty="0"/>
          </a:p>
        </p:txBody>
      </p:sp>
      <p:sp>
        <p:nvSpPr>
          <p:cNvPr id="10" name="Text 8"/>
          <p:cNvSpPr/>
          <p:nvPr/>
        </p:nvSpPr>
        <p:spPr>
          <a:xfrm>
            <a:off x="896112" y="4005072"/>
            <a:ext cx="3017520" cy="329184"/>
          </a:xfrm>
          <a:prstGeom prst="rect">
            <a:avLst/>
          </a:prstGeom>
          <a:noFill/>
          <a:ln/>
        </p:spPr>
        <p:txBody>
          <a:bodyPr wrap="square" lIns="0" tIns="0" rIns="0" bIns="0" rtlCol="0" anchor="ctr"/>
          <a:lstStyle/>
          <a:p>
            <a:pPr indent="0" marL="0">
              <a:buNone/>
            </a:pPr>
            <a:r>
              <a:rPr lang="en-US" sz="2100" b="1" dirty="0">
                <a:solidFill>
                  <a:srgbClr val="102A43"/>
                </a:solidFill>
              </a:rPr>
              <a:t>Abhay Uttam</a:t>
            </a:r>
            <a:endParaRPr lang="en-US" sz="2100" dirty="0"/>
          </a:p>
        </p:txBody>
      </p:sp>
      <p:sp>
        <p:nvSpPr>
          <p:cNvPr id="11" name="Text 9"/>
          <p:cNvSpPr/>
          <p:nvPr/>
        </p:nvSpPr>
        <p:spPr>
          <a:xfrm>
            <a:off x="896112" y="4416552"/>
            <a:ext cx="5166360" cy="256032"/>
          </a:xfrm>
          <a:prstGeom prst="rect">
            <a:avLst/>
          </a:prstGeom>
          <a:noFill/>
          <a:ln/>
        </p:spPr>
        <p:txBody>
          <a:bodyPr wrap="square" lIns="0" tIns="0" rIns="0" bIns="0" rtlCol="0" anchor="ctr"/>
          <a:lstStyle/>
          <a:p>
            <a:pPr indent="0" marL="0">
              <a:buNone/>
            </a:pPr>
            <a:r>
              <a:rPr lang="en-US" sz="1050" dirty="0">
                <a:solidFill>
                  <a:srgbClr val="5D7182"/>
                </a:solidFill>
              </a:rPr>
              <a:t>Roll No: 2400320100027  •  CSE  •  ABES Engineering College</a:t>
            </a:r>
            <a:endParaRPr lang="en-US" sz="1050" dirty="0"/>
          </a:p>
        </p:txBody>
      </p:sp>
      <p:sp>
        <p:nvSpPr>
          <p:cNvPr id="12" name="Text 10"/>
          <p:cNvSpPr/>
          <p:nvPr/>
        </p:nvSpPr>
        <p:spPr>
          <a:xfrm>
            <a:off x="896112" y="4828032"/>
            <a:ext cx="3108960" cy="246888"/>
          </a:xfrm>
          <a:prstGeom prst="rect">
            <a:avLst/>
          </a:prstGeom>
          <a:noFill/>
          <a:ln/>
        </p:spPr>
        <p:txBody>
          <a:bodyPr wrap="square" lIns="0" tIns="0" rIns="0" bIns="0" rtlCol="0" anchor="ctr"/>
          <a:lstStyle/>
          <a:p>
            <a:pPr indent="0" marL="0">
              <a:buNone/>
            </a:pPr>
            <a:r>
              <a:rPr lang="en-US" sz="1050" dirty="0">
                <a:solidFill>
                  <a:srgbClr val="5D7182"/>
                </a:solidFill>
              </a:rPr>
              <a:t>Academic Year 2026–2027</a:t>
            </a:r>
            <a:endParaRPr lang="en-US" sz="1050" dirty="0"/>
          </a:p>
        </p:txBody>
      </p:sp>
      <p:sp>
        <p:nvSpPr>
          <p:cNvPr id="13" name="Shape 11"/>
          <p:cNvSpPr/>
          <p:nvPr/>
        </p:nvSpPr>
        <p:spPr>
          <a:xfrm>
            <a:off x="7360920" y="914400"/>
            <a:ext cx="4224528" cy="4754880"/>
          </a:xfrm>
          <a:prstGeom prst="roundRect">
            <a:avLst>
              <a:gd name="adj" fmla="val 2597"/>
            </a:avLst>
          </a:prstGeom>
          <a:solidFill>
            <a:srgbClr val="EAF3FF"/>
          </a:solidFill>
          <a:ln w="12700">
            <a:solidFill>
              <a:srgbClr val="D6E8FB"/>
            </a:solidFill>
            <a:prstDash val="solid"/>
          </a:ln>
        </p:spPr>
      </p:sp>
      <p:sp>
        <p:nvSpPr>
          <p:cNvPr id="14" name="Shape 12"/>
          <p:cNvSpPr/>
          <p:nvPr/>
        </p:nvSpPr>
        <p:spPr>
          <a:xfrm>
            <a:off x="8321040" y="1417320"/>
            <a:ext cx="2286000" cy="2286000"/>
          </a:xfrm>
          <a:prstGeom prst="ellipse">
            <a:avLst/>
          </a:prstGeom>
          <a:solidFill>
            <a:srgbClr val="CFE5FF"/>
          </a:solidFill>
          <a:ln w="12700">
            <a:solidFill>
              <a:srgbClr val="CFE5FF"/>
            </a:solidFill>
            <a:prstDash val="solid"/>
          </a:ln>
        </p:spPr>
      </p:sp>
      <p:sp>
        <p:nvSpPr>
          <p:cNvPr id="15" name="Shape 13"/>
          <p:cNvSpPr/>
          <p:nvPr/>
        </p:nvSpPr>
        <p:spPr>
          <a:xfrm>
            <a:off x="8019288" y="1828800"/>
            <a:ext cx="2743200" cy="1600200"/>
          </a:xfrm>
          <a:prstGeom prst="roundRect">
            <a:avLst>
              <a:gd name="adj" fmla="val 4571"/>
            </a:avLst>
          </a:prstGeom>
          <a:solidFill>
            <a:srgbClr val="12344D"/>
          </a:solidFill>
          <a:ln w="12700">
            <a:solidFill>
              <a:srgbClr val="12344D"/>
            </a:solidFill>
            <a:prstDash val="solid"/>
          </a:ln>
        </p:spPr>
      </p:sp>
      <p:sp>
        <p:nvSpPr>
          <p:cNvPr id="16" name="Text 14"/>
          <p:cNvSpPr/>
          <p:nvPr/>
        </p:nvSpPr>
        <p:spPr>
          <a:xfrm>
            <a:off x="8247888" y="2011680"/>
            <a:ext cx="1645920" cy="256032"/>
          </a:xfrm>
          <a:prstGeom prst="rect">
            <a:avLst/>
          </a:prstGeom>
          <a:noFill/>
          <a:ln/>
        </p:spPr>
        <p:txBody>
          <a:bodyPr wrap="square" lIns="0" tIns="0" rIns="0" bIns="0" rtlCol="0" anchor="ctr"/>
          <a:lstStyle/>
          <a:p>
            <a:pPr indent="0" marL="0">
              <a:buNone/>
            </a:pPr>
            <a:r>
              <a:rPr lang="en-US" sz="1100" b="1" dirty="0">
                <a:solidFill>
                  <a:srgbClr val="FFFFFF"/>
                </a:solidFill>
              </a:rPr>
              <a:t>BANKEASE</a:t>
            </a:r>
            <a:endParaRPr lang="en-US" sz="1100" dirty="0"/>
          </a:p>
        </p:txBody>
      </p:sp>
      <p:sp>
        <p:nvSpPr>
          <p:cNvPr id="17" name="Shape 15"/>
          <p:cNvSpPr/>
          <p:nvPr/>
        </p:nvSpPr>
        <p:spPr>
          <a:xfrm>
            <a:off x="8229600" y="2441448"/>
            <a:ext cx="502920" cy="338328"/>
          </a:xfrm>
          <a:prstGeom prst="rect">
            <a:avLst/>
          </a:prstGeom>
          <a:solidFill>
            <a:srgbClr val="D9E6F2"/>
          </a:solidFill>
          <a:ln w="12700">
            <a:solidFill>
              <a:srgbClr val="D9E6F2"/>
            </a:solidFill>
            <a:prstDash val="solid"/>
          </a:ln>
        </p:spPr>
      </p:sp>
      <p:sp>
        <p:nvSpPr>
          <p:cNvPr id="18" name="Text 16"/>
          <p:cNvSpPr/>
          <p:nvPr/>
        </p:nvSpPr>
        <p:spPr>
          <a:xfrm>
            <a:off x="8211312" y="2953512"/>
            <a:ext cx="2194560" cy="228600"/>
          </a:xfrm>
          <a:prstGeom prst="rect">
            <a:avLst/>
          </a:prstGeom>
          <a:noFill/>
          <a:ln/>
        </p:spPr>
        <p:txBody>
          <a:bodyPr wrap="square" lIns="0" tIns="0" rIns="0" bIns="0" rtlCol="0" anchor="ctr"/>
          <a:lstStyle/>
          <a:p>
            <a:pPr indent="0" marL="0">
              <a:buNone/>
            </a:pPr>
            <a:r>
              <a:rPr lang="en-US" sz="1000" dirty="0">
                <a:solidFill>
                  <a:srgbClr val="EAF3FF"/>
                </a:solidFill>
              </a:rPr>
              <a:t>••••  ••••  ••••  2400</a:t>
            </a:r>
            <a:endParaRPr lang="en-US" sz="1000" dirty="0"/>
          </a:p>
        </p:txBody>
      </p:sp>
      <p:sp>
        <p:nvSpPr>
          <p:cNvPr id="19" name="Shape 17"/>
          <p:cNvSpPr/>
          <p:nvPr/>
        </p:nvSpPr>
        <p:spPr>
          <a:xfrm>
            <a:off x="9802368" y="3566160"/>
            <a:ext cx="896112" cy="960120"/>
          </a:xfrm>
          <a:prstGeom prst="hexagon">
            <a:avLst/>
          </a:prstGeom>
          <a:solidFill>
            <a:srgbClr val="16A34A"/>
          </a:solidFill>
          <a:ln w="12700">
            <a:solidFill>
              <a:srgbClr val="16A34A"/>
            </a:solidFill>
            <a:prstDash val="solid"/>
          </a:ln>
        </p:spPr>
      </p:sp>
      <p:sp>
        <p:nvSpPr>
          <p:cNvPr id="20" name="Text 18"/>
          <p:cNvSpPr/>
          <p:nvPr/>
        </p:nvSpPr>
        <p:spPr>
          <a:xfrm>
            <a:off x="9802368" y="3703320"/>
            <a:ext cx="896112" cy="548640"/>
          </a:xfrm>
          <a:prstGeom prst="rect">
            <a:avLst/>
          </a:prstGeom>
          <a:noFill/>
          <a:ln/>
        </p:spPr>
        <p:txBody>
          <a:bodyPr wrap="square" lIns="0" tIns="0" rIns="0" bIns="0" rtlCol="0" anchor="ctr"/>
          <a:lstStyle/>
          <a:p>
            <a:pPr algn="ctr" indent="0" marL="0">
              <a:buNone/>
            </a:pPr>
            <a:r>
              <a:rPr lang="en-US" sz="2400" b="1" dirty="0">
                <a:solidFill>
                  <a:srgbClr val="FFFFFF"/>
                </a:solidFill>
              </a:rPr>
              <a:t>✓</a:t>
            </a:r>
            <a:endParaRPr lang="en-US" sz="2400" dirty="0"/>
          </a:p>
        </p:txBody>
      </p:sp>
      <p:sp>
        <p:nvSpPr>
          <p:cNvPr id="21" name="Shape 19"/>
          <p:cNvSpPr/>
          <p:nvPr/>
        </p:nvSpPr>
        <p:spPr>
          <a:xfrm>
            <a:off x="7818120" y="4773168"/>
            <a:ext cx="777240" cy="301752"/>
          </a:xfrm>
          <a:prstGeom prst="roundRect">
            <a:avLst>
              <a:gd name="adj" fmla="val 21212"/>
            </a:avLst>
          </a:prstGeom>
          <a:solidFill>
            <a:srgbClr val="EAF8F0"/>
          </a:solidFill>
          <a:ln w="12700">
            <a:solidFill>
              <a:srgbClr val="EAF8F0"/>
            </a:solidFill>
            <a:prstDash val="solid"/>
          </a:ln>
        </p:spPr>
      </p:sp>
      <p:sp>
        <p:nvSpPr>
          <p:cNvPr id="22" name="Text 20"/>
          <p:cNvSpPr/>
          <p:nvPr/>
        </p:nvSpPr>
        <p:spPr>
          <a:xfrm>
            <a:off x="7818120" y="4791456"/>
            <a:ext cx="777240" cy="228600"/>
          </a:xfrm>
          <a:prstGeom prst="rect">
            <a:avLst/>
          </a:prstGeom>
          <a:noFill/>
          <a:ln/>
        </p:spPr>
        <p:txBody>
          <a:bodyPr wrap="square" lIns="0" tIns="0" rIns="0" bIns="0" rtlCol="0" anchor="ctr"/>
          <a:lstStyle/>
          <a:p>
            <a:pPr algn="ctr" indent="0" marL="0">
              <a:buNone/>
            </a:pPr>
            <a:r>
              <a:rPr lang="en-US" sz="950" b="1" dirty="0">
                <a:solidFill>
                  <a:srgbClr val="16A34A"/>
                </a:solidFill>
              </a:rPr>
              <a:t>JWT</a:t>
            </a:r>
            <a:endParaRPr lang="en-US" sz="950" dirty="0"/>
          </a:p>
        </p:txBody>
      </p:sp>
      <p:sp>
        <p:nvSpPr>
          <p:cNvPr id="23" name="Shape 21"/>
          <p:cNvSpPr/>
          <p:nvPr/>
        </p:nvSpPr>
        <p:spPr>
          <a:xfrm>
            <a:off x="8732520" y="4773168"/>
            <a:ext cx="960120" cy="301752"/>
          </a:xfrm>
          <a:prstGeom prst="roundRect">
            <a:avLst>
              <a:gd name="adj" fmla="val 21212"/>
            </a:avLst>
          </a:prstGeom>
          <a:solidFill>
            <a:srgbClr val="F3EEFF"/>
          </a:solidFill>
          <a:ln w="12700">
            <a:solidFill>
              <a:srgbClr val="F3EEFF"/>
            </a:solidFill>
            <a:prstDash val="solid"/>
          </a:ln>
        </p:spPr>
      </p:sp>
      <p:sp>
        <p:nvSpPr>
          <p:cNvPr id="24" name="Text 22"/>
          <p:cNvSpPr/>
          <p:nvPr/>
        </p:nvSpPr>
        <p:spPr>
          <a:xfrm>
            <a:off x="8732520" y="4791456"/>
            <a:ext cx="960120" cy="228600"/>
          </a:xfrm>
          <a:prstGeom prst="rect">
            <a:avLst/>
          </a:prstGeom>
          <a:noFill/>
          <a:ln/>
        </p:spPr>
        <p:txBody>
          <a:bodyPr wrap="square" lIns="0" tIns="0" rIns="0" bIns="0" rtlCol="0" anchor="ctr"/>
          <a:lstStyle/>
          <a:p>
            <a:pPr algn="ctr" indent="0" marL="0">
              <a:buNone/>
            </a:pPr>
            <a:r>
              <a:rPr lang="en-US" sz="950" b="1" dirty="0">
                <a:solidFill>
                  <a:srgbClr val="7C3AED"/>
                </a:solidFill>
              </a:rPr>
              <a:t>RBAC</a:t>
            </a:r>
            <a:endParaRPr lang="en-US" sz="950" dirty="0"/>
          </a:p>
        </p:txBody>
      </p:sp>
      <p:sp>
        <p:nvSpPr>
          <p:cNvPr id="25" name="Shape 23"/>
          <p:cNvSpPr/>
          <p:nvPr/>
        </p:nvSpPr>
        <p:spPr>
          <a:xfrm>
            <a:off x="9838944" y="4773168"/>
            <a:ext cx="1069848" cy="301752"/>
          </a:xfrm>
          <a:prstGeom prst="roundRect">
            <a:avLst>
              <a:gd name="adj" fmla="val 21212"/>
            </a:avLst>
          </a:prstGeom>
          <a:solidFill>
            <a:srgbClr val="FFF6E5"/>
          </a:solidFill>
          <a:ln w="12700">
            <a:solidFill>
              <a:srgbClr val="FFF6E5"/>
            </a:solidFill>
            <a:prstDash val="solid"/>
          </a:ln>
        </p:spPr>
      </p:sp>
      <p:sp>
        <p:nvSpPr>
          <p:cNvPr id="26" name="Text 24"/>
          <p:cNvSpPr/>
          <p:nvPr/>
        </p:nvSpPr>
        <p:spPr>
          <a:xfrm>
            <a:off x="9838944" y="4791456"/>
            <a:ext cx="1069848" cy="228600"/>
          </a:xfrm>
          <a:prstGeom prst="rect">
            <a:avLst/>
          </a:prstGeom>
          <a:noFill/>
          <a:ln/>
        </p:spPr>
        <p:txBody>
          <a:bodyPr wrap="square" lIns="0" tIns="0" rIns="0" bIns="0" rtlCol="0" anchor="ctr"/>
          <a:lstStyle/>
          <a:p>
            <a:pPr algn="ctr" indent="0" marL="0">
              <a:buNone/>
            </a:pPr>
            <a:r>
              <a:rPr lang="en-US" sz="950" b="1" dirty="0">
                <a:solidFill>
                  <a:srgbClr val="F59E0B"/>
                </a:solidFill>
              </a:rPr>
              <a:t>MySQL</a:t>
            </a:r>
            <a:endParaRPr lang="en-US" sz="950" dirty="0"/>
          </a:p>
        </p:txBody>
      </p:sp>
      <p:sp>
        <p:nvSpPr>
          <p:cNvPr id="27" name="Text 25"/>
          <p:cNvSpPr/>
          <p:nvPr/>
        </p:nvSpPr>
        <p:spPr>
          <a:xfrm>
            <a:off x="9372600" y="6144768"/>
            <a:ext cx="2240280" cy="164592"/>
          </a:xfrm>
          <a:prstGeom prst="rect">
            <a:avLst/>
          </a:prstGeom>
          <a:noFill/>
          <a:ln/>
        </p:spPr>
        <p:txBody>
          <a:bodyPr wrap="square" lIns="0" tIns="0" rIns="0" bIns="0" rtlCol="0" anchor="ctr"/>
          <a:lstStyle/>
          <a:p>
            <a:pPr algn="r" indent="0" marL="0">
              <a:buNone/>
            </a:pPr>
            <a:r>
              <a:rPr lang="en-US" sz="720" i="1" dirty="0">
                <a:solidFill>
                  <a:srgbClr val="8797A5"/>
                </a:solidFill>
              </a:rPr>
              <a:t>Source: Uploaded BankEase SRS, cover page</a:t>
            </a:r>
            <a:endParaRPr lang="en-US" sz="720" dirty="0"/>
          </a:p>
        </p:txBody>
      </p:sp>
      <p:sp>
        <p:nvSpPr>
          <p:cNvPr id="25" name="Slide Number Placeholder 0"/>
          <p:cNvSpPr>
            <a:spLocks noGrp="1"/>
          </p:cNvSpPr>
          <p:nvPr>
            <p:ph type="sldNum" sz="quarter" idx="4294967295"/>
          </p:nvPr>
        </p:nvSpPr>
        <p:spPr>
          <a:xfrm>
            <a:off x="11631168" y="647395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B7C8C"/>
                </a:solidFill>
                <a:latin typeface="Aptos"/>
                <a:ea typeface="Aptos"/>
                <a:cs typeface="Aptos"/>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84048"/>
            <a:ext cx="8138160" cy="384048"/>
          </a:xfrm>
          <a:prstGeom prst="rect">
            <a:avLst/>
          </a:prstGeom>
          <a:noFill/>
          <a:ln/>
        </p:spPr>
        <p:txBody>
          <a:bodyPr wrap="square" lIns="0" tIns="0" rIns="0" bIns="0" rtlCol="0" anchor="ctr"/>
          <a:lstStyle/>
          <a:p>
            <a:pPr indent="0" marL="0">
              <a:buNone/>
            </a:pPr>
            <a:r>
              <a:rPr lang="en-US" sz="2500" b="1" dirty="0">
                <a:solidFill>
                  <a:srgbClr val="12344D"/>
                </a:solidFill>
                <a:latin typeface="Aptos Display" pitchFamily="34" charset="0"/>
                <a:ea typeface="Aptos Display" pitchFamily="34" charset="-122"/>
                <a:cs typeface="Aptos Display" pitchFamily="34" charset="-120"/>
              </a:rPr>
              <a:t>Why BankEase?</a:t>
            </a:r>
            <a:endParaRPr lang="en-US" sz="2500" dirty="0"/>
          </a:p>
        </p:txBody>
      </p:sp>
      <p:sp>
        <p:nvSpPr>
          <p:cNvPr id="3" name="Text 1"/>
          <p:cNvSpPr/>
          <p:nvPr/>
        </p:nvSpPr>
        <p:spPr>
          <a:xfrm>
            <a:off x="585216" y="786384"/>
            <a:ext cx="10789920" cy="292608"/>
          </a:xfrm>
          <a:prstGeom prst="rect">
            <a:avLst/>
          </a:prstGeom>
          <a:noFill/>
          <a:ln/>
        </p:spPr>
        <p:txBody>
          <a:bodyPr wrap="square" lIns="0" tIns="0" rIns="0" bIns="0" rtlCol="0" anchor="ctr"/>
          <a:lstStyle/>
          <a:p>
            <a:pPr indent="0" marL="0">
              <a:buNone/>
            </a:pPr>
            <a:r>
              <a:rPr lang="en-US" sz="1050" dirty="0">
                <a:solidFill>
                  <a:srgbClr val="5D7182"/>
                </a:solidFill>
              </a:rPr>
              <a:t>The project brings common banking operations into one secure web platform.</a:t>
            </a:r>
            <a:endParaRPr lang="en-US" sz="1050" dirty="0"/>
          </a:p>
        </p:txBody>
      </p:sp>
      <p:sp>
        <p:nvSpPr>
          <p:cNvPr id="4" name="Shape 2"/>
          <p:cNvSpPr/>
          <p:nvPr/>
        </p:nvSpPr>
        <p:spPr>
          <a:xfrm>
            <a:off x="594360" y="1261872"/>
            <a:ext cx="5166360" cy="4434840"/>
          </a:xfrm>
          <a:prstGeom prst="roundRect">
            <a:avLst>
              <a:gd name="adj" fmla="val 1649"/>
            </a:avLst>
          </a:prstGeom>
          <a:solidFill>
            <a:srgbClr val="FFFFFF"/>
          </a:solidFill>
          <a:ln w="11430">
            <a:solidFill>
              <a:srgbClr val="D7E2EB"/>
            </a:solidFill>
            <a:prstDash val="solid"/>
          </a:ln>
          <a:effectLst>
            <a:outerShdw sx="100000" sy="100000" kx="0" ky="0" algn="bl" rotWithShape="0" blurRad="12700" dist="50800" dir="2700000">
              <a:srgbClr val="B7C6D1">
                <a:alpha val="11000"/>
              </a:srgbClr>
            </a:outerShdw>
          </a:effectLst>
        </p:spPr>
      </p:sp>
      <p:sp>
        <p:nvSpPr>
          <p:cNvPr id="5" name="Text 3"/>
          <p:cNvSpPr/>
          <p:nvPr/>
        </p:nvSpPr>
        <p:spPr>
          <a:xfrm>
            <a:off x="868680" y="1508760"/>
            <a:ext cx="2194560" cy="201168"/>
          </a:xfrm>
          <a:prstGeom prst="rect">
            <a:avLst/>
          </a:prstGeom>
          <a:noFill/>
          <a:ln/>
        </p:spPr>
        <p:txBody>
          <a:bodyPr wrap="square" lIns="0" tIns="0" rIns="0" bIns="0" rtlCol="0" anchor="ctr"/>
          <a:lstStyle/>
          <a:p>
            <a:pPr indent="0" marL="0">
              <a:buNone/>
            </a:pPr>
            <a:r>
              <a:rPr lang="en-US" sz="850" b="1" spc="110" kern="0" dirty="0">
                <a:solidFill>
                  <a:srgbClr val="DC2626"/>
                </a:solidFill>
              </a:rPr>
              <a:t>PROBLEM</a:t>
            </a:r>
            <a:endParaRPr lang="en-US" sz="850" dirty="0"/>
          </a:p>
        </p:txBody>
      </p:sp>
      <p:sp>
        <p:nvSpPr>
          <p:cNvPr id="6" name="Text 4"/>
          <p:cNvSpPr/>
          <p:nvPr/>
        </p:nvSpPr>
        <p:spPr>
          <a:xfrm>
            <a:off x="868680" y="1810512"/>
            <a:ext cx="4434840" cy="502920"/>
          </a:xfrm>
          <a:prstGeom prst="rect">
            <a:avLst/>
          </a:prstGeom>
          <a:noFill/>
          <a:ln/>
        </p:spPr>
        <p:txBody>
          <a:bodyPr wrap="square" lIns="0" tIns="0" rIns="0" bIns="0" rtlCol="0" anchor="ctr">
            <a:normAutofit/>
          </a:bodyPr>
          <a:lstStyle/>
          <a:p>
            <a:pPr indent="0" marL="0">
              <a:buNone/>
            </a:pPr>
            <a:r>
              <a:rPr lang="en-US" sz="2000" b="1" dirty="0">
                <a:solidFill>
                  <a:srgbClr val="12344D"/>
                </a:solidFill>
              </a:rPr>
              <a:t>Traditional banking can fragment everyday tasks.</a:t>
            </a:r>
            <a:endParaRPr lang="en-US" sz="2000" dirty="0"/>
          </a:p>
        </p:txBody>
      </p:sp>
      <p:sp>
        <p:nvSpPr>
          <p:cNvPr id="7" name="Shape 5"/>
          <p:cNvSpPr/>
          <p:nvPr/>
        </p:nvSpPr>
        <p:spPr>
          <a:xfrm>
            <a:off x="868680" y="2560320"/>
            <a:ext cx="82296" cy="82296"/>
          </a:xfrm>
          <a:prstGeom prst="ellipse">
            <a:avLst/>
          </a:prstGeom>
          <a:solidFill>
            <a:srgbClr val="2F80ED"/>
          </a:solidFill>
          <a:ln w="12700">
            <a:solidFill>
              <a:srgbClr val="2F80ED"/>
            </a:solidFill>
            <a:prstDash val="solid"/>
          </a:ln>
        </p:spPr>
      </p:sp>
      <p:sp>
        <p:nvSpPr>
          <p:cNvPr id="8" name="Text 6"/>
          <p:cNvSpPr/>
          <p:nvPr/>
        </p:nvSpPr>
        <p:spPr>
          <a:xfrm>
            <a:off x="1033272" y="2487168"/>
            <a:ext cx="4361688" cy="292608"/>
          </a:xfrm>
          <a:prstGeom prst="rect">
            <a:avLst/>
          </a:prstGeom>
          <a:noFill/>
          <a:ln/>
        </p:spPr>
        <p:txBody>
          <a:bodyPr wrap="square" lIns="0" tIns="0" rIns="0" bIns="0" rtlCol="0" anchor="ctr">
            <a:normAutofit/>
          </a:bodyPr>
          <a:lstStyle/>
          <a:p>
            <a:pPr indent="0" marL="0">
              <a:buNone/>
            </a:pPr>
            <a:r>
              <a:rPr lang="en-US" sz="1320" dirty="0">
                <a:solidFill>
                  <a:srgbClr val="263238"/>
                </a:solidFill>
              </a:rPr>
              <a:t>Account, transfer, bills, loans and investments are often handled separately.</a:t>
            </a:r>
            <a:endParaRPr lang="en-US" sz="1320" dirty="0"/>
          </a:p>
        </p:txBody>
      </p:sp>
      <p:sp>
        <p:nvSpPr>
          <p:cNvPr id="9" name="Shape 7"/>
          <p:cNvSpPr/>
          <p:nvPr/>
        </p:nvSpPr>
        <p:spPr>
          <a:xfrm>
            <a:off x="868680" y="6016752"/>
            <a:ext cx="82296" cy="82296"/>
          </a:xfrm>
          <a:prstGeom prst="ellipse">
            <a:avLst/>
          </a:prstGeom>
          <a:solidFill>
            <a:srgbClr val="2F80ED"/>
          </a:solidFill>
          <a:ln w="12700">
            <a:solidFill>
              <a:srgbClr val="2F80ED"/>
            </a:solidFill>
            <a:prstDash val="solid"/>
          </a:ln>
        </p:spPr>
      </p:sp>
      <p:sp>
        <p:nvSpPr>
          <p:cNvPr id="10" name="Text 8"/>
          <p:cNvSpPr/>
          <p:nvPr/>
        </p:nvSpPr>
        <p:spPr>
          <a:xfrm>
            <a:off x="1033272" y="5943600"/>
            <a:ext cx="4361688" cy="292608"/>
          </a:xfrm>
          <a:prstGeom prst="rect">
            <a:avLst/>
          </a:prstGeom>
          <a:noFill/>
          <a:ln/>
        </p:spPr>
        <p:txBody>
          <a:bodyPr wrap="square" lIns="0" tIns="0" rIns="0" bIns="0" rtlCol="0" anchor="ctr">
            <a:normAutofit/>
          </a:bodyPr>
          <a:lstStyle/>
          <a:p>
            <a:pPr indent="0" marL="0">
              <a:buNone/>
            </a:pPr>
            <a:r>
              <a:rPr lang="en-US" sz="1320" dirty="0">
                <a:solidFill>
                  <a:srgbClr val="263238"/>
                </a:solidFill>
              </a:rPr>
              <a:t>Users need a single, clear dashboard for routine banking actions.</a:t>
            </a:r>
            <a:endParaRPr lang="en-US" sz="1320" dirty="0"/>
          </a:p>
        </p:txBody>
      </p:sp>
      <p:sp>
        <p:nvSpPr>
          <p:cNvPr id="11" name="Shape 9"/>
          <p:cNvSpPr/>
          <p:nvPr/>
        </p:nvSpPr>
        <p:spPr>
          <a:xfrm>
            <a:off x="868680" y="9473184"/>
            <a:ext cx="82296" cy="82296"/>
          </a:xfrm>
          <a:prstGeom prst="ellipse">
            <a:avLst/>
          </a:prstGeom>
          <a:solidFill>
            <a:srgbClr val="2F80ED"/>
          </a:solidFill>
          <a:ln w="12700">
            <a:solidFill>
              <a:srgbClr val="2F80ED"/>
            </a:solidFill>
            <a:prstDash val="solid"/>
          </a:ln>
        </p:spPr>
      </p:sp>
      <p:sp>
        <p:nvSpPr>
          <p:cNvPr id="12" name="Text 10"/>
          <p:cNvSpPr/>
          <p:nvPr/>
        </p:nvSpPr>
        <p:spPr>
          <a:xfrm>
            <a:off x="1033272" y="9400032"/>
            <a:ext cx="4361688" cy="292608"/>
          </a:xfrm>
          <a:prstGeom prst="rect">
            <a:avLst/>
          </a:prstGeom>
          <a:noFill/>
          <a:ln/>
        </p:spPr>
        <p:txBody>
          <a:bodyPr wrap="square" lIns="0" tIns="0" rIns="0" bIns="0" rtlCol="0" anchor="ctr">
            <a:normAutofit/>
          </a:bodyPr>
          <a:lstStyle/>
          <a:p>
            <a:pPr indent="0" marL="0">
              <a:buNone/>
            </a:pPr>
            <a:r>
              <a:rPr lang="en-US" sz="1320" dirty="0">
                <a:solidFill>
                  <a:srgbClr val="263238"/>
                </a:solidFill>
              </a:rPr>
              <a:t>Financial actions require strong authentication, authorization and validation.</a:t>
            </a:r>
            <a:endParaRPr lang="en-US" sz="1320" dirty="0"/>
          </a:p>
        </p:txBody>
      </p:sp>
      <p:sp>
        <p:nvSpPr>
          <p:cNvPr id="13" name="Shape 11"/>
          <p:cNvSpPr/>
          <p:nvPr/>
        </p:nvSpPr>
        <p:spPr>
          <a:xfrm>
            <a:off x="6016752" y="1261872"/>
            <a:ext cx="5559552" cy="4434840"/>
          </a:xfrm>
          <a:prstGeom prst="roundRect">
            <a:avLst>
              <a:gd name="adj" fmla="val 1649"/>
            </a:avLst>
          </a:prstGeom>
          <a:solidFill>
            <a:srgbClr val="FFFFFF"/>
          </a:solidFill>
          <a:ln w="11430">
            <a:solidFill>
              <a:srgbClr val="D7E2EB"/>
            </a:solidFill>
            <a:prstDash val="solid"/>
          </a:ln>
          <a:effectLst>
            <a:outerShdw sx="100000" sy="100000" kx="0" ky="0" algn="bl" rotWithShape="0" blurRad="12700" dist="50800" dir="2700000">
              <a:srgbClr val="B7C6D1">
                <a:alpha val="11000"/>
              </a:srgbClr>
            </a:outerShdw>
          </a:effectLst>
        </p:spPr>
      </p:sp>
      <p:sp>
        <p:nvSpPr>
          <p:cNvPr id="14" name="Text 12"/>
          <p:cNvSpPr/>
          <p:nvPr/>
        </p:nvSpPr>
        <p:spPr>
          <a:xfrm>
            <a:off x="6309360" y="1508760"/>
            <a:ext cx="2194560" cy="201168"/>
          </a:xfrm>
          <a:prstGeom prst="rect">
            <a:avLst/>
          </a:prstGeom>
          <a:noFill/>
          <a:ln/>
        </p:spPr>
        <p:txBody>
          <a:bodyPr wrap="square" lIns="0" tIns="0" rIns="0" bIns="0" rtlCol="0" anchor="ctr"/>
          <a:lstStyle/>
          <a:p>
            <a:pPr indent="0" marL="0">
              <a:buNone/>
            </a:pPr>
            <a:r>
              <a:rPr lang="en-US" sz="850" b="1" spc="110" kern="0" dirty="0">
                <a:solidFill>
                  <a:srgbClr val="2F80ED"/>
                </a:solidFill>
              </a:rPr>
              <a:t>OBJECTIVES</a:t>
            </a:r>
            <a:endParaRPr lang="en-US" sz="850" dirty="0"/>
          </a:p>
        </p:txBody>
      </p:sp>
      <p:sp>
        <p:nvSpPr>
          <p:cNvPr id="15" name="Shape 13"/>
          <p:cNvSpPr/>
          <p:nvPr/>
        </p:nvSpPr>
        <p:spPr>
          <a:xfrm>
            <a:off x="6327648" y="1874520"/>
            <a:ext cx="420624" cy="420624"/>
          </a:xfrm>
          <a:prstGeom prst="ellipse">
            <a:avLst/>
          </a:prstGeom>
          <a:solidFill>
            <a:srgbClr val="2F80ED"/>
          </a:solidFill>
          <a:ln w="12700">
            <a:solidFill>
              <a:srgbClr val="2F80ED"/>
            </a:solidFill>
            <a:prstDash val="solid"/>
          </a:ln>
        </p:spPr>
      </p:sp>
      <p:sp>
        <p:nvSpPr>
          <p:cNvPr id="16" name="Text 14"/>
          <p:cNvSpPr/>
          <p:nvPr/>
        </p:nvSpPr>
        <p:spPr>
          <a:xfrm>
            <a:off x="6327648" y="1883664"/>
            <a:ext cx="420624" cy="402336"/>
          </a:xfrm>
          <a:prstGeom prst="rect">
            <a:avLst/>
          </a:prstGeom>
          <a:noFill/>
          <a:ln/>
        </p:spPr>
        <p:txBody>
          <a:bodyPr wrap="square" lIns="0" tIns="0" rIns="0" bIns="0" rtlCol="0" anchor="ctr"/>
          <a:lstStyle/>
          <a:p>
            <a:pPr algn="ctr" indent="0" marL="0">
              <a:buNone/>
            </a:pPr>
            <a:r>
              <a:rPr lang="en-US" sz="1800" b="1" dirty="0">
                <a:solidFill>
                  <a:srgbClr val="FFFFFF"/>
                </a:solidFill>
              </a:rPr>
              <a:t>01</a:t>
            </a:r>
            <a:endParaRPr lang="en-US" sz="1800" dirty="0"/>
          </a:p>
        </p:txBody>
      </p:sp>
      <p:sp>
        <p:nvSpPr>
          <p:cNvPr id="17" name="Text 15"/>
          <p:cNvSpPr/>
          <p:nvPr/>
        </p:nvSpPr>
        <p:spPr>
          <a:xfrm>
            <a:off x="6903720" y="1865376"/>
            <a:ext cx="2057400" cy="256032"/>
          </a:xfrm>
          <a:prstGeom prst="rect">
            <a:avLst/>
          </a:prstGeom>
          <a:noFill/>
          <a:ln/>
        </p:spPr>
        <p:txBody>
          <a:bodyPr wrap="square" lIns="0" tIns="0" rIns="0" bIns="0" rtlCol="0" anchor="ctr"/>
          <a:lstStyle/>
          <a:p>
            <a:pPr indent="0" marL="0">
              <a:buNone/>
            </a:pPr>
            <a:r>
              <a:rPr lang="en-US" sz="1400" b="1" dirty="0">
                <a:solidFill>
                  <a:srgbClr val="102A43"/>
                </a:solidFill>
              </a:rPr>
              <a:t>Secure access</a:t>
            </a:r>
            <a:endParaRPr lang="en-US" sz="1400" dirty="0"/>
          </a:p>
        </p:txBody>
      </p:sp>
      <p:sp>
        <p:nvSpPr>
          <p:cNvPr id="18" name="Text 16"/>
          <p:cNvSpPr/>
          <p:nvPr/>
        </p:nvSpPr>
        <p:spPr>
          <a:xfrm>
            <a:off x="6903720" y="2157984"/>
            <a:ext cx="4160520" cy="256032"/>
          </a:xfrm>
          <a:prstGeom prst="rect">
            <a:avLst/>
          </a:prstGeom>
          <a:noFill/>
          <a:ln/>
        </p:spPr>
        <p:txBody>
          <a:bodyPr wrap="square" lIns="0" tIns="0" rIns="0" bIns="0" rtlCol="0" anchor="ctr"/>
          <a:lstStyle/>
          <a:p>
            <a:pPr indent="0" marL="0">
              <a:buNone/>
            </a:pPr>
            <a:r>
              <a:rPr lang="en-US" sz="1070" dirty="0">
                <a:solidFill>
                  <a:srgbClr val="5D7182"/>
                </a:solidFill>
              </a:rPr>
              <a:t>Registration, login, JWT and roles</a:t>
            </a:r>
            <a:endParaRPr lang="en-US" sz="1070" dirty="0"/>
          </a:p>
        </p:txBody>
      </p:sp>
      <p:sp>
        <p:nvSpPr>
          <p:cNvPr id="19" name="Shape 17"/>
          <p:cNvSpPr/>
          <p:nvPr/>
        </p:nvSpPr>
        <p:spPr>
          <a:xfrm>
            <a:off x="6327648" y="2743200"/>
            <a:ext cx="420624" cy="420624"/>
          </a:xfrm>
          <a:prstGeom prst="ellipse">
            <a:avLst/>
          </a:prstGeom>
          <a:solidFill>
            <a:srgbClr val="00B8D9"/>
          </a:solidFill>
          <a:ln w="12700">
            <a:solidFill>
              <a:srgbClr val="00B8D9"/>
            </a:solidFill>
            <a:prstDash val="solid"/>
          </a:ln>
        </p:spPr>
      </p:sp>
      <p:sp>
        <p:nvSpPr>
          <p:cNvPr id="20" name="Text 18"/>
          <p:cNvSpPr/>
          <p:nvPr/>
        </p:nvSpPr>
        <p:spPr>
          <a:xfrm>
            <a:off x="6327648" y="2752344"/>
            <a:ext cx="420624" cy="402336"/>
          </a:xfrm>
          <a:prstGeom prst="rect">
            <a:avLst/>
          </a:prstGeom>
          <a:noFill/>
          <a:ln/>
        </p:spPr>
        <p:txBody>
          <a:bodyPr wrap="square" lIns="0" tIns="0" rIns="0" bIns="0" rtlCol="0" anchor="ctr"/>
          <a:lstStyle/>
          <a:p>
            <a:pPr algn="ctr" indent="0" marL="0">
              <a:buNone/>
            </a:pPr>
            <a:r>
              <a:rPr lang="en-US" sz="1800" b="1" dirty="0">
                <a:solidFill>
                  <a:srgbClr val="FFFFFF"/>
                </a:solidFill>
              </a:rPr>
              <a:t>02</a:t>
            </a:r>
            <a:endParaRPr lang="en-US" sz="1800" dirty="0"/>
          </a:p>
        </p:txBody>
      </p:sp>
      <p:sp>
        <p:nvSpPr>
          <p:cNvPr id="21" name="Text 19"/>
          <p:cNvSpPr/>
          <p:nvPr/>
        </p:nvSpPr>
        <p:spPr>
          <a:xfrm>
            <a:off x="6903720" y="2734056"/>
            <a:ext cx="2057400" cy="256032"/>
          </a:xfrm>
          <a:prstGeom prst="rect">
            <a:avLst/>
          </a:prstGeom>
          <a:noFill/>
          <a:ln/>
        </p:spPr>
        <p:txBody>
          <a:bodyPr wrap="square" lIns="0" tIns="0" rIns="0" bIns="0" rtlCol="0" anchor="ctr"/>
          <a:lstStyle/>
          <a:p>
            <a:pPr indent="0" marL="0">
              <a:buNone/>
            </a:pPr>
            <a:r>
              <a:rPr lang="en-US" sz="1400" b="1" dirty="0">
                <a:solidFill>
                  <a:srgbClr val="102A43"/>
                </a:solidFill>
              </a:rPr>
              <a:t>Money movement</a:t>
            </a:r>
            <a:endParaRPr lang="en-US" sz="1400" dirty="0"/>
          </a:p>
        </p:txBody>
      </p:sp>
      <p:sp>
        <p:nvSpPr>
          <p:cNvPr id="22" name="Text 20"/>
          <p:cNvSpPr/>
          <p:nvPr/>
        </p:nvSpPr>
        <p:spPr>
          <a:xfrm>
            <a:off x="6903720" y="3026664"/>
            <a:ext cx="4160520" cy="256032"/>
          </a:xfrm>
          <a:prstGeom prst="rect">
            <a:avLst/>
          </a:prstGeom>
          <a:noFill/>
          <a:ln/>
        </p:spPr>
        <p:txBody>
          <a:bodyPr wrap="square" lIns="0" tIns="0" rIns="0" bIns="0" rtlCol="0" anchor="ctr"/>
          <a:lstStyle/>
          <a:p>
            <a:pPr indent="0" marL="0">
              <a:buNone/>
            </a:pPr>
            <a:r>
              <a:rPr lang="en-US" sz="1070" dirty="0">
                <a:solidFill>
                  <a:srgbClr val="5D7182"/>
                </a:solidFill>
              </a:rPr>
              <a:t>Accounts, beneficiaries and transfers</a:t>
            </a:r>
            <a:endParaRPr lang="en-US" sz="1070" dirty="0"/>
          </a:p>
        </p:txBody>
      </p:sp>
      <p:sp>
        <p:nvSpPr>
          <p:cNvPr id="23" name="Shape 21"/>
          <p:cNvSpPr/>
          <p:nvPr/>
        </p:nvSpPr>
        <p:spPr>
          <a:xfrm>
            <a:off x="6327648" y="3611880"/>
            <a:ext cx="420624" cy="420624"/>
          </a:xfrm>
          <a:prstGeom prst="ellipse">
            <a:avLst/>
          </a:prstGeom>
          <a:solidFill>
            <a:srgbClr val="2F80ED"/>
          </a:solidFill>
          <a:ln w="12700">
            <a:solidFill>
              <a:srgbClr val="2F80ED"/>
            </a:solidFill>
            <a:prstDash val="solid"/>
          </a:ln>
        </p:spPr>
      </p:sp>
      <p:sp>
        <p:nvSpPr>
          <p:cNvPr id="24" name="Text 22"/>
          <p:cNvSpPr/>
          <p:nvPr/>
        </p:nvSpPr>
        <p:spPr>
          <a:xfrm>
            <a:off x="6327648" y="3621024"/>
            <a:ext cx="420624" cy="402336"/>
          </a:xfrm>
          <a:prstGeom prst="rect">
            <a:avLst/>
          </a:prstGeom>
          <a:noFill/>
          <a:ln/>
        </p:spPr>
        <p:txBody>
          <a:bodyPr wrap="square" lIns="0" tIns="0" rIns="0" bIns="0" rtlCol="0" anchor="ctr"/>
          <a:lstStyle/>
          <a:p>
            <a:pPr algn="ctr" indent="0" marL="0">
              <a:buNone/>
            </a:pPr>
            <a:r>
              <a:rPr lang="en-US" sz="1800" b="1" dirty="0">
                <a:solidFill>
                  <a:srgbClr val="FFFFFF"/>
                </a:solidFill>
              </a:rPr>
              <a:t>03</a:t>
            </a:r>
            <a:endParaRPr lang="en-US" sz="1800" dirty="0"/>
          </a:p>
        </p:txBody>
      </p:sp>
      <p:sp>
        <p:nvSpPr>
          <p:cNvPr id="25" name="Text 23"/>
          <p:cNvSpPr/>
          <p:nvPr/>
        </p:nvSpPr>
        <p:spPr>
          <a:xfrm>
            <a:off x="6903720" y="3602736"/>
            <a:ext cx="2057400" cy="256032"/>
          </a:xfrm>
          <a:prstGeom prst="rect">
            <a:avLst/>
          </a:prstGeom>
          <a:noFill/>
          <a:ln/>
        </p:spPr>
        <p:txBody>
          <a:bodyPr wrap="square" lIns="0" tIns="0" rIns="0" bIns="0" rtlCol="0" anchor="ctr"/>
          <a:lstStyle/>
          <a:p>
            <a:pPr indent="0" marL="0">
              <a:buNone/>
            </a:pPr>
            <a:r>
              <a:rPr lang="en-US" sz="1400" b="1" dirty="0">
                <a:solidFill>
                  <a:srgbClr val="102A43"/>
                </a:solidFill>
              </a:rPr>
              <a:t>Service hub</a:t>
            </a:r>
            <a:endParaRPr lang="en-US" sz="1400" dirty="0"/>
          </a:p>
        </p:txBody>
      </p:sp>
      <p:sp>
        <p:nvSpPr>
          <p:cNvPr id="26" name="Text 24"/>
          <p:cNvSpPr/>
          <p:nvPr/>
        </p:nvSpPr>
        <p:spPr>
          <a:xfrm>
            <a:off x="6903720" y="3895344"/>
            <a:ext cx="4160520" cy="256032"/>
          </a:xfrm>
          <a:prstGeom prst="rect">
            <a:avLst/>
          </a:prstGeom>
          <a:noFill/>
          <a:ln/>
        </p:spPr>
        <p:txBody>
          <a:bodyPr wrap="square" lIns="0" tIns="0" rIns="0" bIns="0" rtlCol="0" anchor="ctr"/>
          <a:lstStyle/>
          <a:p>
            <a:pPr indent="0" marL="0">
              <a:buNone/>
            </a:pPr>
            <a:r>
              <a:rPr lang="en-US" sz="1070" dirty="0">
                <a:solidFill>
                  <a:srgbClr val="5D7182"/>
                </a:solidFill>
              </a:rPr>
              <a:t>Bills, loans and investments</a:t>
            </a:r>
            <a:endParaRPr lang="en-US" sz="1070" dirty="0"/>
          </a:p>
        </p:txBody>
      </p:sp>
      <p:sp>
        <p:nvSpPr>
          <p:cNvPr id="27" name="Shape 25"/>
          <p:cNvSpPr/>
          <p:nvPr/>
        </p:nvSpPr>
        <p:spPr>
          <a:xfrm>
            <a:off x="6327648" y="4480560"/>
            <a:ext cx="420624" cy="420624"/>
          </a:xfrm>
          <a:prstGeom prst="ellipse">
            <a:avLst/>
          </a:prstGeom>
          <a:solidFill>
            <a:srgbClr val="00B8D9"/>
          </a:solidFill>
          <a:ln w="12700">
            <a:solidFill>
              <a:srgbClr val="00B8D9"/>
            </a:solidFill>
            <a:prstDash val="solid"/>
          </a:ln>
        </p:spPr>
      </p:sp>
      <p:sp>
        <p:nvSpPr>
          <p:cNvPr id="28" name="Text 26"/>
          <p:cNvSpPr/>
          <p:nvPr/>
        </p:nvSpPr>
        <p:spPr>
          <a:xfrm>
            <a:off x="6327648" y="4489704"/>
            <a:ext cx="420624" cy="402336"/>
          </a:xfrm>
          <a:prstGeom prst="rect">
            <a:avLst/>
          </a:prstGeom>
          <a:noFill/>
          <a:ln/>
        </p:spPr>
        <p:txBody>
          <a:bodyPr wrap="square" lIns="0" tIns="0" rIns="0" bIns="0" rtlCol="0" anchor="ctr"/>
          <a:lstStyle/>
          <a:p>
            <a:pPr algn="ctr" indent="0" marL="0">
              <a:buNone/>
            </a:pPr>
            <a:r>
              <a:rPr lang="en-US" sz="1800" b="1" dirty="0">
                <a:solidFill>
                  <a:srgbClr val="FFFFFF"/>
                </a:solidFill>
              </a:rPr>
              <a:t>04</a:t>
            </a:r>
            <a:endParaRPr lang="en-US" sz="1800" dirty="0"/>
          </a:p>
        </p:txBody>
      </p:sp>
      <p:sp>
        <p:nvSpPr>
          <p:cNvPr id="29" name="Text 27"/>
          <p:cNvSpPr/>
          <p:nvPr/>
        </p:nvSpPr>
        <p:spPr>
          <a:xfrm>
            <a:off x="6903720" y="4471416"/>
            <a:ext cx="2057400" cy="256032"/>
          </a:xfrm>
          <a:prstGeom prst="rect">
            <a:avLst/>
          </a:prstGeom>
          <a:noFill/>
          <a:ln/>
        </p:spPr>
        <p:txBody>
          <a:bodyPr wrap="square" lIns="0" tIns="0" rIns="0" bIns="0" rtlCol="0" anchor="ctr"/>
          <a:lstStyle/>
          <a:p>
            <a:pPr indent="0" marL="0">
              <a:buNone/>
            </a:pPr>
            <a:r>
              <a:rPr lang="en-US" sz="1400" b="1" dirty="0">
                <a:solidFill>
                  <a:srgbClr val="102A43"/>
                </a:solidFill>
              </a:rPr>
              <a:t>Admin control</a:t>
            </a:r>
            <a:endParaRPr lang="en-US" sz="1400" dirty="0"/>
          </a:p>
        </p:txBody>
      </p:sp>
      <p:sp>
        <p:nvSpPr>
          <p:cNvPr id="30" name="Text 28"/>
          <p:cNvSpPr/>
          <p:nvPr/>
        </p:nvSpPr>
        <p:spPr>
          <a:xfrm>
            <a:off x="6903720" y="4764024"/>
            <a:ext cx="4160520" cy="256032"/>
          </a:xfrm>
          <a:prstGeom prst="rect">
            <a:avLst/>
          </a:prstGeom>
          <a:noFill/>
          <a:ln/>
        </p:spPr>
        <p:txBody>
          <a:bodyPr wrap="square" lIns="0" tIns="0" rIns="0" bIns="0" rtlCol="0" anchor="ctr"/>
          <a:lstStyle/>
          <a:p>
            <a:pPr indent="0" marL="0">
              <a:buNone/>
            </a:pPr>
            <a:r>
              <a:rPr lang="en-US" sz="1070" dirty="0">
                <a:solidFill>
                  <a:srgbClr val="5D7182"/>
                </a:solidFill>
              </a:rPr>
              <a:t>KYC, user status and loan decisions</a:t>
            </a:r>
            <a:endParaRPr lang="en-US" sz="1070" dirty="0"/>
          </a:p>
        </p:txBody>
      </p:sp>
      <p:sp>
        <p:nvSpPr>
          <p:cNvPr id="31" name="Text 29"/>
          <p:cNvSpPr/>
          <p:nvPr/>
        </p:nvSpPr>
        <p:spPr>
          <a:xfrm>
            <a:off x="9372600" y="6144768"/>
            <a:ext cx="2240280" cy="164592"/>
          </a:xfrm>
          <a:prstGeom prst="rect">
            <a:avLst/>
          </a:prstGeom>
          <a:noFill/>
          <a:ln/>
        </p:spPr>
        <p:txBody>
          <a:bodyPr wrap="square" lIns="0" tIns="0" rIns="0" bIns="0" rtlCol="0" anchor="ctr"/>
          <a:lstStyle/>
          <a:p>
            <a:pPr algn="r" indent="0" marL="0">
              <a:buNone/>
            </a:pPr>
            <a:r>
              <a:rPr lang="en-US" sz="720" i="1" dirty="0">
                <a:solidFill>
                  <a:srgbClr val="8797A5"/>
                </a:solidFill>
              </a:rPr>
              <a:t>Source: Uploaded SRS, functional requirements §§3.1–3.6</a:t>
            </a:r>
            <a:endParaRPr lang="en-US" sz="720" dirty="0"/>
          </a:p>
        </p:txBody>
      </p:sp>
      <p:sp>
        <p:nvSpPr>
          <p:cNvPr id="25" name="Slide Number Placeholder 0"/>
          <p:cNvSpPr>
            <a:spLocks noGrp="1"/>
          </p:cNvSpPr>
          <p:nvPr>
            <p:ph type="sldNum" sz="quarter" idx="4294967295"/>
          </p:nvPr>
        </p:nvSpPr>
        <p:spPr>
          <a:xfrm>
            <a:off x="11631168" y="647395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B7C8C"/>
                </a:solidFill>
                <a:latin typeface="Aptos"/>
                <a:ea typeface="Aptos"/>
                <a:cs typeface="Aptos"/>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84048"/>
            <a:ext cx="8138160" cy="384048"/>
          </a:xfrm>
          <a:prstGeom prst="rect">
            <a:avLst/>
          </a:prstGeom>
          <a:noFill/>
          <a:ln/>
        </p:spPr>
        <p:txBody>
          <a:bodyPr wrap="square" lIns="0" tIns="0" rIns="0" bIns="0" rtlCol="0" anchor="ctr"/>
          <a:lstStyle/>
          <a:p>
            <a:pPr indent="0" marL="0">
              <a:buNone/>
            </a:pPr>
            <a:r>
              <a:rPr lang="en-US" sz="2500" b="1" dirty="0">
                <a:solidFill>
                  <a:srgbClr val="12344D"/>
                </a:solidFill>
                <a:latin typeface="Aptos Display" pitchFamily="34" charset="0"/>
                <a:ea typeface="Aptos Display" pitchFamily="34" charset="-122"/>
                <a:cs typeface="Aptos Display" pitchFamily="34" charset="-120"/>
              </a:rPr>
              <a:t>Key Features</a:t>
            </a:r>
            <a:endParaRPr lang="en-US" sz="2500" dirty="0"/>
          </a:p>
        </p:txBody>
      </p:sp>
      <p:sp>
        <p:nvSpPr>
          <p:cNvPr id="3" name="Text 1"/>
          <p:cNvSpPr/>
          <p:nvPr/>
        </p:nvSpPr>
        <p:spPr>
          <a:xfrm>
            <a:off x="585216" y="786384"/>
            <a:ext cx="10789920" cy="292608"/>
          </a:xfrm>
          <a:prstGeom prst="rect">
            <a:avLst/>
          </a:prstGeom>
          <a:noFill/>
          <a:ln/>
        </p:spPr>
        <p:txBody>
          <a:bodyPr wrap="square" lIns="0" tIns="0" rIns="0" bIns="0" rtlCol="0" anchor="ctr"/>
          <a:lstStyle/>
          <a:p>
            <a:pPr indent="0" marL="0">
              <a:buNone/>
            </a:pPr>
            <a:r>
              <a:rPr lang="en-US" sz="1050" dirty="0">
                <a:solidFill>
                  <a:srgbClr val="5D7182"/>
                </a:solidFill>
              </a:rPr>
              <a:t>All major features documented in the SRS are grouped into seven modules.</a:t>
            </a:r>
            <a:endParaRPr lang="en-US" sz="1050" dirty="0"/>
          </a:p>
        </p:txBody>
      </p:sp>
      <p:sp>
        <p:nvSpPr>
          <p:cNvPr id="4" name="Shape 2"/>
          <p:cNvSpPr/>
          <p:nvPr/>
        </p:nvSpPr>
        <p:spPr>
          <a:xfrm>
            <a:off x="594360" y="1353312"/>
            <a:ext cx="2633472" cy="1874520"/>
          </a:xfrm>
          <a:prstGeom prst="roundRect">
            <a:avLst>
              <a:gd name="adj" fmla="val 3902"/>
            </a:avLst>
          </a:prstGeom>
          <a:solidFill>
            <a:srgbClr val="FFFFFF"/>
          </a:solidFill>
          <a:ln w="11430">
            <a:solidFill>
              <a:srgbClr val="D7E2EB"/>
            </a:solidFill>
            <a:prstDash val="solid"/>
          </a:ln>
          <a:effectLst>
            <a:outerShdw sx="100000" sy="100000" kx="0" ky="0" algn="bl" rotWithShape="0" blurRad="12700" dist="50800" dir="2700000">
              <a:srgbClr val="B7C6D1">
                <a:alpha val="11000"/>
              </a:srgbClr>
            </a:outerShdw>
          </a:effectLst>
        </p:spPr>
      </p:sp>
      <p:sp>
        <p:nvSpPr>
          <p:cNvPr id="5" name="Shape 3"/>
          <p:cNvSpPr/>
          <p:nvPr/>
        </p:nvSpPr>
        <p:spPr>
          <a:xfrm>
            <a:off x="777240" y="1517904"/>
            <a:ext cx="411480" cy="411480"/>
          </a:xfrm>
          <a:prstGeom prst="ellipse">
            <a:avLst/>
          </a:prstGeom>
          <a:solidFill>
            <a:srgbClr val="2F80ED"/>
          </a:solidFill>
          <a:ln w="12700">
            <a:solidFill>
              <a:srgbClr val="2F80ED"/>
            </a:solidFill>
            <a:prstDash val="solid"/>
          </a:ln>
        </p:spPr>
      </p:sp>
      <p:sp>
        <p:nvSpPr>
          <p:cNvPr id="6" name="Text 4"/>
          <p:cNvSpPr/>
          <p:nvPr/>
        </p:nvSpPr>
        <p:spPr>
          <a:xfrm>
            <a:off x="777240" y="1527048"/>
            <a:ext cx="411480" cy="393192"/>
          </a:xfrm>
          <a:prstGeom prst="rect">
            <a:avLst/>
          </a:prstGeom>
          <a:noFill/>
          <a:ln/>
        </p:spPr>
        <p:txBody>
          <a:bodyPr wrap="square" lIns="0" tIns="0" rIns="0" bIns="0" rtlCol="0" anchor="ctr"/>
          <a:lstStyle/>
          <a:p>
            <a:pPr algn="ctr" indent="0" marL="0">
              <a:buNone/>
            </a:pPr>
            <a:r>
              <a:rPr lang="en-US" sz="1800" b="1" dirty="0">
                <a:solidFill>
                  <a:srgbClr val="FFFFFF"/>
                </a:solidFill>
              </a:rPr>
              <a:t>01</a:t>
            </a:r>
            <a:endParaRPr lang="en-US" sz="1800" dirty="0"/>
          </a:p>
        </p:txBody>
      </p:sp>
      <p:sp>
        <p:nvSpPr>
          <p:cNvPr id="7" name="Text 5"/>
          <p:cNvSpPr/>
          <p:nvPr/>
        </p:nvSpPr>
        <p:spPr>
          <a:xfrm>
            <a:off x="1307592" y="1536192"/>
            <a:ext cx="1691640" cy="256032"/>
          </a:xfrm>
          <a:prstGeom prst="rect">
            <a:avLst/>
          </a:prstGeom>
          <a:noFill/>
          <a:ln/>
        </p:spPr>
        <p:txBody>
          <a:bodyPr wrap="square" lIns="0" tIns="0" rIns="0" bIns="0" rtlCol="0" anchor="ctr">
            <a:normAutofit/>
          </a:bodyPr>
          <a:lstStyle/>
          <a:p>
            <a:pPr indent="0" marL="0">
              <a:buNone/>
            </a:pPr>
            <a:r>
              <a:rPr lang="en-US" sz="1340" b="1" dirty="0">
                <a:solidFill>
                  <a:srgbClr val="12344D"/>
                </a:solidFill>
              </a:rPr>
              <a:t>Authentication</a:t>
            </a:r>
            <a:endParaRPr lang="en-US" sz="1340" dirty="0"/>
          </a:p>
        </p:txBody>
      </p:sp>
      <p:sp>
        <p:nvSpPr>
          <p:cNvPr id="8" name="Text 6"/>
          <p:cNvSpPr/>
          <p:nvPr/>
        </p:nvSpPr>
        <p:spPr>
          <a:xfrm>
            <a:off x="777240" y="2148840"/>
            <a:ext cx="2212848" cy="621792"/>
          </a:xfrm>
          <a:prstGeom prst="rect">
            <a:avLst/>
          </a:prstGeom>
          <a:noFill/>
          <a:ln/>
        </p:spPr>
        <p:txBody>
          <a:bodyPr wrap="square" lIns="0" tIns="0" rIns="0" bIns="0" rtlCol="0" anchor="ctr">
            <a:normAutofit/>
          </a:bodyPr>
          <a:lstStyle/>
          <a:p>
            <a:pPr indent="0" marL="0">
              <a:buNone/>
            </a:pPr>
            <a:r>
              <a:rPr lang="en-US" sz="990" dirty="0">
                <a:solidFill>
                  <a:srgbClr val="263238"/>
                </a:solidFill>
              </a:rPr>
              <a:t>Register • Login • JWT • USER/ADMIN</a:t>
            </a:r>
            <a:endParaRPr lang="en-US" sz="990" dirty="0"/>
          </a:p>
        </p:txBody>
      </p:sp>
      <p:sp>
        <p:nvSpPr>
          <p:cNvPr id="9" name="Shape 7"/>
          <p:cNvSpPr/>
          <p:nvPr/>
        </p:nvSpPr>
        <p:spPr>
          <a:xfrm>
            <a:off x="777240" y="2779776"/>
            <a:ext cx="822960" cy="301752"/>
          </a:xfrm>
          <a:prstGeom prst="roundRect">
            <a:avLst>
              <a:gd name="adj" fmla="val 21212"/>
            </a:avLst>
          </a:prstGeom>
          <a:solidFill>
            <a:srgbClr val="EAF3FF"/>
          </a:solidFill>
          <a:ln w="12700">
            <a:solidFill>
              <a:srgbClr val="EAF3FF"/>
            </a:solidFill>
            <a:prstDash val="solid"/>
          </a:ln>
        </p:spPr>
      </p:sp>
      <p:sp>
        <p:nvSpPr>
          <p:cNvPr id="10" name="Text 8"/>
          <p:cNvSpPr/>
          <p:nvPr/>
        </p:nvSpPr>
        <p:spPr>
          <a:xfrm>
            <a:off x="777240" y="2798064"/>
            <a:ext cx="822960" cy="228600"/>
          </a:xfrm>
          <a:prstGeom prst="rect">
            <a:avLst/>
          </a:prstGeom>
          <a:noFill/>
          <a:ln/>
        </p:spPr>
        <p:txBody>
          <a:bodyPr wrap="square" lIns="0" tIns="0" rIns="0" bIns="0" rtlCol="0" anchor="ctr"/>
          <a:lstStyle/>
          <a:p>
            <a:pPr algn="ctr" indent="0" marL="0">
              <a:buNone/>
            </a:pPr>
            <a:r>
              <a:rPr lang="en-US" sz="950" b="1" dirty="0">
                <a:solidFill>
                  <a:srgbClr val="2F80ED"/>
                </a:solidFill>
              </a:rPr>
              <a:t>Core</a:t>
            </a:r>
            <a:endParaRPr lang="en-US" sz="950" dirty="0"/>
          </a:p>
        </p:txBody>
      </p:sp>
      <p:sp>
        <p:nvSpPr>
          <p:cNvPr id="11" name="Shape 9"/>
          <p:cNvSpPr/>
          <p:nvPr/>
        </p:nvSpPr>
        <p:spPr>
          <a:xfrm>
            <a:off x="3493008" y="1353312"/>
            <a:ext cx="2633472" cy="1874520"/>
          </a:xfrm>
          <a:prstGeom prst="roundRect">
            <a:avLst>
              <a:gd name="adj" fmla="val 3902"/>
            </a:avLst>
          </a:prstGeom>
          <a:solidFill>
            <a:srgbClr val="FFFFFF"/>
          </a:solidFill>
          <a:ln w="11430">
            <a:solidFill>
              <a:srgbClr val="D7E2EB"/>
            </a:solidFill>
            <a:prstDash val="solid"/>
          </a:ln>
          <a:effectLst>
            <a:outerShdw sx="100000" sy="100000" kx="0" ky="0" algn="bl" rotWithShape="0" blurRad="12700" dist="50800" dir="2700000">
              <a:srgbClr val="B7C6D1">
                <a:alpha val="11000"/>
              </a:srgbClr>
            </a:outerShdw>
          </a:effectLst>
        </p:spPr>
      </p:sp>
      <p:sp>
        <p:nvSpPr>
          <p:cNvPr id="12" name="Shape 10"/>
          <p:cNvSpPr/>
          <p:nvPr/>
        </p:nvSpPr>
        <p:spPr>
          <a:xfrm>
            <a:off x="3675888" y="1517904"/>
            <a:ext cx="411480" cy="411480"/>
          </a:xfrm>
          <a:prstGeom prst="ellipse">
            <a:avLst/>
          </a:prstGeom>
          <a:solidFill>
            <a:srgbClr val="16A34A"/>
          </a:solidFill>
          <a:ln w="12700">
            <a:solidFill>
              <a:srgbClr val="16A34A"/>
            </a:solidFill>
            <a:prstDash val="solid"/>
          </a:ln>
        </p:spPr>
      </p:sp>
      <p:sp>
        <p:nvSpPr>
          <p:cNvPr id="13" name="Text 11"/>
          <p:cNvSpPr/>
          <p:nvPr/>
        </p:nvSpPr>
        <p:spPr>
          <a:xfrm>
            <a:off x="3675888" y="1527048"/>
            <a:ext cx="411480" cy="393192"/>
          </a:xfrm>
          <a:prstGeom prst="rect">
            <a:avLst/>
          </a:prstGeom>
          <a:noFill/>
          <a:ln/>
        </p:spPr>
        <p:txBody>
          <a:bodyPr wrap="square" lIns="0" tIns="0" rIns="0" bIns="0" rtlCol="0" anchor="ctr"/>
          <a:lstStyle/>
          <a:p>
            <a:pPr algn="ctr" indent="0" marL="0">
              <a:buNone/>
            </a:pPr>
            <a:r>
              <a:rPr lang="en-US" sz="1800" b="1" dirty="0">
                <a:solidFill>
                  <a:srgbClr val="FFFFFF"/>
                </a:solidFill>
              </a:rPr>
              <a:t>02</a:t>
            </a:r>
            <a:endParaRPr lang="en-US" sz="1800" dirty="0"/>
          </a:p>
        </p:txBody>
      </p:sp>
      <p:sp>
        <p:nvSpPr>
          <p:cNvPr id="14" name="Text 12"/>
          <p:cNvSpPr/>
          <p:nvPr/>
        </p:nvSpPr>
        <p:spPr>
          <a:xfrm>
            <a:off x="4206240" y="1536192"/>
            <a:ext cx="1691640" cy="256032"/>
          </a:xfrm>
          <a:prstGeom prst="rect">
            <a:avLst/>
          </a:prstGeom>
          <a:noFill/>
          <a:ln/>
        </p:spPr>
        <p:txBody>
          <a:bodyPr wrap="square" lIns="0" tIns="0" rIns="0" bIns="0" rtlCol="0" anchor="ctr">
            <a:normAutofit/>
          </a:bodyPr>
          <a:lstStyle/>
          <a:p>
            <a:pPr indent="0" marL="0">
              <a:buNone/>
            </a:pPr>
            <a:r>
              <a:rPr lang="en-US" sz="1340" b="1" dirty="0">
                <a:solidFill>
                  <a:srgbClr val="12344D"/>
                </a:solidFill>
              </a:rPr>
              <a:t>Accounts</a:t>
            </a:r>
            <a:endParaRPr lang="en-US" sz="1340" dirty="0"/>
          </a:p>
        </p:txBody>
      </p:sp>
      <p:sp>
        <p:nvSpPr>
          <p:cNvPr id="15" name="Text 13"/>
          <p:cNvSpPr/>
          <p:nvPr/>
        </p:nvSpPr>
        <p:spPr>
          <a:xfrm>
            <a:off x="3675888" y="2148840"/>
            <a:ext cx="2212848" cy="621792"/>
          </a:xfrm>
          <a:prstGeom prst="rect">
            <a:avLst/>
          </a:prstGeom>
          <a:noFill/>
          <a:ln/>
        </p:spPr>
        <p:txBody>
          <a:bodyPr wrap="square" lIns="0" tIns="0" rIns="0" bIns="0" rtlCol="0" anchor="ctr">
            <a:normAutofit/>
          </a:bodyPr>
          <a:lstStyle/>
          <a:p>
            <a:pPr indent="0" marL="0">
              <a:buNone/>
            </a:pPr>
            <a:r>
              <a:rPr lang="en-US" sz="990" dirty="0">
                <a:solidFill>
                  <a:srgbClr val="263238"/>
                </a:solidFill>
              </a:rPr>
              <a:t>View balances, IFSC, limits &amp; ownership</a:t>
            </a:r>
            <a:endParaRPr lang="en-US" sz="990" dirty="0"/>
          </a:p>
        </p:txBody>
      </p:sp>
      <p:sp>
        <p:nvSpPr>
          <p:cNvPr id="16" name="Shape 14"/>
          <p:cNvSpPr/>
          <p:nvPr/>
        </p:nvSpPr>
        <p:spPr>
          <a:xfrm>
            <a:off x="3675888" y="2779776"/>
            <a:ext cx="822960" cy="301752"/>
          </a:xfrm>
          <a:prstGeom prst="roundRect">
            <a:avLst>
              <a:gd name="adj" fmla="val 21212"/>
            </a:avLst>
          </a:prstGeom>
          <a:solidFill>
            <a:srgbClr val="EAF8F0"/>
          </a:solidFill>
          <a:ln w="12700">
            <a:solidFill>
              <a:srgbClr val="EAF8F0"/>
            </a:solidFill>
            <a:prstDash val="solid"/>
          </a:ln>
        </p:spPr>
      </p:sp>
      <p:sp>
        <p:nvSpPr>
          <p:cNvPr id="17" name="Text 15"/>
          <p:cNvSpPr/>
          <p:nvPr/>
        </p:nvSpPr>
        <p:spPr>
          <a:xfrm>
            <a:off x="3675888" y="2798064"/>
            <a:ext cx="822960" cy="228600"/>
          </a:xfrm>
          <a:prstGeom prst="rect">
            <a:avLst/>
          </a:prstGeom>
          <a:noFill/>
          <a:ln/>
        </p:spPr>
        <p:txBody>
          <a:bodyPr wrap="square" lIns="0" tIns="0" rIns="0" bIns="0" rtlCol="0" anchor="ctr"/>
          <a:lstStyle/>
          <a:p>
            <a:pPr algn="ctr" indent="0" marL="0">
              <a:buNone/>
            </a:pPr>
            <a:r>
              <a:rPr lang="en-US" sz="950" b="1" dirty="0">
                <a:solidFill>
                  <a:srgbClr val="16A34A"/>
                </a:solidFill>
              </a:rPr>
              <a:t>Core</a:t>
            </a:r>
            <a:endParaRPr lang="en-US" sz="950" dirty="0"/>
          </a:p>
        </p:txBody>
      </p:sp>
      <p:sp>
        <p:nvSpPr>
          <p:cNvPr id="18" name="Shape 16"/>
          <p:cNvSpPr/>
          <p:nvPr/>
        </p:nvSpPr>
        <p:spPr>
          <a:xfrm>
            <a:off x="6391656" y="1353312"/>
            <a:ext cx="2633472" cy="1874520"/>
          </a:xfrm>
          <a:prstGeom prst="roundRect">
            <a:avLst>
              <a:gd name="adj" fmla="val 3902"/>
            </a:avLst>
          </a:prstGeom>
          <a:solidFill>
            <a:srgbClr val="FFFFFF"/>
          </a:solidFill>
          <a:ln w="11430">
            <a:solidFill>
              <a:srgbClr val="D7E2EB"/>
            </a:solidFill>
            <a:prstDash val="solid"/>
          </a:ln>
          <a:effectLst>
            <a:outerShdw sx="100000" sy="100000" kx="0" ky="0" algn="bl" rotWithShape="0" blurRad="12700" dist="50800" dir="2700000">
              <a:srgbClr val="B7C6D1">
                <a:alpha val="11000"/>
              </a:srgbClr>
            </a:outerShdw>
          </a:effectLst>
        </p:spPr>
      </p:sp>
      <p:sp>
        <p:nvSpPr>
          <p:cNvPr id="19" name="Shape 17"/>
          <p:cNvSpPr/>
          <p:nvPr/>
        </p:nvSpPr>
        <p:spPr>
          <a:xfrm>
            <a:off x="6574536" y="1517904"/>
            <a:ext cx="411480" cy="411480"/>
          </a:xfrm>
          <a:prstGeom prst="ellipse">
            <a:avLst/>
          </a:prstGeom>
          <a:solidFill>
            <a:srgbClr val="7C3AED"/>
          </a:solidFill>
          <a:ln w="12700">
            <a:solidFill>
              <a:srgbClr val="7C3AED"/>
            </a:solidFill>
            <a:prstDash val="solid"/>
          </a:ln>
        </p:spPr>
      </p:sp>
      <p:sp>
        <p:nvSpPr>
          <p:cNvPr id="20" name="Text 18"/>
          <p:cNvSpPr/>
          <p:nvPr/>
        </p:nvSpPr>
        <p:spPr>
          <a:xfrm>
            <a:off x="6574536" y="1527048"/>
            <a:ext cx="411480" cy="393192"/>
          </a:xfrm>
          <a:prstGeom prst="rect">
            <a:avLst/>
          </a:prstGeom>
          <a:noFill/>
          <a:ln/>
        </p:spPr>
        <p:txBody>
          <a:bodyPr wrap="square" lIns="0" tIns="0" rIns="0" bIns="0" rtlCol="0" anchor="ctr"/>
          <a:lstStyle/>
          <a:p>
            <a:pPr algn="ctr" indent="0" marL="0">
              <a:buNone/>
            </a:pPr>
            <a:r>
              <a:rPr lang="en-US" sz="1800" b="1" dirty="0">
                <a:solidFill>
                  <a:srgbClr val="FFFFFF"/>
                </a:solidFill>
              </a:rPr>
              <a:t>03</a:t>
            </a:r>
            <a:endParaRPr lang="en-US" sz="1800" dirty="0"/>
          </a:p>
        </p:txBody>
      </p:sp>
      <p:sp>
        <p:nvSpPr>
          <p:cNvPr id="21" name="Text 19"/>
          <p:cNvSpPr/>
          <p:nvPr/>
        </p:nvSpPr>
        <p:spPr>
          <a:xfrm>
            <a:off x="7104888" y="1536192"/>
            <a:ext cx="1691640" cy="256032"/>
          </a:xfrm>
          <a:prstGeom prst="rect">
            <a:avLst/>
          </a:prstGeom>
          <a:noFill/>
          <a:ln/>
        </p:spPr>
        <p:txBody>
          <a:bodyPr wrap="square" lIns="0" tIns="0" rIns="0" bIns="0" rtlCol="0" anchor="ctr">
            <a:normAutofit/>
          </a:bodyPr>
          <a:lstStyle/>
          <a:p>
            <a:pPr indent="0" marL="0">
              <a:buNone/>
            </a:pPr>
            <a:r>
              <a:rPr lang="en-US" sz="1340" b="1" dirty="0">
                <a:solidFill>
                  <a:srgbClr val="12344D"/>
                </a:solidFill>
              </a:rPr>
              <a:t>Beneficiaries</a:t>
            </a:r>
            <a:endParaRPr lang="en-US" sz="1340" dirty="0"/>
          </a:p>
        </p:txBody>
      </p:sp>
      <p:sp>
        <p:nvSpPr>
          <p:cNvPr id="22" name="Text 20"/>
          <p:cNvSpPr/>
          <p:nvPr/>
        </p:nvSpPr>
        <p:spPr>
          <a:xfrm>
            <a:off x="6574536" y="2148840"/>
            <a:ext cx="2212848" cy="621792"/>
          </a:xfrm>
          <a:prstGeom prst="rect">
            <a:avLst/>
          </a:prstGeom>
          <a:noFill/>
          <a:ln/>
        </p:spPr>
        <p:txBody>
          <a:bodyPr wrap="square" lIns="0" tIns="0" rIns="0" bIns="0" rtlCol="0" anchor="ctr">
            <a:normAutofit/>
          </a:bodyPr>
          <a:lstStyle/>
          <a:p>
            <a:pPr indent="0" marL="0">
              <a:buNone/>
            </a:pPr>
            <a:r>
              <a:rPr lang="en-US" sz="990" dirty="0">
                <a:solidFill>
                  <a:srgbClr val="263238"/>
                </a:solidFill>
              </a:rPr>
              <a:t>Add • List • Deactivate securely</a:t>
            </a:r>
            <a:endParaRPr lang="en-US" sz="990" dirty="0"/>
          </a:p>
        </p:txBody>
      </p:sp>
      <p:sp>
        <p:nvSpPr>
          <p:cNvPr id="23" name="Shape 21"/>
          <p:cNvSpPr/>
          <p:nvPr/>
        </p:nvSpPr>
        <p:spPr>
          <a:xfrm>
            <a:off x="6574536" y="2779776"/>
            <a:ext cx="822960" cy="301752"/>
          </a:xfrm>
          <a:prstGeom prst="roundRect">
            <a:avLst>
              <a:gd name="adj" fmla="val 21212"/>
            </a:avLst>
          </a:prstGeom>
          <a:solidFill>
            <a:srgbClr val="F3EEFF"/>
          </a:solidFill>
          <a:ln w="12700">
            <a:solidFill>
              <a:srgbClr val="F3EEFF"/>
            </a:solidFill>
            <a:prstDash val="solid"/>
          </a:ln>
        </p:spPr>
      </p:sp>
      <p:sp>
        <p:nvSpPr>
          <p:cNvPr id="24" name="Text 22"/>
          <p:cNvSpPr/>
          <p:nvPr/>
        </p:nvSpPr>
        <p:spPr>
          <a:xfrm>
            <a:off x="6574536" y="2798064"/>
            <a:ext cx="822960" cy="228600"/>
          </a:xfrm>
          <a:prstGeom prst="rect">
            <a:avLst/>
          </a:prstGeom>
          <a:noFill/>
          <a:ln/>
        </p:spPr>
        <p:txBody>
          <a:bodyPr wrap="square" lIns="0" tIns="0" rIns="0" bIns="0" rtlCol="0" anchor="ctr"/>
          <a:lstStyle/>
          <a:p>
            <a:pPr algn="ctr" indent="0" marL="0">
              <a:buNone/>
            </a:pPr>
            <a:r>
              <a:rPr lang="en-US" sz="950" b="1" dirty="0">
                <a:solidFill>
                  <a:srgbClr val="7C3AED"/>
                </a:solidFill>
              </a:rPr>
              <a:t>Core</a:t>
            </a:r>
            <a:endParaRPr lang="en-US" sz="950" dirty="0"/>
          </a:p>
        </p:txBody>
      </p:sp>
      <p:sp>
        <p:nvSpPr>
          <p:cNvPr id="25" name="Shape 23"/>
          <p:cNvSpPr/>
          <p:nvPr/>
        </p:nvSpPr>
        <p:spPr>
          <a:xfrm>
            <a:off x="9290304" y="1353312"/>
            <a:ext cx="2633472" cy="1874520"/>
          </a:xfrm>
          <a:prstGeom prst="roundRect">
            <a:avLst>
              <a:gd name="adj" fmla="val 3902"/>
            </a:avLst>
          </a:prstGeom>
          <a:solidFill>
            <a:srgbClr val="FFFFFF"/>
          </a:solidFill>
          <a:ln w="11430">
            <a:solidFill>
              <a:srgbClr val="D7E2EB"/>
            </a:solidFill>
            <a:prstDash val="solid"/>
          </a:ln>
          <a:effectLst>
            <a:outerShdw sx="100000" sy="100000" kx="0" ky="0" algn="bl" rotWithShape="0" blurRad="12700" dist="50800" dir="2700000">
              <a:srgbClr val="B7C6D1">
                <a:alpha val="11000"/>
              </a:srgbClr>
            </a:outerShdw>
          </a:effectLst>
        </p:spPr>
      </p:sp>
      <p:sp>
        <p:nvSpPr>
          <p:cNvPr id="26" name="Shape 24"/>
          <p:cNvSpPr/>
          <p:nvPr/>
        </p:nvSpPr>
        <p:spPr>
          <a:xfrm>
            <a:off x="9473184" y="1517904"/>
            <a:ext cx="411480" cy="411480"/>
          </a:xfrm>
          <a:prstGeom prst="ellipse">
            <a:avLst/>
          </a:prstGeom>
          <a:solidFill>
            <a:srgbClr val="F59E0B"/>
          </a:solidFill>
          <a:ln w="12700">
            <a:solidFill>
              <a:srgbClr val="F59E0B"/>
            </a:solidFill>
            <a:prstDash val="solid"/>
          </a:ln>
        </p:spPr>
      </p:sp>
      <p:sp>
        <p:nvSpPr>
          <p:cNvPr id="27" name="Text 25"/>
          <p:cNvSpPr/>
          <p:nvPr/>
        </p:nvSpPr>
        <p:spPr>
          <a:xfrm>
            <a:off x="9473184" y="1527048"/>
            <a:ext cx="411480" cy="393192"/>
          </a:xfrm>
          <a:prstGeom prst="rect">
            <a:avLst/>
          </a:prstGeom>
          <a:noFill/>
          <a:ln/>
        </p:spPr>
        <p:txBody>
          <a:bodyPr wrap="square" lIns="0" tIns="0" rIns="0" bIns="0" rtlCol="0" anchor="ctr"/>
          <a:lstStyle/>
          <a:p>
            <a:pPr algn="ctr" indent="0" marL="0">
              <a:buNone/>
            </a:pPr>
            <a:r>
              <a:rPr lang="en-US" sz="1800" b="1" dirty="0">
                <a:solidFill>
                  <a:srgbClr val="FFFFFF"/>
                </a:solidFill>
              </a:rPr>
              <a:t>04</a:t>
            </a:r>
            <a:endParaRPr lang="en-US" sz="1800" dirty="0"/>
          </a:p>
        </p:txBody>
      </p:sp>
      <p:sp>
        <p:nvSpPr>
          <p:cNvPr id="28" name="Text 26"/>
          <p:cNvSpPr/>
          <p:nvPr/>
        </p:nvSpPr>
        <p:spPr>
          <a:xfrm>
            <a:off x="10003536" y="1536192"/>
            <a:ext cx="1691640" cy="256032"/>
          </a:xfrm>
          <a:prstGeom prst="rect">
            <a:avLst/>
          </a:prstGeom>
          <a:noFill/>
          <a:ln/>
        </p:spPr>
        <p:txBody>
          <a:bodyPr wrap="square" lIns="0" tIns="0" rIns="0" bIns="0" rtlCol="0" anchor="ctr">
            <a:normAutofit/>
          </a:bodyPr>
          <a:lstStyle/>
          <a:p>
            <a:pPr indent="0" marL="0">
              <a:buNone/>
            </a:pPr>
            <a:r>
              <a:rPr lang="en-US" sz="1340" b="1" dirty="0">
                <a:solidFill>
                  <a:srgbClr val="12344D"/>
                </a:solidFill>
              </a:rPr>
              <a:t>Fund Transfer</a:t>
            </a:r>
            <a:endParaRPr lang="en-US" sz="1340" dirty="0"/>
          </a:p>
        </p:txBody>
      </p:sp>
      <p:sp>
        <p:nvSpPr>
          <p:cNvPr id="29" name="Text 27"/>
          <p:cNvSpPr/>
          <p:nvPr/>
        </p:nvSpPr>
        <p:spPr>
          <a:xfrm>
            <a:off x="9473184" y="2148840"/>
            <a:ext cx="2212848" cy="621792"/>
          </a:xfrm>
          <a:prstGeom prst="rect">
            <a:avLst/>
          </a:prstGeom>
          <a:noFill/>
          <a:ln/>
        </p:spPr>
        <p:txBody>
          <a:bodyPr wrap="square" lIns="0" tIns="0" rIns="0" bIns="0" rtlCol="0" anchor="ctr">
            <a:normAutofit/>
          </a:bodyPr>
          <a:lstStyle/>
          <a:p>
            <a:pPr indent="0" marL="0">
              <a:buNone/>
            </a:pPr>
            <a:r>
              <a:rPr lang="en-US" sz="990" dirty="0">
                <a:solidFill>
                  <a:srgbClr val="263238"/>
                </a:solidFill>
              </a:rPr>
              <a:t>Validate owner, beneficiary, balance &amp; status</a:t>
            </a:r>
            <a:endParaRPr lang="en-US" sz="990" dirty="0"/>
          </a:p>
        </p:txBody>
      </p:sp>
      <p:sp>
        <p:nvSpPr>
          <p:cNvPr id="30" name="Shape 28"/>
          <p:cNvSpPr/>
          <p:nvPr/>
        </p:nvSpPr>
        <p:spPr>
          <a:xfrm>
            <a:off x="9473184" y="2779776"/>
            <a:ext cx="822960" cy="301752"/>
          </a:xfrm>
          <a:prstGeom prst="roundRect">
            <a:avLst>
              <a:gd name="adj" fmla="val 21212"/>
            </a:avLst>
          </a:prstGeom>
          <a:solidFill>
            <a:srgbClr val="FFF6E5"/>
          </a:solidFill>
          <a:ln w="12700">
            <a:solidFill>
              <a:srgbClr val="FFF6E5"/>
            </a:solidFill>
            <a:prstDash val="solid"/>
          </a:ln>
        </p:spPr>
      </p:sp>
      <p:sp>
        <p:nvSpPr>
          <p:cNvPr id="31" name="Text 29"/>
          <p:cNvSpPr/>
          <p:nvPr/>
        </p:nvSpPr>
        <p:spPr>
          <a:xfrm>
            <a:off x="9473184" y="2798064"/>
            <a:ext cx="822960" cy="228600"/>
          </a:xfrm>
          <a:prstGeom prst="rect">
            <a:avLst/>
          </a:prstGeom>
          <a:noFill/>
          <a:ln/>
        </p:spPr>
        <p:txBody>
          <a:bodyPr wrap="square" lIns="0" tIns="0" rIns="0" bIns="0" rtlCol="0" anchor="ctr"/>
          <a:lstStyle/>
          <a:p>
            <a:pPr algn="ctr" indent="0" marL="0">
              <a:buNone/>
            </a:pPr>
            <a:r>
              <a:rPr lang="en-US" sz="950" b="1" dirty="0">
                <a:solidFill>
                  <a:srgbClr val="F59E0B"/>
                </a:solidFill>
              </a:rPr>
              <a:t>Financial flow</a:t>
            </a:r>
            <a:endParaRPr lang="en-US" sz="950" dirty="0"/>
          </a:p>
        </p:txBody>
      </p:sp>
      <p:sp>
        <p:nvSpPr>
          <p:cNvPr id="32" name="Shape 30"/>
          <p:cNvSpPr/>
          <p:nvPr/>
        </p:nvSpPr>
        <p:spPr>
          <a:xfrm>
            <a:off x="594360" y="3675888"/>
            <a:ext cx="2633472" cy="1874520"/>
          </a:xfrm>
          <a:prstGeom prst="roundRect">
            <a:avLst>
              <a:gd name="adj" fmla="val 3902"/>
            </a:avLst>
          </a:prstGeom>
          <a:solidFill>
            <a:srgbClr val="FFFFFF"/>
          </a:solidFill>
          <a:ln w="11430">
            <a:solidFill>
              <a:srgbClr val="D7E2EB"/>
            </a:solidFill>
            <a:prstDash val="solid"/>
          </a:ln>
          <a:effectLst>
            <a:outerShdw sx="100000" sy="100000" kx="0" ky="0" algn="bl" rotWithShape="0" blurRad="12700" dist="50800" dir="2700000">
              <a:srgbClr val="B7C6D1">
                <a:alpha val="11000"/>
              </a:srgbClr>
            </a:outerShdw>
          </a:effectLst>
        </p:spPr>
      </p:sp>
      <p:sp>
        <p:nvSpPr>
          <p:cNvPr id="33" name="Shape 31"/>
          <p:cNvSpPr/>
          <p:nvPr/>
        </p:nvSpPr>
        <p:spPr>
          <a:xfrm>
            <a:off x="777240" y="3840480"/>
            <a:ext cx="411480" cy="411480"/>
          </a:xfrm>
          <a:prstGeom prst="ellipse">
            <a:avLst/>
          </a:prstGeom>
          <a:solidFill>
            <a:srgbClr val="00B8D9"/>
          </a:solidFill>
          <a:ln w="12700">
            <a:solidFill>
              <a:srgbClr val="00B8D9"/>
            </a:solidFill>
            <a:prstDash val="solid"/>
          </a:ln>
        </p:spPr>
      </p:sp>
      <p:sp>
        <p:nvSpPr>
          <p:cNvPr id="34" name="Text 32"/>
          <p:cNvSpPr/>
          <p:nvPr/>
        </p:nvSpPr>
        <p:spPr>
          <a:xfrm>
            <a:off x="777240" y="3849624"/>
            <a:ext cx="411480" cy="393192"/>
          </a:xfrm>
          <a:prstGeom prst="rect">
            <a:avLst/>
          </a:prstGeom>
          <a:noFill/>
          <a:ln/>
        </p:spPr>
        <p:txBody>
          <a:bodyPr wrap="square" lIns="0" tIns="0" rIns="0" bIns="0" rtlCol="0" anchor="ctr"/>
          <a:lstStyle/>
          <a:p>
            <a:pPr algn="ctr" indent="0" marL="0">
              <a:buNone/>
            </a:pPr>
            <a:r>
              <a:rPr lang="en-US" sz="1800" b="1" dirty="0">
                <a:solidFill>
                  <a:srgbClr val="FFFFFF"/>
                </a:solidFill>
              </a:rPr>
              <a:t>05</a:t>
            </a:r>
            <a:endParaRPr lang="en-US" sz="1800" dirty="0"/>
          </a:p>
        </p:txBody>
      </p:sp>
      <p:sp>
        <p:nvSpPr>
          <p:cNvPr id="35" name="Text 33"/>
          <p:cNvSpPr/>
          <p:nvPr/>
        </p:nvSpPr>
        <p:spPr>
          <a:xfrm>
            <a:off x="1307592" y="3858768"/>
            <a:ext cx="1691640" cy="256032"/>
          </a:xfrm>
          <a:prstGeom prst="rect">
            <a:avLst/>
          </a:prstGeom>
          <a:noFill/>
          <a:ln/>
        </p:spPr>
        <p:txBody>
          <a:bodyPr wrap="square" lIns="0" tIns="0" rIns="0" bIns="0" rtlCol="0" anchor="ctr">
            <a:normAutofit/>
          </a:bodyPr>
          <a:lstStyle/>
          <a:p>
            <a:pPr indent="0" marL="0">
              <a:buNone/>
            </a:pPr>
            <a:r>
              <a:rPr lang="en-US" sz="1340" b="1" dirty="0">
                <a:solidFill>
                  <a:srgbClr val="12344D"/>
                </a:solidFill>
              </a:rPr>
              <a:t>Bill Payments</a:t>
            </a:r>
            <a:endParaRPr lang="en-US" sz="1340" dirty="0"/>
          </a:p>
        </p:txBody>
      </p:sp>
      <p:sp>
        <p:nvSpPr>
          <p:cNvPr id="36" name="Text 34"/>
          <p:cNvSpPr/>
          <p:nvPr/>
        </p:nvSpPr>
        <p:spPr>
          <a:xfrm>
            <a:off x="777240" y="4471416"/>
            <a:ext cx="2212848" cy="621792"/>
          </a:xfrm>
          <a:prstGeom prst="rect">
            <a:avLst/>
          </a:prstGeom>
          <a:noFill/>
          <a:ln/>
        </p:spPr>
        <p:txBody>
          <a:bodyPr wrap="square" lIns="0" tIns="0" rIns="0" bIns="0" rtlCol="0" anchor="ctr">
            <a:normAutofit/>
          </a:bodyPr>
          <a:lstStyle/>
          <a:p>
            <a:pPr indent="0" marL="0">
              <a:buNone/>
            </a:pPr>
            <a:r>
              <a:rPr lang="en-US" sz="990" dirty="0">
                <a:solidFill>
                  <a:srgbClr val="263238"/>
                </a:solidFill>
              </a:rPr>
              <a:t>Pay bills and view payment history</a:t>
            </a:r>
            <a:endParaRPr lang="en-US" sz="990" dirty="0"/>
          </a:p>
        </p:txBody>
      </p:sp>
      <p:sp>
        <p:nvSpPr>
          <p:cNvPr id="37" name="Shape 35"/>
          <p:cNvSpPr/>
          <p:nvPr/>
        </p:nvSpPr>
        <p:spPr>
          <a:xfrm>
            <a:off x="777240" y="5102352"/>
            <a:ext cx="822960" cy="301752"/>
          </a:xfrm>
          <a:prstGeom prst="roundRect">
            <a:avLst>
              <a:gd name="adj" fmla="val 21212"/>
            </a:avLst>
          </a:prstGeom>
          <a:solidFill>
            <a:srgbClr val="E9FBFF"/>
          </a:solidFill>
          <a:ln w="12700">
            <a:solidFill>
              <a:srgbClr val="E9FBFF"/>
            </a:solidFill>
            <a:prstDash val="solid"/>
          </a:ln>
        </p:spPr>
      </p:sp>
      <p:sp>
        <p:nvSpPr>
          <p:cNvPr id="38" name="Text 36"/>
          <p:cNvSpPr/>
          <p:nvPr/>
        </p:nvSpPr>
        <p:spPr>
          <a:xfrm>
            <a:off x="777240" y="5120640"/>
            <a:ext cx="822960" cy="228600"/>
          </a:xfrm>
          <a:prstGeom prst="rect">
            <a:avLst/>
          </a:prstGeom>
          <a:noFill/>
          <a:ln/>
        </p:spPr>
        <p:txBody>
          <a:bodyPr wrap="square" lIns="0" tIns="0" rIns="0" bIns="0" rtlCol="0" anchor="ctr"/>
          <a:lstStyle/>
          <a:p>
            <a:pPr algn="ctr" indent="0" marL="0">
              <a:buNone/>
            </a:pPr>
            <a:r>
              <a:rPr lang="en-US" sz="950" b="1" dirty="0">
                <a:solidFill>
                  <a:srgbClr val="00B8D9"/>
                </a:solidFill>
              </a:rPr>
              <a:t>Core</a:t>
            </a:r>
            <a:endParaRPr lang="en-US" sz="950" dirty="0"/>
          </a:p>
        </p:txBody>
      </p:sp>
      <p:sp>
        <p:nvSpPr>
          <p:cNvPr id="39" name="Shape 37"/>
          <p:cNvSpPr/>
          <p:nvPr/>
        </p:nvSpPr>
        <p:spPr>
          <a:xfrm>
            <a:off x="3493008" y="3675888"/>
            <a:ext cx="2633472" cy="1874520"/>
          </a:xfrm>
          <a:prstGeom prst="roundRect">
            <a:avLst>
              <a:gd name="adj" fmla="val 3902"/>
            </a:avLst>
          </a:prstGeom>
          <a:solidFill>
            <a:srgbClr val="FFFFFF"/>
          </a:solidFill>
          <a:ln w="11430">
            <a:solidFill>
              <a:srgbClr val="D7E2EB"/>
            </a:solidFill>
            <a:prstDash val="solid"/>
          </a:ln>
          <a:effectLst>
            <a:outerShdw sx="100000" sy="100000" kx="0" ky="0" algn="bl" rotWithShape="0" blurRad="12700" dist="50800" dir="2700000">
              <a:srgbClr val="B7C6D1">
                <a:alpha val="11000"/>
              </a:srgbClr>
            </a:outerShdw>
          </a:effectLst>
        </p:spPr>
      </p:sp>
      <p:sp>
        <p:nvSpPr>
          <p:cNvPr id="40" name="Shape 38"/>
          <p:cNvSpPr/>
          <p:nvPr/>
        </p:nvSpPr>
        <p:spPr>
          <a:xfrm>
            <a:off x="3675888" y="3840480"/>
            <a:ext cx="411480" cy="411480"/>
          </a:xfrm>
          <a:prstGeom prst="ellipse">
            <a:avLst/>
          </a:prstGeom>
          <a:solidFill>
            <a:srgbClr val="7C3AED"/>
          </a:solidFill>
          <a:ln w="12700">
            <a:solidFill>
              <a:srgbClr val="7C3AED"/>
            </a:solidFill>
            <a:prstDash val="solid"/>
          </a:ln>
        </p:spPr>
      </p:sp>
      <p:sp>
        <p:nvSpPr>
          <p:cNvPr id="41" name="Text 39"/>
          <p:cNvSpPr/>
          <p:nvPr/>
        </p:nvSpPr>
        <p:spPr>
          <a:xfrm>
            <a:off x="3675888" y="3849624"/>
            <a:ext cx="411480" cy="393192"/>
          </a:xfrm>
          <a:prstGeom prst="rect">
            <a:avLst/>
          </a:prstGeom>
          <a:noFill/>
          <a:ln/>
        </p:spPr>
        <p:txBody>
          <a:bodyPr wrap="square" lIns="0" tIns="0" rIns="0" bIns="0" rtlCol="0" anchor="ctr"/>
          <a:lstStyle/>
          <a:p>
            <a:pPr algn="ctr" indent="0" marL="0">
              <a:buNone/>
            </a:pPr>
            <a:r>
              <a:rPr lang="en-US" sz="1800" b="1" dirty="0">
                <a:solidFill>
                  <a:srgbClr val="FFFFFF"/>
                </a:solidFill>
              </a:rPr>
              <a:t>06</a:t>
            </a:r>
            <a:endParaRPr lang="en-US" sz="1800" dirty="0"/>
          </a:p>
        </p:txBody>
      </p:sp>
      <p:sp>
        <p:nvSpPr>
          <p:cNvPr id="42" name="Text 40"/>
          <p:cNvSpPr/>
          <p:nvPr/>
        </p:nvSpPr>
        <p:spPr>
          <a:xfrm>
            <a:off x="4206240" y="3858768"/>
            <a:ext cx="1691640" cy="256032"/>
          </a:xfrm>
          <a:prstGeom prst="rect">
            <a:avLst/>
          </a:prstGeom>
          <a:noFill/>
          <a:ln/>
        </p:spPr>
        <p:txBody>
          <a:bodyPr wrap="square" lIns="0" tIns="0" rIns="0" bIns="0" rtlCol="0" anchor="ctr">
            <a:normAutofit/>
          </a:bodyPr>
          <a:lstStyle/>
          <a:p>
            <a:pPr indent="0" marL="0">
              <a:buNone/>
            </a:pPr>
            <a:r>
              <a:rPr lang="en-US" sz="1340" b="1" dirty="0">
                <a:solidFill>
                  <a:srgbClr val="12344D"/>
                </a:solidFill>
              </a:rPr>
              <a:t>Loans &amp; Investments</a:t>
            </a:r>
            <a:endParaRPr lang="en-US" sz="1340" dirty="0"/>
          </a:p>
        </p:txBody>
      </p:sp>
      <p:sp>
        <p:nvSpPr>
          <p:cNvPr id="43" name="Text 41"/>
          <p:cNvSpPr/>
          <p:nvPr/>
        </p:nvSpPr>
        <p:spPr>
          <a:xfrm>
            <a:off x="3675888" y="4471416"/>
            <a:ext cx="2212848" cy="621792"/>
          </a:xfrm>
          <a:prstGeom prst="rect">
            <a:avLst/>
          </a:prstGeom>
          <a:noFill/>
          <a:ln/>
        </p:spPr>
        <p:txBody>
          <a:bodyPr wrap="square" lIns="0" tIns="0" rIns="0" bIns="0" rtlCol="0" anchor="ctr">
            <a:normAutofit/>
          </a:bodyPr>
          <a:lstStyle/>
          <a:p>
            <a:pPr indent="0" marL="0">
              <a:buNone/>
            </a:pPr>
            <a:r>
              <a:rPr lang="en-US" sz="990" dirty="0">
                <a:solidFill>
                  <a:srgbClr val="263238"/>
                </a:solidFill>
              </a:rPr>
              <a:t>Apply for loans • Invest • View • Redeem</a:t>
            </a:r>
            <a:endParaRPr lang="en-US" sz="990" dirty="0"/>
          </a:p>
        </p:txBody>
      </p:sp>
      <p:sp>
        <p:nvSpPr>
          <p:cNvPr id="44" name="Shape 42"/>
          <p:cNvSpPr/>
          <p:nvPr/>
        </p:nvSpPr>
        <p:spPr>
          <a:xfrm>
            <a:off x="3675888" y="5102352"/>
            <a:ext cx="822960" cy="301752"/>
          </a:xfrm>
          <a:prstGeom prst="roundRect">
            <a:avLst>
              <a:gd name="adj" fmla="val 21212"/>
            </a:avLst>
          </a:prstGeom>
          <a:solidFill>
            <a:srgbClr val="F3EEFF"/>
          </a:solidFill>
          <a:ln w="12700">
            <a:solidFill>
              <a:srgbClr val="F3EEFF"/>
            </a:solidFill>
            <a:prstDash val="solid"/>
          </a:ln>
        </p:spPr>
      </p:sp>
      <p:sp>
        <p:nvSpPr>
          <p:cNvPr id="45" name="Text 43"/>
          <p:cNvSpPr/>
          <p:nvPr/>
        </p:nvSpPr>
        <p:spPr>
          <a:xfrm>
            <a:off x="3675888" y="5120640"/>
            <a:ext cx="822960" cy="228600"/>
          </a:xfrm>
          <a:prstGeom prst="rect">
            <a:avLst/>
          </a:prstGeom>
          <a:noFill/>
          <a:ln/>
        </p:spPr>
        <p:txBody>
          <a:bodyPr wrap="square" lIns="0" tIns="0" rIns="0" bIns="0" rtlCol="0" anchor="ctr"/>
          <a:lstStyle/>
          <a:p>
            <a:pPr algn="ctr" indent="0" marL="0">
              <a:buNone/>
            </a:pPr>
            <a:r>
              <a:rPr lang="en-US" sz="950" b="1" dirty="0">
                <a:solidFill>
                  <a:srgbClr val="7C3AED"/>
                </a:solidFill>
              </a:rPr>
              <a:t>Core</a:t>
            </a:r>
            <a:endParaRPr lang="en-US" sz="950" dirty="0"/>
          </a:p>
        </p:txBody>
      </p:sp>
      <p:sp>
        <p:nvSpPr>
          <p:cNvPr id="46" name="Shape 44"/>
          <p:cNvSpPr/>
          <p:nvPr/>
        </p:nvSpPr>
        <p:spPr>
          <a:xfrm>
            <a:off x="6391656" y="3675888"/>
            <a:ext cx="2633472" cy="1874520"/>
          </a:xfrm>
          <a:prstGeom prst="roundRect">
            <a:avLst>
              <a:gd name="adj" fmla="val 3902"/>
            </a:avLst>
          </a:prstGeom>
          <a:solidFill>
            <a:srgbClr val="FFFFFF"/>
          </a:solidFill>
          <a:ln w="11430">
            <a:solidFill>
              <a:srgbClr val="D7E2EB"/>
            </a:solidFill>
            <a:prstDash val="solid"/>
          </a:ln>
          <a:effectLst>
            <a:outerShdw sx="100000" sy="100000" kx="0" ky="0" algn="bl" rotWithShape="0" blurRad="12700" dist="50800" dir="2700000">
              <a:srgbClr val="B7C6D1">
                <a:alpha val="11000"/>
              </a:srgbClr>
            </a:outerShdw>
          </a:effectLst>
        </p:spPr>
      </p:sp>
      <p:sp>
        <p:nvSpPr>
          <p:cNvPr id="47" name="Shape 45"/>
          <p:cNvSpPr/>
          <p:nvPr/>
        </p:nvSpPr>
        <p:spPr>
          <a:xfrm>
            <a:off x="6574536" y="3840480"/>
            <a:ext cx="411480" cy="411480"/>
          </a:xfrm>
          <a:prstGeom prst="ellipse">
            <a:avLst/>
          </a:prstGeom>
          <a:solidFill>
            <a:srgbClr val="415A77"/>
          </a:solidFill>
          <a:ln w="12700">
            <a:solidFill>
              <a:srgbClr val="415A77"/>
            </a:solidFill>
            <a:prstDash val="solid"/>
          </a:ln>
        </p:spPr>
      </p:sp>
      <p:sp>
        <p:nvSpPr>
          <p:cNvPr id="48" name="Text 46"/>
          <p:cNvSpPr/>
          <p:nvPr/>
        </p:nvSpPr>
        <p:spPr>
          <a:xfrm>
            <a:off x="6574536" y="3849624"/>
            <a:ext cx="411480" cy="393192"/>
          </a:xfrm>
          <a:prstGeom prst="rect">
            <a:avLst/>
          </a:prstGeom>
          <a:noFill/>
          <a:ln/>
        </p:spPr>
        <p:txBody>
          <a:bodyPr wrap="square" lIns="0" tIns="0" rIns="0" bIns="0" rtlCol="0" anchor="ctr"/>
          <a:lstStyle/>
          <a:p>
            <a:pPr algn="ctr" indent="0" marL="0">
              <a:buNone/>
            </a:pPr>
            <a:r>
              <a:rPr lang="en-US" sz="1800" b="1" dirty="0">
                <a:solidFill>
                  <a:srgbClr val="FFFFFF"/>
                </a:solidFill>
              </a:rPr>
              <a:t>07</a:t>
            </a:r>
            <a:endParaRPr lang="en-US" sz="1800" dirty="0"/>
          </a:p>
        </p:txBody>
      </p:sp>
      <p:sp>
        <p:nvSpPr>
          <p:cNvPr id="49" name="Text 47"/>
          <p:cNvSpPr/>
          <p:nvPr/>
        </p:nvSpPr>
        <p:spPr>
          <a:xfrm>
            <a:off x="7104888" y="3858768"/>
            <a:ext cx="1691640" cy="256032"/>
          </a:xfrm>
          <a:prstGeom prst="rect">
            <a:avLst/>
          </a:prstGeom>
          <a:noFill/>
          <a:ln/>
        </p:spPr>
        <p:txBody>
          <a:bodyPr wrap="square" lIns="0" tIns="0" rIns="0" bIns="0" rtlCol="0" anchor="ctr">
            <a:normAutofit/>
          </a:bodyPr>
          <a:lstStyle/>
          <a:p>
            <a:pPr indent="0" marL="0">
              <a:buNone/>
            </a:pPr>
            <a:r>
              <a:rPr lang="en-US" sz="1340" b="1" dirty="0">
                <a:solidFill>
                  <a:srgbClr val="12344D"/>
                </a:solidFill>
              </a:rPr>
              <a:t>Administration</a:t>
            </a:r>
            <a:endParaRPr lang="en-US" sz="1340" dirty="0"/>
          </a:p>
        </p:txBody>
      </p:sp>
      <p:sp>
        <p:nvSpPr>
          <p:cNvPr id="50" name="Text 48"/>
          <p:cNvSpPr/>
          <p:nvPr/>
        </p:nvSpPr>
        <p:spPr>
          <a:xfrm>
            <a:off x="6574536" y="4471416"/>
            <a:ext cx="2212848" cy="621792"/>
          </a:xfrm>
          <a:prstGeom prst="rect">
            <a:avLst/>
          </a:prstGeom>
          <a:noFill/>
          <a:ln/>
        </p:spPr>
        <p:txBody>
          <a:bodyPr wrap="square" lIns="0" tIns="0" rIns="0" bIns="0" rtlCol="0" anchor="ctr">
            <a:normAutofit/>
          </a:bodyPr>
          <a:lstStyle/>
          <a:p>
            <a:pPr indent="0" marL="0">
              <a:buNone/>
            </a:pPr>
            <a:r>
              <a:rPr lang="en-US" sz="990" dirty="0">
                <a:solidFill>
                  <a:srgbClr val="263238"/>
                </a:solidFill>
              </a:rPr>
              <a:t>Users • KYC • Enable/Disable • Loan decisions</a:t>
            </a:r>
            <a:endParaRPr lang="en-US" sz="990" dirty="0"/>
          </a:p>
        </p:txBody>
      </p:sp>
      <p:sp>
        <p:nvSpPr>
          <p:cNvPr id="51" name="Shape 49"/>
          <p:cNvSpPr/>
          <p:nvPr/>
        </p:nvSpPr>
        <p:spPr>
          <a:xfrm>
            <a:off x="6574536" y="5102352"/>
            <a:ext cx="822960" cy="301752"/>
          </a:xfrm>
          <a:prstGeom prst="roundRect">
            <a:avLst>
              <a:gd name="adj" fmla="val 21212"/>
            </a:avLst>
          </a:prstGeom>
          <a:solidFill>
            <a:srgbClr val="EEF2F6"/>
          </a:solidFill>
          <a:ln w="12700">
            <a:solidFill>
              <a:srgbClr val="EEF2F6"/>
            </a:solidFill>
            <a:prstDash val="solid"/>
          </a:ln>
        </p:spPr>
      </p:sp>
      <p:sp>
        <p:nvSpPr>
          <p:cNvPr id="52" name="Text 50"/>
          <p:cNvSpPr/>
          <p:nvPr/>
        </p:nvSpPr>
        <p:spPr>
          <a:xfrm>
            <a:off x="6574536" y="5120640"/>
            <a:ext cx="822960" cy="228600"/>
          </a:xfrm>
          <a:prstGeom prst="rect">
            <a:avLst/>
          </a:prstGeom>
          <a:noFill/>
          <a:ln/>
        </p:spPr>
        <p:txBody>
          <a:bodyPr wrap="square" lIns="0" tIns="0" rIns="0" bIns="0" rtlCol="0" anchor="ctr"/>
          <a:lstStyle/>
          <a:p>
            <a:pPr algn="ctr" indent="0" marL="0">
              <a:buNone/>
            </a:pPr>
            <a:r>
              <a:rPr lang="en-US" sz="950" b="1" dirty="0">
                <a:solidFill>
                  <a:srgbClr val="415A77"/>
                </a:solidFill>
              </a:rPr>
              <a:t>Admin</a:t>
            </a:r>
            <a:endParaRPr lang="en-US" sz="950" dirty="0"/>
          </a:p>
        </p:txBody>
      </p:sp>
      <p:sp>
        <p:nvSpPr>
          <p:cNvPr id="53" name="Text 51"/>
          <p:cNvSpPr/>
          <p:nvPr/>
        </p:nvSpPr>
        <p:spPr>
          <a:xfrm>
            <a:off x="612648" y="5852160"/>
            <a:ext cx="7772400" cy="256032"/>
          </a:xfrm>
          <a:prstGeom prst="rect">
            <a:avLst/>
          </a:prstGeom>
          <a:noFill/>
          <a:ln/>
        </p:spPr>
        <p:txBody>
          <a:bodyPr wrap="square" lIns="0" tIns="0" rIns="0" bIns="0" rtlCol="0" anchor="ctr"/>
          <a:lstStyle/>
          <a:p>
            <a:pPr indent="0" marL="0">
              <a:buNone/>
            </a:pPr>
            <a:r>
              <a:rPr lang="en-US" sz="1150" b="1" dirty="0">
                <a:solidFill>
                  <a:srgbClr val="5D7182"/>
                </a:solidFill>
              </a:rPr>
              <a:t>One platform • one authenticated session • multiple banking services</a:t>
            </a:r>
            <a:endParaRPr lang="en-US" sz="1150" dirty="0"/>
          </a:p>
        </p:txBody>
      </p:sp>
      <p:sp>
        <p:nvSpPr>
          <p:cNvPr id="54" name="Text 52"/>
          <p:cNvSpPr/>
          <p:nvPr/>
        </p:nvSpPr>
        <p:spPr>
          <a:xfrm>
            <a:off x="9372600" y="6144768"/>
            <a:ext cx="2240280" cy="164592"/>
          </a:xfrm>
          <a:prstGeom prst="rect">
            <a:avLst/>
          </a:prstGeom>
          <a:noFill/>
          <a:ln/>
        </p:spPr>
        <p:txBody>
          <a:bodyPr wrap="square" lIns="0" tIns="0" rIns="0" bIns="0" rtlCol="0" anchor="ctr"/>
          <a:lstStyle/>
          <a:p>
            <a:pPr algn="r" indent="0" marL="0">
              <a:buNone/>
            </a:pPr>
            <a:r>
              <a:rPr lang="en-US" sz="720" i="1" dirty="0">
                <a:solidFill>
                  <a:srgbClr val="8797A5"/>
                </a:solidFill>
              </a:rPr>
              <a:t>Source: Uploaded SRS, §§3.1–3.6</a:t>
            </a:r>
            <a:endParaRPr lang="en-US" sz="720" dirty="0"/>
          </a:p>
        </p:txBody>
      </p:sp>
      <p:sp>
        <p:nvSpPr>
          <p:cNvPr id="25" name="Slide Number Placeholder 0"/>
          <p:cNvSpPr>
            <a:spLocks noGrp="1"/>
          </p:cNvSpPr>
          <p:nvPr>
            <p:ph type="sldNum" sz="quarter" idx="4294967295"/>
          </p:nvPr>
        </p:nvSpPr>
        <p:spPr>
          <a:xfrm>
            <a:off x="11631168" y="647395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B7C8C"/>
                </a:solidFill>
                <a:latin typeface="Aptos"/>
                <a:ea typeface="Aptos"/>
                <a:cs typeface="Aptos"/>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84048"/>
            <a:ext cx="8138160" cy="384048"/>
          </a:xfrm>
          <a:prstGeom prst="rect">
            <a:avLst/>
          </a:prstGeom>
          <a:noFill/>
          <a:ln/>
        </p:spPr>
        <p:txBody>
          <a:bodyPr wrap="square" lIns="0" tIns="0" rIns="0" bIns="0" rtlCol="0" anchor="ctr"/>
          <a:lstStyle/>
          <a:p>
            <a:pPr indent="0" marL="0">
              <a:buNone/>
            </a:pPr>
            <a:r>
              <a:rPr lang="en-US" sz="2500" b="1" dirty="0">
                <a:solidFill>
                  <a:srgbClr val="12344D"/>
                </a:solidFill>
                <a:latin typeface="Aptos Display" pitchFamily="34" charset="0"/>
                <a:ea typeface="Aptos Display" pitchFamily="34" charset="-122"/>
                <a:cs typeface="Aptos Display" pitchFamily="34" charset="-120"/>
              </a:rPr>
              <a:t>Technology Stack &amp; System Architecture</a:t>
            </a:r>
            <a:endParaRPr lang="en-US" sz="2500" dirty="0"/>
          </a:p>
        </p:txBody>
      </p:sp>
      <p:sp>
        <p:nvSpPr>
          <p:cNvPr id="3" name="Text 1"/>
          <p:cNvSpPr/>
          <p:nvPr/>
        </p:nvSpPr>
        <p:spPr>
          <a:xfrm>
            <a:off x="585216" y="786384"/>
            <a:ext cx="10789920" cy="292608"/>
          </a:xfrm>
          <a:prstGeom prst="rect">
            <a:avLst/>
          </a:prstGeom>
          <a:noFill/>
          <a:ln/>
        </p:spPr>
        <p:txBody>
          <a:bodyPr wrap="square" lIns="0" tIns="0" rIns="0" bIns="0" rtlCol="0" anchor="ctr"/>
          <a:lstStyle/>
          <a:p>
            <a:pPr indent="0" marL="0">
              <a:buNone/>
            </a:pPr>
            <a:r>
              <a:rPr lang="en-US" sz="1050" dirty="0">
                <a:solidFill>
                  <a:srgbClr val="5D7182"/>
                </a:solidFill>
              </a:rPr>
              <a:t>Three-tier design: Angular presentation, Spring Boot application services, MySQL data layer.</a:t>
            </a:r>
            <a:endParaRPr lang="en-US" sz="1050" dirty="0"/>
          </a:p>
        </p:txBody>
      </p:sp>
      <p:sp>
        <p:nvSpPr>
          <p:cNvPr id="4" name="Shape 2"/>
          <p:cNvSpPr/>
          <p:nvPr/>
        </p:nvSpPr>
        <p:spPr>
          <a:xfrm>
            <a:off x="594360" y="1261872"/>
            <a:ext cx="2651760" cy="1572768"/>
          </a:xfrm>
          <a:prstGeom prst="roundRect">
            <a:avLst>
              <a:gd name="adj" fmla="val 4651"/>
            </a:avLst>
          </a:prstGeom>
          <a:solidFill>
            <a:srgbClr val="FFFFFF"/>
          </a:solidFill>
          <a:ln w="11430">
            <a:solidFill>
              <a:srgbClr val="D7E2EB"/>
            </a:solidFill>
            <a:prstDash val="solid"/>
          </a:ln>
          <a:effectLst>
            <a:outerShdw sx="100000" sy="100000" kx="0" ky="0" algn="bl" rotWithShape="0" blurRad="12700" dist="50800" dir="2700000">
              <a:srgbClr val="B7C6D1">
                <a:alpha val="11000"/>
              </a:srgbClr>
            </a:outerShdw>
          </a:effectLst>
        </p:spPr>
      </p:sp>
      <p:sp>
        <p:nvSpPr>
          <p:cNvPr id="5" name="Shape 3"/>
          <p:cNvSpPr/>
          <p:nvPr/>
        </p:nvSpPr>
        <p:spPr>
          <a:xfrm>
            <a:off x="758952" y="1444752"/>
            <a:ext cx="868680" cy="301752"/>
          </a:xfrm>
          <a:prstGeom prst="roundRect">
            <a:avLst>
              <a:gd name="adj" fmla="val 21212"/>
            </a:avLst>
          </a:prstGeom>
          <a:solidFill>
            <a:srgbClr val="EAF3FF"/>
          </a:solidFill>
          <a:ln w="12700">
            <a:solidFill>
              <a:srgbClr val="EAF3FF"/>
            </a:solidFill>
            <a:prstDash val="solid"/>
          </a:ln>
        </p:spPr>
      </p:sp>
      <p:sp>
        <p:nvSpPr>
          <p:cNvPr id="6" name="Text 4"/>
          <p:cNvSpPr/>
          <p:nvPr/>
        </p:nvSpPr>
        <p:spPr>
          <a:xfrm>
            <a:off x="758952" y="1463040"/>
            <a:ext cx="868680" cy="228600"/>
          </a:xfrm>
          <a:prstGeom prst="rect">
            <a:avLst/>
          </a:prstGeom>
          <a:noFill/>
          <a:ln/>
        </p:spPr>
        <p:txBody>
          <a:bodyPr wrap="square" lIns="0" tIns="0" rIns="0" bIns="0" rtlCol="0" anchor="ctr"/>
          <a:lstStyle/>
          <a:p>
            <a:pPr algn="ctr" indent="0" marL="0">
              <a:buNone/>
            </a:pPr>
            <a:r>
              <a:rPr lang="en-US" sz="950" b="1" dirty="0">
                <a:solidFill>
                  <a:srgbClr val="2F80ED"/>
                </a:solidFill>
              </a:rPr>
              <a:t>Frontend</a:t>
            </a:r>
            <a:endParaRPr lang="en-US" sz="950" dirty="0"/>
          </a:p>
        </p:txBody>
      </p:sp>
      <p:sp>
        <p:nvSpPr>
          <p:cNvPr id="7" name="Text 5"/>
          <p:cNvSpPr/>
          <p:nvPr/>
        </p:nvSpPr>
        <p:spPr>
          <a:xfrm>
            <a:off x="758952" y="1847088"/>
            <a:ext cx="2286000" cy="292608"/>
          </a:xfrm>
          <a:prstGeom prst="rect">
            <a:avLst/>
          </a:prstGeom>
          <a:noFill/>
          <a:ln/>
        </p:spPr>
        <p:txBody>
          <a:bodyPr wrap="square" lIns="0" tIns="0" rIns="0" bIns="0" rtlCol="0" anchor="ctr">
            <a:normAutofit/>
          </a:bodyPr>
          <a:lstStyle/>
          <a:p>
            <a:pPr indent="0" marL="0">
              <a:buNone/>
            </a:pPr>
            <a:r>
              <a:rPr lang="en-US" sz="1400" b="1" dirty="0">
                <a:solidFill>
                  <a:srgbClr val="12344D"/>
                </a:solidFill>
              </a:rPr>
              <a:t>Angular 20.3</a:t>
            </a:r>
            <a:endParaRPr lang="en-US" sz="1400" dirty="0"/>
          </a:p>
        </p:txBody>
      </p:sp>
      <p:sp>
        <p:nvSpPr>
          <p:cNvPr id="8" name="Text 6"/>
          <p:cNvSpPr/>
          <p:nvPr/>
        </p:nvSpPr>
        <p:spPr>
          <a:xfrm>
            <a:off x="758952" y="2167128"/>
            <a:ext cx="2286000" cy="438912"/>
          </a:xfrm>
          <a:prstGeom prst="rect">
            <a:avLst/>
          </a:prstGeom>
          <a:noFill/>
          <a:ln/>
        </p:spPr>
        <p:txBody>
          <a:bodyPr wrap="square" lIns="0" tIns="0" rIns="0" bIns="0" rtlCol="0" anchor="ctr">
            <a:normAutofit/>
          </a:bodyPr>
          <a:lstStyle/>
          <a:p>
            <a:pPr indent="0" marL="0">
              <a:buNone/>
            </a:pPr>
            <a:r>
              <a:rPr lang="en-US" sz="920" dirty="0">
                <a:solidFill>
                  <a:srgbClr val="5D7182"/>
                </a:solidFill>
              </a:rPr>
              <a:t>Routes • Guards • Forms • Reusable UI • API service</a:t>
            </a:r>
            <a:endParaRPr lang="en-US" sz="920" dirty="0"/>
          </a:p>
        </p:txBody>
      </p:sp>
      <p:sp>
        <p:nvSpPr>
          <p:cNvPr id="9" name="Shape 7"/>
          <p:cNvSpPr/>
          <p:nvPr/>
        </p:nvSpPr>
        <p:spPr>
          <a:xfrm>
            <a:off x="3474720" y="1261872"/>
            <a:ext cx="2651760" cy="1572768"/>
          </a:xfrm>
          <a:prstGeom prst="roundRect">
            <a:avLst>
              <a:gd name="adj" fmla="val 4651"/>
            </a:avLst>
          </a:prstGeom>
          <a:solidFill>
            <a:srgbClr val="FFFFFF"/>
          </a:solidFill>
          <a:ln w="11430">
            <a:solidFill>
              <a:srgbClr val="D7E2EB"/>
            </a:solidFill>
            <a:prstDash val="solid"/>
          </a:ln>
          <a:effectLst>
            <a:outerShdw sx="100000" sy="100000" kx="0" ky="0" algn="bl" rotWithShape="0" blurRad="12700" dist="50800" dir="2700000">
              <a:srgbClr val="B7C6D1">
                <a:alpha val="11000"/>
              </a:srgbClr>
            </a:outerShdw>
          </a:effectLst>
        </p:spPr>
      </p:sp>
      <p:sp>
        <p:nvSpPr>
          <p:cNvPr id="10" name="Shape 8"/>
          <p:cNvSpPr/>
          <p:nvPr/>
        </p:nvSpPr>
        <p:spPr>
          <a:xfrm>
            <a:off x="3639312" y="1444752"/>
            <a:ext cx="868680" cy="301752"/>
          </a:xfrm>
          <a:prstGeom prst="roundRect">
            <a:avLst>
              <a:gd name="adj" fmla="val 21212"/>
            </a:avLst>
          </a:prstGeom>
          <a:solidFill>
            <a:srgbClr val="EAF8F0"/>
          </a:solidFill>
          <a:ln w="12700">
            <a:solidFill>
              <a:srgbClr val="EAF8F0"/>
            </a:solidFill>
            <a:prstDash val="solid"/>
          </a:ln>
        </p:spPr>
      </p:sp>
      <p:sp>
        <p:nvSpPr>
          <p:cNvPr id="11" name="Text 9"/>
          <p:cNvSpPr/>
          <p:nvPr/>
        </p:nvSpPr>
        <p:spPr>
          <a:xfrm>
            <a:off x="3639312" y="1463040"/>
            <a:ext cx="868680" cy="228600"/>
          </a:xfrm>
          <a:prstGeom prst="rect">
            <a:avLst/>
          </a:prstGeom>
          <a:noFill/>
          <a:ln/>
        </p:spPr>
        <p:txBody>
          <a:bodyPr wrap="square" lIns="0" tIns="0" rIns="0" bIns="0" rtlCol="0" anchor="ctr"/>
          <a:lstStyle/>
          <a:p>
            <a:pPr algn="ctr" indent="0" marL="0">
              <a:buNone/>
            </a:pPr>
            <a:r>
              <a:rPr lang="en-US" sz="950" b="1" dirty="0">
                <a:solidFill>
                  <a:srgbClr val="16A34A"/>
                </a:solidFill>
              </a:rPr>
              <a:t>Backend</a:t>
            </a:r>
            <a:endParaRPr lang="en-US" sz="950" dirty="0"/>
          </a:p>
        </p:txBody>
      </p:sp>
      <p:sp>
        <p:nvSpPr>
          <p:cNvPr id="12" name="Text 10"/>
          <p:cNvSpPr/>
          <p:nvPr/>
        </p:nvSpPr>
        <p:spPr>
          <a:xfrm>
            <a:off x="3639312" y="1847088"/>
            <a:ext cx="2286000" cy="292608"/>
          </a:xfrm>
          <a:prstGeom prst="rect">
            <a:avLst/>
          </a:prstGeom>
          <a:noFill/>
          <a:ln/>
        </p:spPr>
        <p:txBody>
          <a:bodyPr wrap="square" lIns="0" tIns="0" rIns="0" bIns="0" rtlCol="0" anchor="ctr">
            <a:normAutofit/>
          </a:bodyPr>
          <a:lstStyle/>
          <a:p>
            <a:pPr indent="0" marL="0">
              <a:buNone/>
            </a:pPr>
            <a:r>
              <a:rPr lang="en-US" sz="1400" b="1" dirty="0">
                <a:solidFill>
                  <a:srgbClr val="12344D"/>
                </a:solidFill>
              </a:rPr>
              <a:t>Spring Boot + Java</a:t>
            </a:r>
            <a:endParaRPr lang="en-US" sz="1400" dirty="0"/>
          </a:p>
        </p:txBody>
      </p:sp>
      <p:sp>
        <p:nvSpPr>
          <p:cNvPr id="13" name="Text 11"/>
          <p:cNvSpPr/>
          <p:nvPr/>
        </p:nvSpPr>
        <p:spPr>
          <a:xfrm>
            <a:off x="3639312" y="2167128"/>
            <a:ext cx="2286000" cy="438912"/>
          </a:xfrm>
          <a:prstGeom prst="rect">
            <a:avLst/>
          </a:prstGeom>
          <a:noFill/>
          <a:ln/>
        </p:spPr>
        <p:txBody>
          <a:bodyPr wrap="square" lIns="0" tIns="0" rIns="0" bIns="0" rtlCol="0" anchor="ctr">
            <a:normAutofit/>
          </a:bodyPr>
          <a:lstStyle/>
          <a:p>
            <a:pPr indent="0" marL="0">
              <a:buNone/>
            </a:pPr>
            <a:r>
              <a:rPr lang="en-US" sz="920" dirty="0">
                <a:solidFill>
                  <a:srgbClr val="5D7182"/>
                </a:solidFill>
              </a:rPr>
              <a:t>Controllers • Services • DTOs • Validation • Security</a:t>
            </a:r>
            <a:endParaRPr lang="en-US" sz="920" dirty="0"/>
          </a:p>
        </p:txBody>
      </p:sp>
      <p:sp>
        <p:nvSpPr>
          <p:cNvPr id="14" name="Shape 12"/>
          <p:cNvSpPr/>
          <p:nvPr/>
        </p:nvSpPr>
        <p:spPr>
          <a:xfrm>
            <a:off x="6355080" y="1261872"/>
            <a:ext cx="2651760" cy="1572768"/>
          </a:xfrm>
          <a:prstGeom prst="roundRect">
            <a:avLst>
              <a:gd name="adj" fmla="val 4651"/>
            </a:avLst>
          </a:prstGeom>
          <a:solidFill>
            <a:srgbClr val="FFFFFF"/>
          </a:solidFill>
          <a:ln w="11430">
            <a:solidFill>
              <a:srgbClr val="D7E2EB"/>
            </a:solidFill>
            <a:prstDash val="solid"/>
          </a:ln>
          <a:effectLst>
            <a:outerShdw sx="100000" sy="100000" kx="0" ky="0" algn="bl" rotWithShape="0" blurRad="12700" dist="50800" dir="2700000">
              <a:srgbClr val="B7C6D1">
                <a:alpha val="11000"/>
              </a:srgbClr>
            </a:outerShdw>
          </a:effectLst>
        </p:spPr>
      </p:sp>
      <p:sp>
        <p:nvSpPr>
          <p:cNvPr id="15" name="Shape 13"/>
          <p:cNvSpPr/>
          <p:nvPr/>
        </p:nvSpPr>
        <p:spPr>
          <a:xfrm>
            <a:off x="6519672" y="1444752"/>
            <a:ext cx="868680" cy="301752"/>
          </a:xfrm>
          <a:prstGeom prst="roundRect">
            <a:avLst>
              <a:gd name="adj" fmla="val 21212"/>
            </a:avLst>
          </a:prstGeom>
          <a:solidFill>
            <a:srgbClr val="FFF6E5"/>
          </a:solidFill>
          <a:ln w="12700">
            <a:solidFill>
              <a:srgbClr val="FFF6E5"/>
            </a:solidFill>
            <a:prstDash val="solid"/>
          </a:ln>
        </p:spPr>
      </p:sp>
      <p:sp>
        <p:nvSpPr>
          <p:cNvPr id="16" name="Text 14"/>
          <p:cNvSpPr/>
          <p:nvPr/>
        </p:nvSpPr>
        <p:spPr>
          <a:xfrm>
            <a:off x="6519672" y="1463040"/>
            <a:ext cx="868680" cy="228600"/>
          </a:xfrm>
          <a:prstGeom prst="rect">
            <a:avLst/>
          </a:prstGeom>
          <a:noFill/>
          <a:ln/>
        </p:spPr>
        <p:txBody>
          <a:bodyPr wrap="square" lIns="0" tIns="0" rIns="0" bIns="0" rtlCol="0" anchor="ctr"/>
          <a:lstStyle/>
          <a:p>
            <a:pPr algn="ctr" indent="0" marL="0">
              <a:buNone/>
            </a:pPr>
            <a:r>
              <a:rPr lang="en-US" sz="950" b="1" dirty="0">
                <a:solidFill>
                  <a:srgbClr val="F59E0B"/>
                </a:solidFill>
              </a:rPr>
              <a:t>Database</a:t>
            </a:r>
            <a:endParaRPr lang="en-US" sz="950" dirty="0"/>
          </a:p>
        </p:txBody>
      </p:sp>
      <p:sp>
        <p:nvSpPr>
          <p:cNvPr id="17" name="Text 15"/>
          <p:cNvSpPr/>
          <p:nvPr/>
        </p:nvSpPr>
        <p:spPr>
          <a:xfrm>
            <a:off x="6519672" y="1847088"/>
            <a:ext cx="2286000" cy="292608"/>
          </a:xfrm>
          <a:prstGeom prst="rect">
            <a:avLst/>
          </a:prstGeom>
          <a:noFill/>
          <a:ln/>
        </p:spPr>
        <p:txBody>
          <a:bodyPr wrap="square" lIns="0" tIns="0" rIns="0" bIns="0" rtlCol="0" anchor="ctr">
            <a:normAutofit/>
          </a:bodyPr>
          <a:lstStyle/>
          <a:p>
            <a:pPr indent="0" marL="0">
              <a:buNone/>
            </a:pPr>
            <a:r>
              <a:rPr lang="en-US" sz="1400" b="1" dirty="0">
                <a:solidFill>
                  <a:srgbClr val="12344D"/>
                </a:solidFill>
              </a:rPr>
              <a:t>MySQL + JPA/Hibernate</a:t>
            </a:r>
            <a:endParaRPr lang="en-US" sz="1400" dirty="0"/>
          </a:p>
        </p:txBody>
      </p:sp>
      <p:sp>
        <p:nvSpPr>
          <p:cNvPr id="18" name="Text 16"/>
          <p:cNvSpPr/>
          <p:nvPr/>
        </p:nvSpPr>
        <p:spPr>
          <a:xfrm>
            <a:off x="6519672" y="2167128"/>
            <a:ext cx="2286000" cy="438912"/>
          </a:xfrm>
          <a:prstGeom prst="rect">
            <a:avLst/>
          </a:prstGeom>
          <a:noFill/>
          <a:ln/>
        </p:spPr>
        <p:txBody>
          <a:bodyPr wrap="square" lIns="0" tIns="0" rIns="0" bIns="0" rtlCol="0" anchor="ctr">
            <a:normAutofit/>
          </a:bodyPr>
          <a:lstStyle/>
          <a:p>
            <a:pPr indent="0" marL="0">
              <a:buNone/>
            </a:pPr>
            <a:r>
              <a:rPr lang="en-US" sz="920" dirty="0">
                <a:solidFill>
                  <a:srgbClr val="5D7182"/>
                </a:solidFill>
              </a:rPr>
              <a:t>Repositories • Entities • Transactions • Persistence</a:t>
            </a:r>
            <a:endParaRPr lang="en-US" sz="920" dirty="0"/>
          </a:p>
        </p:txBody>
      </p:sp>
      <p:sp>
        <p:nvSpPr>
          <p:cNvPr id="19" name="Shape 17"/>
          <p:cNvSpPr/>
          <p:nvPr/>
        </p:nvSpPr>
        <p:spPr>
          <a:xfrm>
            <a:off x="9235440" y="1261872"/>
            <a:ext cx="2651760" cy="1572768"/>
          </a:xfrm>
          <a:prstGeom prst="roundRect">
            <a:avLst>
              <a:gd name="adj" fmla="val 4651"/>
            </a:avLst>
          </a:prstGeom>
          <a:solidFill>
            <a:srgbClr val="FFFFFF"/>
          </a:solidFill>
          <a:ln w="11430">
            <a:solidFill>
              <a:srgbClr val="D7E2EB"/>
            </a:solidFill>
            <a:prstDash val="solid"/>
          </a:ln>
          <a:effectLst>
            <a:outerShdw sx="100000" sy="100000" kx="0" ky="0" algn="bl" rotWithShape="0" blurRad="12700" dist="50800" dir="2700000">
              <a:srgbClr val="B7C6D1">
                <a:alpha val="11000"/>
              </a:srgbClr>
            </a:outerShdw>
          </a:effectLst>
        </p:spPr>
      </p:sp>
      <p:sp>
        <p:nvSpPr>
          <p:cNvPr id="20" name="Shape 18"/>
          <p:cNvSpPr/>
          <p:nvPr/>
        </p:nvSpPr>
        <p:spPr>
          <a:xfrm>
            <a:off x="9400032" y="1444752"/>
            <a:ext cx="868680" cy="301752"/>
          </a:xfrm>
          <a:prstGeom prst="roundRect">
            <a:avLst>
              <a:gd name="adj" fmla="val 21212"/>
            </a:avLst>
          </a:prstGeom>
          <a:solidFill>
            <a:srgbClr val="F3EEFF"/>
          </a:solidFill>
          <a:ln w="12700">
            <a:solidFill>
              <a:srgbClr val="F3EEFF"/>
            </a:solidFill>
            <a:prstDash val="solid"/>
          </a:ln>
        </p:spPr>
      </p:sp>
      <p:sp>
        <p:nvSpPr>
          <p:cNvPr id="21" name="Text 19"/>
          <p:cNvSpPr/>
          <p:nvPr/>
        </p:nvSpPr>
        <p:spPr>
          <a:xfrm>
            <a:off x="9400032" y="1463040"/>
            <a:ext cx="868680" cy="228600"/>
          </a:xfrm>
          <a:prstGeom prst="rect">
            <a:avLst/>
          </a:prstGeom>
          <a:noFill/>
          <a:ln/>
        </p:spPr>
        <p:txBody>
          <a:bodyPr wrap="square" lIns="0" tIns="0" rIns="0" bIns="0" rtlCol="0" anchor="ctr"/>
          <a:lstStyle/>
          <a:p>
            <a:pPr algn="ctr" indent="0" marL="0">
              <a:buNone/>
            </a:pPr>
            <a:r>
              <a:rPr lang="en-US" sz="950" b="1" dirty="0">
                <a:solidFill>
                  <a:srgbClr val="7C3AED"/>
                </a:solidFill>
              </a:rPr>
              <a:t>Security</a:t>
            </a:r>
            <a:endParaRPr lang="en-US" sz="950" dirty="0"/>
          </a:p>
        </p:txBody>
      </p:sp>
      <p:sp>
        <p:nvSpPr>
          <p:cNvPr id="22" name="Text 20"/>
          <p:cNvSpPr/>
          <p:nvPr/>
        </p:nvSpPr>
        <p:spPr>
          <a:xfrm>
            <a:off x="9400032" y="1847088"/>
            <a:ext cx="2286000" cy="292608"/>
          </a:xfrm>
          <a:prstGeom prst="rect">
            <a:avLst/>
          </a:prstGeom>
          <a:noFill/>
          <a:ln/>
        </p:spPr>
        <p:txBody>
          <a:bodyPr wrap="square" lIns="0" tIns="0" rIns="0" bIns="0" rtlCol="0" anchor="ctr">
            <a:normAutofit/>
          </a:bodyPr>
          <a:lstStyle/>
          <a:p>
            <a:pPr indent="0" marL="0">
              <a:buNone/>
            </a:pPr>
            <a:r>
              <a:rPr lang="en-US" sz="1400" b="1" dirty="0">
                <a:solidFill>
                  <a:srgbClr val="12344D"/>
                </a:solidFill>
              </a:rPr>
              <a:t>Spring Security + JWT</a:t>
            </a:r>
            <a:endParaRPr lang="en-US" sz="1400" dirty="0"/>
          </a:p>
        </p:txBody>
      </p:sp>
      <p:sp>
        <p:nvSpPr>
          <p:cNvPr id="23" name="Text 21"/>
          <p:cNvSpPr/>
          <p:nvPr/>
        </p:nvSpPr>
        <p:spPr>
          <a:xfrm>
            <a:off x="9400032" y="2167128"/>
            <a:ext cx="2286000" cy="438912"/>
          </a:xfrm>
          <a:prstGeom prst="rect">
            <a:avLst/>
          </a:prstGeom>
          <a:noFill/>
          <a:ln/>
        </p:spPr>
        <p:txBody>
          <a:bodyPr wrap="square" lIns="0" tIns="0" rIns="0" bIns="0" rtlCol="0" anchor="ctr">
            <a:normAutofit/>
          </a:bodyPr>
          <a:lstStyle/>
          <a:p>
            <a:pPr indent="0" marL="0">
              <a:buNone/>
            </a:pPr>
            <a:r>
              <a:rPr lang="en-US" sz="920" dirty="0">
                <a:solidFill>
                  <a:srgbClr val="5D7182"/>
                </a:solidFill>
              </a:rPr>
              <a:t>BCrypt • Bearer tokens • USER/ADMIN • CORS</a:t>
            </a:r>
            <a:endParaRPr lang="en-US" sz="920" dirty="0"/>
          </a:p>
        </p:txBody>
      </p:sp>
      <p:sp>
        <p:nvSpPr>
          <p:cNvPr id="24" name="Shape 22"/>
          <p:cNvSpPr/>
          <p:nvPr/>
        </p:nvSpPr>
        <p:spPr>
          <a:xfrm>
            <a:off x="594360" y="3154680"/>
            <a:ext cx="11018520" cy="2240280"/>
          </a:xfrm>
          <a:prstGeom prst="roundRect">
            <a:avLst>
              <a:gd name="adj" fmla="val 3265"/>
            </a:avLst>
          </a:prstGeom>
          <a:solidFill>
            <a:srgbClr val="FFFFFF"/>
          </a:solidFill>
          <a:ln w="11430">
            <a:solidFill>
              <a:srgbClr val="D7E2EB"/>
            </a:solidFill>
            <a:prstDash val="solid"/>
          </a:ln>
          <a:effectLst>
            <a:outerShdw sx="100000" sy="100000" kx="0" ky="0" algn="bl" rotWithShape="0" blurRad="12700" dist="50800" dir="2700000">
              <a:srgbClr val="B7C6D1">
                <a:alpha val="11000"/>
              </a:srgbClr>
            </a:outerShdw>
          </a:effectLst>
        </p:spPr>
      </p:sp>
      <p:sp>
        <p:nvSpPr>
          <p:cNvPr id="25" name="Text 23"/>
          <p:cNvSpPr/>
          <p:nvPr/>
        </p:nvSpPr>
        <p:spPr>
          <a:xfrm>
            <a:off x="841248" y="3410712"/>
            <a:ext cx="2194560" cy="201168"/>
          </a:xfrm>
          <a:prstGeom prst="rect">
            <a:avLst/>
          </a:prstGeom>
          <a:noFill/>
          <a:ln/>
        </p:spPr>
        <p:txBody>
          <a:bodyPr wrap="square" lIns="0" tIns="0" rIns="0" bIns="0" rtlCol="0" anchor="ctr"/>
          <a:lstStyle/>
          <a:p>
            <a:pPr indent="0" marL="0">
              <a:buNone/>
            </a:pPr>
            <a:r>
              <a:rPr lang="en-US" sz="850" b="1" spc="110" kern="0" dirty="0">
                <a:solidFill>
                  <a:srgbClr val="2F80ED"/>
                </a:solidFill>
              </a:rPr>
              <a:t>ARCHITECTURE FLOW</a:t>
            </a:r>
            <a:endParaRPr lang="en-US" sz="850" dirty="0"/>
          </a:p>
        </p:txBody>
      </p:sp>
      <p:sp>
        <p:nvSpPr>
          <p:cNvPr id="26" name="Shape 24"/>
          <p:cNvSpPr/>
          <p:nvPr/>
        </p:nvSpPr>
        <p:spPr>
          <a:xfrm>
            <a:off x="896112" y="3886200"/>
            <a:ext cx="2057400" cy="960120"/>
          </a:xfrm>
          <a:prstGeom prst="roundRect">
            <a:avLst>
              <a:gd name="adj" fmla="val 7619"/>
            </a:avLst>
          </a:prstGeom>
          <a:solidFill>
            <a:srgbClr val="EAF3FF"/>
          </a:solidFill>
          <a:ln w="11430">
            <a:solidFill>
              <a:srgbClr val="2F80ED"/>
            </a:solidFill>
            <a:prstDash val="solid"/>
          </a:ln>
        </p:spPr>
      </p:sp>
      <p:sp>
        <p:nvSpPr>
          <p:cNvPr id="27" name="Text 25"/>
          <p:cNvSpPr/>
          <p:nvPr/>
        </p:nvSpPr>
        <p:spPr>
          <a:xfrm>
            <a:off x="896112" y="4078224"/>
            <a:ext cx="2057400" cy="219456"/>
          </a:xfrm>
          <a:prstGeom prst="rect">
            <a:avLst/>
          </a:prstGeom>
          <a:noFill/>
          <a:ln/>
        </p:spPr>
        <p:txBody>
          <a:bodyPr wrap="square" lIns="0" tIns="0" rIns="0" bIns="0" rtlCol="0" anchor="ctr"/>
          <a:lstStyle/>
          <a:p>
            <a:pPr algn="ctr" indent="0" marL="0">
              <a:buNone/>
            </a:pPr>
            <a:r>
              <a:rPr lang="en-US" sz="1500" b="1" dirty="0">
                <a:solidFill>
                  <a:srgbClr val="12344D"/>
                </a:solidFill>
              </a:rPr>
              <a:t>User</a:t>
            </a:r>
            <a:endParaRPr lang="en-US" sz="1500" dirty="0"/>
          </a:p>
        </p:txBody>
      </p:sp>
      <p:sp>
        <p:nvSpPr>
          <p:cNvPr id="28" name="Text 26"/>
          <p:cNvSpPr/>
          <p:nvPr/>
        </p:nvSpPr>
        <p:spPr>
          <a:xfrm>
            <a:off x="896112" y="4343400"/>
            <a:ext cx="2057400" cy="164592"/>
          </a:xfrm>
          <a:prstGeom prst="rect">
            <a:avLst/>
          </a:prstGeom>
          <a:noFill/>
          <a:ln/>
        </p:spPr>
        <p:txBody>
          <a:bodyPr wrap="square" lIns="0" tIns="0" rIns="0" bIns="0" rtlCol="0" anchor="ctr"/>
          <a:lstStyle/>
          <a:p>
            <a:pPr algn="ctr" indent="0" marL="0">
              <a:buNone/>
            </a:pPr>
            <a:r>
              <a:rPr lang="en-US" sz="880" dirty="0">
                <a:solidFill>
                  <a:srgbClr val="5D7182"/>
                </a:solidFill>
              </a:rPr>
              <a:t>Browser / Client</a:t>
            </a:r>
            <a:endParaRPr lang="en-US" sz="880" dirty="0"/>
          </a:p>
        </p:txBody>
      </p:sp>
      <p:sp>
        <p:nvSpPr>
          <p:cNvPr id="29" name="Shape 27"/>
          <p:cNvSpPr/>
          <p:nvPr/>
        </p:nvSpPr>
        <p:spPr>
          <a:xfrm>
            <a:off x="3108960" y="4187952"/>
            <a:ext cx="320040" cy="347472"/>
          </a:xfrm>
          <a:prstGeom prst="chevron">
            <a:avLst/>
          </a:prstGeom>
          <a:solidFill>
            <a:srgbClr val="D7E2EB"/>
          </a:solidFill>
          <a:ln w="12700">
            <a:solidFill>
              <a:srgbClr val="D7E2EB"/>
            </a:solidFill>
            <a:prstDash val="solid"/>
          </a:ln>
        </p:spPr>
      </p:sp>
      <p:sp>
        <p:nvSpPr>
          <p:cNvPr id="30" name="Shape 28"/>
          <p:cNvSpPr/>
          <p:nvPr/>
        </p:nvSpPr>
        <p:spPr>
          <a:xfrm>
            <a:off x="3657600" y="3886200"/>
            <a:ext cx="2057400" cy="960120"/>
          </a:xfrm>
          <a:prstGeom prst="roundRect">
            <a:avLst>
              <a:gd name="adj" fmla="val 7619"/>
            </a:avLst>
          </a:prstGeom>
          <a:solidFill>
            <a:srgbClr val="E9FBFF"/>
          </a:solidFill>
          <a:ln w="11430">
            <a:solidFill>
              <a:srgbClr val="00B8D9"/>
            </a:solidFill>
            <a:prstDash val="solid"/>
          </a:ln>
        </p:spPr>
      </p:sp>
      <p:sp>
        <p:nvSpPr>
          <p:cNvPr id="31" name="Text 29"/>
          <p:cNvSpPr/>
          <p:nvPr/>
        </p:nvSpPr>
        <p:spPr>
          <a:xfrm>
            <a:off x="3657600" y="4078224"/>
            <a:ext cx="2057400" cy="219456"/>
          </a:xfrm>
          <a:prstGeom prst="rect">
            <a:avLst/>
          </a:prstGeom>
          <a:noFill/>
          <a:ln/>
        </p:spPr>
        <p:txBody>
          <a:bodyPr wrap="square" lIns="0" tIns="0" rIns="0" bIns="0" rtlCol="0" anchor="ctr"/>
          <a:lstStyle/>
          <a:p>
            <a:pPr algn="ctr" indent="0" marL="0">
              <a:buNone/>
            </a:pPr>
            <a:r>
              <a:rPr lang="en-US" sz="1500" b="1" dirty="0">
                <a:solidFill>
                  <a:srgbClr val="12344D"/>
                </a:solidFill>
              </a:rPr>
              <a:t>Angular</a:t>
            </a:r>
            <a:endParaRPr lang="en-US" sz="1500" dirty="0"/>
          </a:p>
        </p:txBody>
      </p:sp>
      <p:sp>
        <p:nvSpPr>
          <p:cNvPr id="32" name="Text 30"/>
          <p:cNvSpPr/>
          <p:nvPr/>
        </p:nvSpPr>
        <p:spPr>
          <a:xfrm>
            <a:off x="3657600" y="4343400"/>
            <a:ext cx="2057400" cy="164592"/>
          </a:xfrm>
          <a:prstGeom prst="rect">
            <a:avLst/>
          </a:prstGeom>
          <a:noFill/>
          <a:ln/>
        </p:spPr>
        <p:txBody>
          <a:bodyPr wrap="square" lIns="0" tIns="0" rIns="0" bIns="0" rtlCol="0" anchor="ctr"/>
          <a:lstStyle/>
          <a:p>
            <a:pPr algn="ctr" indent="0" marL="0">
              <a:buNone/>
            </a:pPr>
            <a:r>
              <a:rPr lang="en-US" sz="880" dirty="0">
                <a:solidFill>
                  <a:srgbClr val="5D7182"/>
                </a:solidFill>
              </a:rPr>
              <a:t>Presentation Layer</a:t>
            </a:r>
            <a:endParaRPr lang="en-US" sz="880" dirty="0"/>
          </a:p>
        </p:txBody>
      </p:sp>
      <p:sp>
        <p:nvSpPr>
          <p:cNvPr id="33" name="Shape 31"/>
          <p:cNvSpPr/>
          <p:nvPr/>
        </p:nvSpPr>
        <p:spPr>
          <a:xfrm>
            <a:off x="5870448" y="4187952"/>
            <a:ext cx="320040" cy="347472"/>
          </a:xfrm>
          <a:prstGeom prst="chevron">
            <a:avLst/>
          </a:prstGeom>
          <a:solidFill>
            <a:srgbClr val="D7E2EB"/>
          </a:solidFill>
          <a:ln w="12700">
            <a:solidFill>
              <a:srgbClr val="D7E2EB"/>
            </a:solidFill>
            <a:prstDash val="solid"/>
          </a:ln>
        </p:spPr>
      </p:sp>
      <p:sp>
        <p:nvSpPr>
          <p:cNvPr id="34" name="Shape 32"/>
          <p:cNvSpPr/>
          <p:nvPr/>
        </p:nvSpPr>
        <p:spPr>
          <a:xfrm>
            <a:off x="6446520" y="3886200"/>
            <a:ext cx="2057400" cy="960120"/>
          </a:xfrm>
          <a:prstGeom prst="roundRect">
            <a:avLst>
              <a:gd name="adj" fmla="val 7619"/>
            </a:avLst>
          </a:prstGeom>
          <a:solidFill>
            <a:srgbClr val="EAF8F0"/>
          </a:solidFill>
          <a:ln w="11430">
            <a:solidFill>
              <a:srgbClr val="16A34A"/>
            </a:solidFill>
            <a:prstDash val="solid"/>
          </a:ln>
        </p:spPr>
      </p:sp>
      <p:sp>
        <p:nvSpPr>
          <p:cNvPr id="35" name="Text 33"/>
          <p:cNvSpPr/>
          <p:nvPr/>
        </p:nvSpPr>
        <p:spPr>
          <a:xfrm>
            <a:off x="6446520" y="4078224"/>
            <a:ext cx="2057400" cy="219456"/>
          </a:xfrm>
          <a:prstGeom prst="rect">
            <a:avLst/>
          </a:prstGeom>
          <a:noFill/>
          <a:ln/>
        </p:spPr>
        <p:txBody>
          <a:bodyPr wrap="square" lIns="0" tIns="0" rIns="0" bIns="0" rtlCol="0" anchor="ctr"/>
          <a:lstStyle/>
          <a:p>
            <a:pPr algn="ctr" indent="0" marL="0">
              <a:buNone/>
            </a:pPr>
            <a:r>
              <a:rPr lang="en-US" sz="1500" b="1" dirty="0">
                <a:solidFill>
                  <a:srgbClr val="12344D"/>
                </a:solidFill>
              </a:rPr>
              <a:t>REST API</a:t>
            </a:r>
            <a:endParaRPr lang="en-US" sz="1500" dirty="0"/>
          </a:p>
        </p:txBody>
      </p:sp>
      <p:sp>
        <p:nvSpPr>
          <p:cNvPr id="36" name="Text 34"/>
          <p:cNvSpPr/>
          <p:nvPr/>
        </p:nvSpPr>
        <p:spPr>
          <a:xfrm>
            <a:off x="6446520" y="4343400"/>
            <a:ext cx="2057400" cy="164592"/>
          </a:xfrm>
          <a:prstGeom prst="rect">
            <a:avLst/>
          </a:prstGeom>
          <a:noFill/>
          <a:ln/>
        </p:spPr>
        <p:txBody>
          <a:bodyPr wrap="square" lIns="0" tIns="0" rIns="0" bIns="0" rtlCol="0" anchor="ctr"/>
          <a:lstStyle/>
          <a:p>
            <a:pPr algn="ctr" indent="0" marL="0">
              <a:buNone/>
            </a:pPr>
            <a:r>
              <a:rPr lang="en-US" sz="880" dirty="0">
                <a:solidFill>
                  <a:srgbClr val="5D7182"/>
                </a:solidFill>
              </a:rPr>
              <a:t>Application Layer</a:t>
            </a:r>
            <a:endParaRPr lang="en-US" sz="880" dirty="0"/>
          </a:p>
        </p:txBody>
      </p:sp>
      <p:sp>
        <p:nvSpPr>
          <p:cNvPr id="37" name="Shape 35"/>
          <p:cNvSpPr/>
          <p:nvPr/>
        </p:nvSpPr>
        <p:spPr>
          <a:xfrm>
            <a:off x="8659368" y="4187952"/>
            <a:ext cx="320040" cy="347472"/>
          </a:xfrm>
          <a:prstGeom prst="chevron">
            <a:avLst/>
          </a:prstGeom>
          <a:solidFill>
            <a:srgbClr val="D7E2EB"/>
          </a:solidFill>
          <a:ln w="12700">
            <a:solidFill>
              <a:srgbClr val="D7E2EB"/>
            </a:solidFill>
            <a:prstDash val="solid"/>
          </a:ln>
        </p:spPr>
      </p:sp>
      <p:sp>
        <p:nvSpPr>
          <p:cNvPr id="38" name="Shape 36"/>
          <p:cNvSpPr/>
          <p:nvPr/>
        </p:nvSpPr>
        <p:spPr>
          <a:xfrm>
            <a:off x="9189720" y="3886200"/>
            <a:ext cx="2057400" cy="960120"/>
          </a:xfrm>
          <a:prstGeom prst="roundRect">
            <a:avLst>
              <a:gd name="adj" fmla="val 7619"/>
            </a:avLst>
          </a:prstGeom>
          <a:solidFill>
            <a:srgbClr val="FFF6E5"/>
          </a:solidFill>
          <a:ln w="11430">
            <a:solidFill>
              <a:srgbClr val="F59E0B"/>
            </a:solidFill>
            <a:prstDash val="solid"/>
          </a:ln>
        </p:spPr>
      </p:sp>
      <p:sp>
        <p:nvSpPr>
          <p:cNvPr id="39" name="Text 37"/>
          <p:cNvSpPr/>
          <p:nvPr/>
        </p:nvSpPr>
        <p:spPr>
          <a:xfrm>
            <a:off x="9189720" y="4078224"/>
            <a:ext cx="2057400" cy="219456"/>
          </a:xfrm>
          <a:prstGeom prst="rect">
            <a:avLst/>
          </a:prstGeom>
          <a:noFill/>
          <a:ln/>
        </p:spPr>
        <p:txBody>
          <a:bodyPr wrap="square" lIns="0" tIns="0" rIns="0" bIns="0" rtlCol="0" anchor="ctr"/>
          <a:lstStyle/>
          <a:p>
            <a:pPr algn="ctr" indent="0" marL="0">
              <a:buNone/>
            </a:pPr>
            <a:r>
              <a:rPr lang="en-US" sz="1500" b="1" dirty="0">
                <a:solidFill>
                  <a:srgbClr val="12344D"/>
                </a:solidFill>
              </a:rPr>
              <a:t>MySQL</a:t>
            </a:r>
            <a:endParaRPr lang="en-US" sz="1500" dirty="0"/>
          </a:p>
        </p:txBody>
      </p:sp>
      <p:sp>
        <p:nvSpPr>
          <p:cNvPr id="40" name="Text 38"/>
          <p:cNvSpPr/>
          <p:nvPr/>
        </p:nvSpPr>
        <p:spPr>
          <a:xfrm>
            <a:off x="9189720" y="4343400"/>
            <a:ext cx="2057400" cy="164592"/>
          </a:xfrm>
          <a:prstGeom prst="rect">
            <a:avLst/>
          </a:prstGeom>
          <a:noFill/>
          <a:ln/>
        </p:spPr>
        <p:txBody>
          <a:bodyPr wrap="square" lIns="0" tIns="0" rIns="0" bIns="0" rtlCol="0" anchor="ctr"/>
          <a:lstStyle/>
          <a:p>
            <a:pPr algn="ctr" indent="0" marL="0">
              <a:buNone/>
            </a:pPr>
            <a:r>
              <a:rPr lang="en-US" sz="880" dirty="0">
                <a:solidFill>
                  <a:srgbClr val="5D7182"/>
                </a:solidFill>
              </a:rPr>
              <a:t>Data Layer</a:t>
            </a:r>
            <a:endParaRPr lang="en-US" sz="880" dirty="0"/>
          </a:p>
        </p:txBody>
      </p:sp>
      <p:sp>
        <p:nvSpPr>
          <p:cNvPr id="41" name="Shape 39"/>
          <p:cNvSpPr/>
          <p:nvPr/>
        </p:nvSpPr>
        <p:spPr>
          <a:xfrm>
            <a:off x="4754880" y="4983480"/>
            <a:ext cx="2148840" cy="301752"/>
          </a:xfrm>
          <a:prstGeom prst="roundRect">
            <a:avLst>
              <a:gd name="adj" fmla="val 21212"/>
            </a:avLst>
          </a:prstGeom>
          <a:solidFill>
            <a:srgbClr val="EAF3FF"/>
          </a:solidFill>
          <a:ln w="12700">
            <a:solidFill>
              <a:srgbClr val="EAF3FF"/>
            </a:solidFill>
            <a:prstDash val="solid"/>
          </a:ln>
        </p:spPr>
      </p:sp>
      <p:sp>
        <p:nvSpPr>
          <p:cNvPr id="42" name="Text 40"/>
          <p:cNvSpPr/>
          <p:nvPr/>
        </p:nvSpPr>
        <p:spPr>
          <a:xfrm>
            <a:off x="4754880" y="5001768"/>
            <a:ext cx="2148840" cy="228600"/>
          </a:xfrm>
          <a:prstGeom prst="rect">
            <a:avLst/>
          </a:prstGeom>
          <a:noFill/>
          <a:ln/>
        </p:spPr>
        <p:txBody>
          <a:bodyPr wrap="square" lIns="0" tIns="0" rIns="0" bIns="0" rtlCol="0" anchor="ctr"/>
          <a:lstStyle/>
          <a:p>
            <a:pPr algn="ctr" indent="0" marL="0">
              <a:buNone/>
            </a:pPr>
            <a:r>
              <a:rPr lang="en-US" sz="950" b="1" dirty="0">
                <a:solidFill>
                  <a:srgbClr val="2F80ED"/>
                </a:solidFill>
              </a:rPr>
              <a:t>JSON + Bearer JWT</a:t>
            </a:r>
            <a:endParaRPr lang="en-US" sz="950" dirty="0"/>
          </a:p>
        </p:txBody>
      </p:sp>
      <p:sp>
        <p:nvSpPr>
          <p:cNvPr id="43" name="Text 41"/>
          <p:cNvSpPr/>
          <p:nvPr/>
        </p:nvSpPr>
        <p:spPr>
          <a:xfrm>
            <a:off x="9372600" y="6144768"/>
            <a:ext cx="2240280" cy="164592"/>
          </a:xfrm>
          <a:prstGeom prst="rect">
            <a:avLst/>
          </a:prstGeom>
          <a:noFill/>
          <a:ln/>
        </p:spPr>
        <p:txBody>
          <a:bodyPr wrap="square" lIns="0" tIns="0" rIns="0" bIns="0" rtlCol="0" anchor="ctr"/>
          <a:lstStyle/>
          <a:p>
            <a:pPr algn="r" indent="0" marL="0">
              <a:buNone/>
            </a:pPr>
            <a:r>
              <a:rPr lang="en-US" sz="720" i="1" dirty="0">
                <a:solidFill>
                  <a:srgbClr val="8797A5"/>
                </a:solidFill>
              </a:rPr>
              <a:t>Source: Uploaded SRS, §6.3 + §5.3</a:t>
            </a:r>
            <a:endParaRPr lang="en-US" sz="720" dirty="0"/>
          </a:p>
        </p:txBody>
      </p:sp>
      <p:sp>
        <p:nvSpPr>
          <p:cNvPr id="25" name="Slide Number Placeholder 0"/>
          <p:cNvSpPr>
            <a:spLocks noGrp="1"/>
          </p:cNvSpPr>
          <p:nvPr>
            <p:ph type="sldNum" sz="quarter" idx="4294967295"/>
          </p:nvPr>
        </p:nvSpPr>
        <p:spPr>
          <a:xfrm>
            <a:off x="11631168" y="647395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B7C8C"/>
                </a:solidFill>
                <a:latin typeface="Aptos"/>
                <a:ea typeface="Aptos"/>
                <a:cs typeface="Aptos"/>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84048"/>
            <a:ext cx="8138160" cy="384048"/>
          </a:xfrm>
          <a:prstGeom prst="rect">
            <a:avLst/>
          </a:prstGeom>
          <a:noFill/>
          <a:ln/>
        </p:spPr>
        <p:txBody>
          <a:bodyPr wrap="square" lIns="0" tIns="0" rIns="0" bIns="0" rtlCol="0" anchor="ctr"/>
          <a:lstStyle/>
          <a:p>
            <a:pPr indent="0" marL="0">
              <a:buNone/>
            </a:pPr>
            <a:r>
              <a:rPr lang="en-US" sz="2500" b="1" dirty="0">
                <a:solidFill>
                  <a:srgbClr val="12344D"/>
                </a:solidFill>
                <a:latin typeface="Aptos Display" pitchFamily="34" charset="0"/>
                <a:ea typeface="Aptos Display" pitchFamily="34" charset="-122"/>
                <a:cs typeface="Aptos Display" pitchFamily="34" charset="-120"/>
              </a:rPr>
              <a:t>Security &amp; Transaction Integrity</a:t>
            </a:r>
            <a:endParaRPr lang="en-US" sz="2500" dirty="0"/>
          </a:p>
        </p:txBody>
      </p:sp>
      <p:sp>
        <p:nvSpPr>
          <p:cNvPr id="3" name="Text 1"/>
          <p:cNvSpPr/>
          <p:nvPr/>
        </p:nvSpPr>
        <p:spPr>
          <a:xfrm>
            <a:off x="585216" y="786384"/>
            <a:ext cx="10789920" cy="292608"/>
          </a:xfrm>
          <a:prstGeom prst="rect">
            <a:avLst/>
          </a:prstGeom>
          <a:noFill/>
          <a:ln/>
        </p:spPr>
        <p:txBody>
          <a:bodyPr wrap="square" lIns="0" tIns="0" rIns="0" bIns="0" rtlCol="0" anchor="ctr"/>
          <a:lstStyle/>
          <a:p>
            <a:pPr indent="0" marL="0">
              <a:buNone/>
            </a:pPr>
            <a:r>
              <a:rPr lang="en-US" sz="1050" dirty="0">
                <a:solidFill>
                  <a:srgbClr val="5D7182"/>
                </a:solidFill>
              </a:rPr>
              <a:t>Security controls are central because the application handles financial state changes.</a:t>
            </a:r>
            <a:endParaRPr lang="en-US" sz="1050" dirty="0"/>
          </a:p>
        </p:txBody>
      </p:sp>
      <p:sp>
        <p:nvSpPr>
          <p:cNvPr id="4" name="Shape 2"/>
          <p:cNvSpPr/>
          <p:nvPr/>
        </p:nvSpPr>
        <p:spPr>
          <a:xfrm>
            <a:off x="594360" y="1298448"/>
            <a:ext cx="6492240" cy="4553712"/>
          </a:xfrm>
          <a:prstGeom prst="roundRect">
            <a:avLst>
              <a:gd name="adj" fmla="val 1606"/>
            </a:avLst>
          </a:prstGeom>
          <a:solidFill>
            <a:srgbClr val="FFFFFF"/>
          </a:solidFill>
          <a:ln w="11430">
            <a:solidFill>
              <a:srgbClr val="D7E2EB"/>
            </a:solidFill>
            <a:prstDash val="solid"/>
          </a:ln>
          <a:effectLst>
            <a:outerShdw sx="100000" sy="100000" kx="0" ky="0" algn="bl" rotWithShape="0" blurRad="12700" dist="50800" dir="2700000">
              <a:srgbClr val="B7C6D1">
                <a:alpha val="11000"/>
              </a:srgbClr>
            </a:outerShdw>
          </a:effectLst>
        </p:spPr>
      </p:sp>
      <p:sp>
        <p:nvSpPr>
          <p:cNvPr id="5" name="Text 3"/>
          <p:cNvSpPr/>
          <p:nvPr/>
        </p:nvSpPr>
        <p:spPr>
          <a:xfrm>
            <a:off x="868680" y="1536192"/>
            <a:ext cx="2194560" cy="201168"/>
          </a:xfrm>
          <a:prstGeom prst="rect">
            <a:avLst/>
          </a:prstGeom>
          <a:noFill/>
          <a:ln/>
        </p:spPr>
        <p:txBody>
          <a:bodyPr wrap="square" lIns="0" tIns="0" rIns="0" bIns="0" rtlCol="0" anchor="ctr"/>
          <a:lstStyle/>
          <a:p>
            <a:pPr indent="0" marL="0">
              <a:buNone/>
            </a:pPr>
            <a:r>
              <a:rPr lang="en-US" sz="850" b="1" spc="110" kern="0" dirty="0">
                <a:solidFill>
                  <a:srgbClr val="2F80ED"/>
                </a:solidFill>
              </a:rPr>
              <a:t>AUTHENTICATION PIPELINE</a:t>
            </a:r>
            <a:endParaRPr lang="en-US" sz="850" dirty="0"/>
          </a:p>
        </p:txBody>
      </p:sp>
      <p:sp>
        <p:nvSpPr>
          <p:cNvPr id="6" name="Shape 4"/>
          <p:cNvSpPr/>
          <p:nvPr/>
        </p:nvSpPr>
        <p:spPr>
          <a:xfrm>
            <a:off x="914400" y="1901952"/>
            <a:ext cx="365760" cy="365760"/>
          </a:xfrm>
          <a:prstGeom prst="ellipse">
            <a:avLst/>
          </a:prstGeom>
          <a:solidFill>
            <a:srgbClr val="2F80ED"/>
          </a:solidFill>
          <a:ln w="12700">
            <a:solidFill>
              <a:srgbClr val="2F80ED"/>
            </a:solidFill>
            <a:prstDash val="solid"/>
          </a:ln>
        </p:spPr>
      </p:sp>
      <p:sp>
        <p:nvSpPr>
          <p:cNvPr id="7" name="Text 5"/>
          <p:cNvSpPr/>
          <p:nvPr/>
        </p:nvSpPr>
        <p:spPr>
          <a:xfrm>
            <a:off x="914400" y="1911096"/>
            <a:ext cx="365760" cy="347472"/>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8" name="Text 6"/>
          <p:cNvSpPr/>
          <p:nvPr/>
        </p:nvSpPr>
        <p:spPr>
          <a:xfrm>
            <a:off x="1417320" y="1892808"/>
            <a:ext cx="1234440" cy="219456"/>
          </a:xfrm>
          <a:prstGeom prst="rect">
            <a:avLst/>
          </a:prstGeom>
          <a:noFill/>
          <a:ln/>
        </p:spPr>
        <p:txBody>
          <a:bodyPr wrap="square" lIns="0" tIns="0" rIns="0" bIns="0" rtlCol="0" anchor="ctr"/>
          <a:lstStyle/>
          <a:p>
            <a:pPr indent="0" marL="0">
              <a:buNone/>
            </a:pPr>
            <a:r>
              <a:rPr lang="en-US" sz="1310" b="1" dirty="0">
                <a:solidFill>
                  <a:srgbClr val="12344D"/>
                </a:solidFill>
              </a:rPr>
              <a:t>Login</a:t>
            </a:r>
            <a:endParaRPr lang="en-US" sz="1310" dirty="0"/>
          </a:p>
        </p:txBody>
      </p:sp>
      <p:sp>
        <p:nvSpPr>
          <p:cNvPr id="9" name="Text 7"/>
          <p:cNvSpPr/>
          <p:nvPr/>
        </p:nvSpPr>
        <p:spPr>
          <a:xfrm>
            <a:off x="2697480" y="1901952"/>
            <a:ext cx="3566160" cy="228600"/>
          </a:xfrm>
          <a:prstGeom prst="rect">
            <a:avLst/>
          </a:prstGeom>
          <a:noFill/>
          <a:ln/>
        </p:spPr>
        <p:txBody>
          <a:bodyPr wrap="square" lIns="0" tIns="0" rIns="0" bIns="0" rtlCol="0" anchor="ctr"/>
          <a:lstStyle/>
          <a:p>
            <a:pPr indent="0" marL="0">
              <a:buNone/>
            </a:pPr>
            <a:r>
              <a:rPr lang="en-US" sz="1060" dirty="0">
                <a:solidFill>
                  <a:srgbClr val="5D7182"/>
                </a:solidFill>
              </a:rPr>
              <a:t>Email + password</a:t>
            </a:r>
            <a:endParaRPr lang="en-US" sz="1060" dirty="0"/>
          </a:p>
        </p:txBody>
      </p:sp>
      <p:sp>
        <p:nvSpPr>
          <p:cNvPr id="10" name="Shape 8"/>
          <p:cNvSpPr/>
          <p:nvPr/>
        </p:nvSpPr>
        <p:spPr>
          <a:xfrm>
            <a:off x="1097280" y="2340864"/>
            <a:ext cx="0" cy="219456"/>
          </a:xfrm>
          <a:prstGeom prst="line">
            <a:avLst/>
          </a:prstGeom>
          <a:noFill/>
          <a:ln w="12700">
            <a:solidFill>
              <a:srgbClr val="D7E2EB"/>
            </a:solidFill>
            <a:prstDash val="solid"/>
            <a:headEnd type="none"/>
            <a:tailEnd type="triangle"/>
          </a:ln>
        </p:spPr>
      </p:sp>
      <p:sp>
        <p:nvSpPr>
          <p:cNvPr id="11" name="Shape 9"/>
          <p:cNvSpPr/>
          <p:nvPr/>
        </p:nvSpPr>
        <p:spPr>
          <a:xfrm>
            <a:off x="914400" y="2505456"/>
            <a:ext cx="365760" cy="365760"/>
          </a:xfrm>
          <a:prstGeom prst="ellipse">
            <a:avLst/>
          </a:prstGeom>
          <a:solidFill>
            <a:srgbClr val="2F80ED"/>
          </a:solidFill>
          <a:ln w="12700">
            <a:solidFill>
              <a:srgbClr val="2F80ED"/>
            </a:solidFill>
            <a:prstDash val="solid"/>
          </a:ln>
        </p:spPr>
      </p:sp>
      <p:sp>
        <p:nvSpPr>
          <p:cNvPr id="12" name="Text 10"/>
          <p:cNvSpPr/>
          <p:nvPr/>
        </p:nvSpPr>
        <p:spPr>
          <a:xfrm>
            <a:off x="914400" y="2514600"/>
            <a:ext cx="365760" cy="347472"/>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3" name="Text 11"/>
          <p:cNvSpPr/>
          <p:nvPr/>
        </p:nvSpPr>
        <p:spPr>
          <a:xfrm>
            <a:off x="1417320" y="2496312"/>
            <a:ext cx="1234440" cy="219456"/>
          </a:xfrm>
          <a:prstGeom prst="rect">
            <a:avLst/>
          </a:prstGeom>
          <a:noFill/>
          <a:ln/>
        </p:spPr>
        <p:txBody>
          <a:bodyPr wrap="square" lIns="0" tIns="0" rIns="0" bIns="0" rtlCol="0" anchor="ctr"/>
          <a:lstStyle/>
          <a:p>
            <a:pPr indent="0" marL="0">
              <a:buNone/>
            </a:pPr>
            <a:r>
              <a:rPr lang="en-US" sz="1310" b="1" dirty="0">
                <a:solidFill>
                  <a:srgbClr val="12344D"/>
                </a:solidFill>
              </a:rPr>
              <a:t>BCrypt</a:t>
            </a:r>
            <a:endParaRPr lang="en-US" sz="1310" dirty="0"/>
          </a:p>
        </p:txBody>
      </p:sp>
      <p:sp>
        <p:nvSpPr>
          <p:cNvPr id="14" name="Text 12"/>
          <p:cNvSpPr/>
          <p:nvPr/>
        </p:nvSpPr>
        <p:spPr>
          <a:xfrm>
            <a:off x="2697480" y="2505456"/>
            <a:ext cx="3566160" cy="228600"/>
          </a:xfrm>
          <a:prstGeom prst="rect">
            <a:avLst/>
          </a:prstGeom>
          <a:noFill/>
          <a:ln/>
        </p:spPr>
        <p:txBody>
          <a:bodyPr wrap="square" lIns="0" tIns="0" rIns="0" bIns="0" rtlCol="0" anchor="ctr"/>
          <a:lstStyle/>
          <a:p>
            <a:pPr indent="0" marL="0">
              <a:buNone/>
            </a:pPr>
            <a:r>
              <a:rPr lang="en-US" sz="1060" dirty="0">
                <a:solidFill>
                  <a:srgbClr val="5D7182"/>
                </a:solidFill>
              </a:rPr>
              <a:t>Password hashing</a:t>
            </a:r>
            <a:endParaRPr lang="en-US" sz="1060" dirty="0"/>
          </a:p>
        </p:txBody>
      </p:sp>
      <p:sp>
        <p:nvSpPr>
          <p:cNvPr id="15" name="Shape 13"/>
          <p:cNvSpPr/>
          <p:nvPr/>
        </p:nvSpPr>
        <p:spPr>
          <a:xfrm>
            <a:off x="1097280" y="2944368"/>
            <a:ext cx="0" cy="219456"/>
          </a:xfrm>
          <a:prstGeom prst="line">
            <a:avLst/>
          </a:prstGeom>
          <a:noFill/>
          <a:ln w="12700">
            <a:solidFill>
              <a:srgbClr val="D7E2EB"/>
            </a:solidFill>
            <a:prstDash val="solid"/>
            <a:headEnd type="none"/>
            <a:tailEnd type="triangle"/>
          </a:ln>
        </p:spPr>
      </p:sp>
      <p:sp>
        <p:nvSpPr>
          <p:cNvPr id="16" name="Shape 14"/>
          <p:cNvSpPr/>
          <p:nvPr/>
        </p:nvSpPr>
        <p:spPr>
          <a:xfrm>
            <a:off x="914400" y="3108960"/>
            <a:ext cx="365760" cy="365760"/>
          </a:xfrm>
          <a:prstGeom prst="ellipse">
            <a:avLst/>
          </a:prstGeom>
          <a:solidFill>
            <a:srgbClr val="2F80ED"/>
          </a:solidFill>
          <a:ln w="12700">
            <a:solidFill>
              <a:srgbClr val="2F80ED"/>
            </a:solidFill>
            <a:prstDash val="solid"/>
          </a:ln>
        </p:spPr>
      </p:sp>
      <p:sp>
        <p:nvSpPr>
          <p:cNvPr id="17" name="Text 15"/>
          <p:cNvSpPr/>
          <p:nvPr/>
        </p:nvSpPr>
        <p:spPr>
          <a:xfrm>
            <a:off x="914400" y="3118104"/>
            <a:ext cx="365760" cy="347472"/>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8" name="Text 16"/>
          <p:cNvSpPr/>
          <p:nvPr/>
        </p:nvSpPr>
        <p:spPr>
          <a:xfrm>
            <a:off x="1417320" y="3099816"/>
            <a:ext cx="1234440" cy="219456"/>
          </a:xfrm>
          <a:prstGeom prst="rect">
            <a:avLst/>
          </a:prstGeom>
          <a:noFill/>
          <a:ln/>
        </p:spPr>
        <p:txBody>
          <a:bodyPr wrap="square" lIns="0" tIns="0" rIns="0" bIns="0" rtlCol="0" anchor="ctr"/>
          <a:lstStyle/>
          <a:p>
            <a:pPr indent="0" marL="0">
              <a:buNone/>
            </a:pPr>
            <a:r>
              <a:rPr lang="en-US" sz="1310" b="1" dirty="0">
                <a:solidFill>
                  <a:srgbClr val="12344D"/>
                </a:solidFill>
              </a:rPr>
              <a:t>JWT</a:t>
            </a:r>
            <a:endParaRPr lang="en-US" sz="1310" dirty="0"/>
          </a:p>
        </p:txBody>
      </p:sp>
      <p:sp>
        <p:nvSpPr>
          <p:cNvPr id="19" name="Text 17"/>
          <p:cNvSpPr/>
          <p:nvPr/>
        </p:nvSpPr>
        <p:spPr>
          <a:xfrm>
            <a:off x="2697480" y="3108960"/>
            <a:ext cx="3566160" cy="228600"/>
          </a:xfrm>
          <a:prstGeom prst="rect">
            <a:avLst/>
          </a:prstGeom>
          <a:noFill/>
          <a:ln/>
        </p:spPr>
        <p:txBody>
          <a:bodyPr wrap="square" lIns="0" tIns="0" rIns="0" bIns="0" rtlCol="0" anchor="ctr"/>
          <a:lstStyle/>
          <a:p>
            <a:pPr indent="0" marL="0">
              <a:buNone/>
            </a:pPr>
            <a:r>
              <a:rPr lang="en-US" sz="1060" dirty="0">
                <a:solidFill>
                  <a:srgbClr val="5D7182"/>
                </a:solidFill>
              </a:rPr>
              <a:t>Token issued after auth</a:t>
            </a:r>
            <a:endParaRPr lang="en-US" sz="1060" dirty="0"/>
          </a:p>
        </p:txBody>
      </p:sp>
      <p:sp>
        <p:nvSpPr>
          <p:cNvPr id="20" name="Shape 18"/>
          <p:cNvSpPr/>
          <p:nvPr/>
        </p:nvSpPr>
        <p:spPr>
          <a:xfrm>
            <a:off x="1097280" y="3547872"/>
            <a:ext cx="0" cy="219456"/>
          </a:xfrm>
          <a:prstGeom prst="line">
            <a:avLst/>
          </a:prstGeom>
          <a:noFill/>
          <a:ln w="12700">
            <a:solidFill>
              <a:srgbClr val="D7E2EB"/>
            </a:solidFill>
            <a:prstDash val="solid"/>
            <a:headEnd type="none"/>
            <a:tailEnd type="triangle"/>
          </a:ln>
        </p:spPr>
      </p:sp>
      <p:sp>
        <p:nvSpPr>
          <p:cNvPr id="21" name="Shape 19"/>
          <p:cNvSpPr/>
          <p:nvPr/>
        </p:nvSpPr>
        <p:spPr>
          <a:xfrm>
            <a:off x="914400" y="3712464"/>
            <a:ext cx="365760" cy="365760"/>
          </a:xfrm>
          <a:prstGeom prst="ellipse">
            <a:avLst/>
          </a:prstGeom>
          <a:solidFill>
            <a:srgbClr val="16A34A"/>
          </a:solidFill>
          <a:ln w="12700">
            <a:solidFill>
              <a:srgbClr val="16A34A"/>
            </a:solidFill>
            <a:prstDash val="solid"/>
          </a:ln>
        </p:spPr>
      </p:sp>
      <p:sp>
        <p:nvSpPr>
          <p:cNvPr id="22" name="Text 20"/>
          <p:cNvSpPr/>
          <p:nvPr/>
        </p:nvSpPr>
        <p:spPr>
          <a:xfrm>
            <a:off x="914400" y="3721608"/>
            <a:ext cx="365760" cy="347472"/>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23" name="Text 21"/>
          <p:cNvSpPr/>
          <p:nvPr/>
        </p:nvSpPr>
        <p:spPr>
          <a:xfrm>
            <a:off x="1417320" y="3703320"/>
            <a:ext cx="1234440" cy="219456"/>
          </a:xfrm>
          <a:prstGeom prst="rect">
            <a:avLst/>
          </a:prstGeom>
          <a:noFill/>
          <a:ln/>
        </p:spPr>
        <p:txBody>
          <a:bodyPr wrap="square" lIns="0" tIns="0" rIns="0" bIns="0" rtlCol="0" anchor="ctr"/>
          <a:lstStyle/>
          <a:p>
            <a:pPr indent="0" marL="0">
              <a:buNone/>
            </a:pPr>
            <a:r>
              <a:rPr lang="en-US" sz="1310" b="1" dirty="0">
                <a:solidFill>
                  <a:srgbClr val="12344D"/>
                </a:solidFill>
              </a:rPr>
              <a:t>Filter</a:t>
            </a:r>
            <a:endParaRPr lang="en-US" sz="1310" dirty="0"/>
          </a:p>
        </p:txBody>
      </p:sp>
      <p:sp>
        <p:nvSpPr>
          <p:cNvPr id="24" name="Text 22"/>
          <p:cNvSpPr/>
          <p:nvPr/>
        </p:nvSpPr>
        <p:spPr>
          <a:xfrm>
            <a:off x="2697480" y="3712464"/>
            <a:ext cx="3566160" cy="228600"/>
          </a:xfrm>
          <a:prstGeom prst="rect">
            <a:avLst/>
          </a:prstGeom>
          <a:noFill/>
          <a:ln/>
        </p:spPr>
        <p:txBody>
          <a:bodyPr wrap="square" lIns="0" tIns="0" rIns="0" bIns="0" rtlCol="0" anchor="ctr"/>
          <a:lstStyle/>
          <a:p>
            <a:pPr indent="0" marL="0">
              <a:buNone/>
            </a:pPr>
            <a:r>
              <a:rPr lang="en-US" sz="1060" dirty="0">
                <a:solidFill>
                  <a:srgbClr val="5D7182"/>
                </a:solidFill>
              </a:rPr>
              <a:t>Bearer token validated</a:t>
            </a:r>
            <a:endParaRPr lang="en-US" sz="1060" dirty="0"/>
          </a:p>
        </p:txBody>
      </p:sp>
      <p:sp>
        <p:nvSpPr>
          <p:cNvPr id="25" name="Shape 23"/>
          <p:cNvSpPr/>
          <p:nvPr/>
        </p:nvSpPr>
        <p:spPr>
          <a:xfrm>
            <a:off x="1097280" y="4151376"/>
            <a:ext cx="0" cy="219456"/>
          </a:xfrm>
          <a:prstGeom prst="line">
            <a:avLst/>
          </a:prstGeom>
          <a:noFill/>
          <a:ln w="12700">
            <a:solidFill>
              <a:srgbClr val="D7E2EB"/>
            </a:solidFill>
            <a:prstDash val="solid"/>
            <a:headEnd type="none"/>
            <a:tailEnd type="triangle"/>
          </a:ln>
        </p:spPr>
      </p:sp>
      <p:sp>
        <p:nvSpPr>
          <p:cNvPr id="26" name="Shape 24"/>
          <p:cNvSpPr/>
          <p:nvPr/>
        </p:nvSpPr>
        <p:spPr>
          <a:xfrm>
            <a:off x="914400" y="4315968"/>
            <a:ext cx="365760" cy="365760"/>
          </a:xfrm>
          <a:prstGeom prst="ellipse">
            <a:avLst/>
          </a:prstGeom>
          <a:solidFill>
            <a:srgbClr val="16A34A"/>
          </a:solidFill>
          <a:ln w="12700">
            <a:solidFill>
              <a:srgbClr val="16A34A"/>
            </a:solidFill>
            <a:prstDash val="solid"/>
          </a:ln>
        </p:spPr>
      </p:sp>
      <p:sp>
        <p:nvSpPr>
          <p:cNvPr id="27" name="Text 25"/>
          <p:cNvSpPr/>
          <p:nvPr/>
        </p:nvSpPr>
        <p:spPr>
          <a:xfrm>
            <a:off x="914400" y="4325112"/>
            <a:ext cx="365760" cy="347472"/>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28" name="Text 26"/>
          <p:cNvSpPr/>
          <p:nvPr/>
        </p:nvSpPr>
        <p:spPr>
          <a:xfrm>
            <a:off x="1417320" y="4306824"/>
            <a:ext cx="1234440" cy="219456"/>
          </a:xfrm>
          <a:prstGeom prst="rect">
            <a:avLst/>
          </a:prstGeom>
          <a:noFill/>
          <a:ln/>
        </p:spPr>
        <p:txBody>
          <a:bodyPr wrap="square" lIns="0" tIns="0" rIns="0" bIns="0" rtlCol="0" anchor="ctr"/>
          <a:lstStyle/>
          <a:p>
            <a:pPr indent="0" marL="0">
              <a:buNone/>
            </a:pPr>
            <a:r>
              <a:rPr lang="en-US" sz="1310" b="1" dirty="0">
                <a:solidFill>
                  <a:srgbClr val="12344D"/>
                </a:solidFill>
              </a:rPr>
              <a:t>RBAC</a:t>
            </a:r>
            <a:endParaRPr lang="en-US" sz="1310" dirty="0"/>
          </a:p>
        </p:txBody>
      </p:sp>
      <p:sp>
        <p:nvSpPr>
          <p:cNvPr id="29" name="Text 27"/>
          <p:cNvSpPr/>
          <p:nvPr/>
        </p:nvSpPr>
        <p:spPr>
          <a:xfrm>
            <a:off x="2697480" y="4315968"/>
            <a:ext cx="3566160" cy="228600"/>
          </a:xfrm>
          <a:prstGeom prst="rect">
            <a:avLst/>
          </a:prstGeom>
          <a:noFill/>
          <a:ln/>
        </p:spPr>
        <p:txBody>
          <a:bodyPr wrap="square" lIns="0" tIns="0" rIns="0" bIns="0" rtlCol="0" anchor="ctr"/>
          <a:lstStyle/>
          <a:p>
            <a:pPr indent="0" marL="0">
              <a:buNone/>
            </a:pPr>
            <a:r>
              <a:rPr lang="en-US" sz="1060" dirty="0">
                <a:solidFill>
                  <a:srgbClr val="5D7182"/>
                </a:solidFill>
              </a:rPr>
              <a:t>USER / ADMIN permission</a:t>
            </a:r>
            <a:endParaRPr lang="en-US" sz="1060" dirty="0"/>
          </a:p>
        </p:txBody>
      </p:sp>
      <p:sp>
        <p:nvSpPr>
          <p:cNvPr id="30" name="Shape 28"/>
          <p:cNvSpPr/>
          <p:nvPr/>
        </p:nvSpPr>
        <p:spPr>
          <a:xfrm>
            <a:off x="1097280" y="4754880"/>
            <a:ext cx="0" cy="219456"/>
          </a:xfrm>
          <a:prstGeom prst="line">
            <a:avLst/>
          </a:prstGeom>
          <a:noFill/>
          <a:ln w="12700">
            <a:solidFill>
              <a:srgbClr val="D7E2EB"/>
            </a:solidFill>
            <a:prstDash val="solid"/>
            <a:headEnd type="none"/>
            <a:tailEnd type="triangle"/>
          </a:ln>
        </p:spPr>
      </p:sp>
      <p:sp>
        <p:nvSpPr>
          <p:cNvPr id="31" name="Shape 29"/>
          <p:cNvSpPr/>
          <p:nvPr/>
        </p:nvSpPr>
        <p:spPr>
          <a:xfrm>
            <a:off x="914400" y="4919472"/>
            <a:ext cx="365760" cy="365760"/>
          </a:xfrm>
          <a:prstGeom prst="ellipse">
            <a:avLst/>
          </a:prstGeom>
          <a:solidFill>
            <a:srgbClr val="16A34A"/>
          </a:solidFill>
          <a:ln w="12700">
            <a:solidFill>
              <a:srgbClr val="16A34A"/>
            </a:solidFill>
            <a:prstDash val="solid"/>
          </a:ln>
        </p:spPr>
      </p:sp>
      <p:sp>
        <p:nvSpPr>
          <p:cNvPr id="32" name="Text 30"/>
          <p:cNvSpPr/>
          <p:nvPr/>
        </p:nvSpPr>
        <p:spPr>
          <a:xfrm>
            <a:off x="914400" y="4928616"/>
            <a:ext cx="365760" cy="347472"/>
          </a:xfrm>
          <a:prstGeom prst="rect">
            <a:avLst/>
          </a:prstGeom>
          <a:noFill/>
          <a:ln/>
        </p:spPr>
        <p:txBody>
          <a:bodyPr wrap="square" lIns="0" tIns="0" rIns="0" bIns="0" rtlCol="0" anchor="ctr"/>
          <a:lstStyle/>
          <a:p>
            <a:pPr algn="ctr" indent="0" marL="0">
              <a:buNone/>
            </a:pPr>
            <a:r>
              <a:rPr lang="en-US" sz="1800" b="1" dirty="0">
                <a:solidFill>
                  <a:srgbClr val="FFFFFF"/>
                </a:solidFill>
              </a:rPr>
              <a:t>6</a:t>
            </a:r>
            <a:endParaRPr lang="en-US" sz="1800" dirty="0"/>
          </a:p>
        </p:txBody>
      </p:sp>
      <p:sp>
        <p:nvSpPr>
          <p:cNvPr id="33" name="Text 31"/>
          <p:cNvSpPr/>
          <p:nvPr/>
        </p:nvSpPr>
        <p:spPr>
          <a:xfrm>
            <a:off x="1417320" y="4910328"/>
            <a:ext cx="1234440" cy="219456"/>
          </a:xfrm>
          <a:prstGeom prst="rect">
            <a:avLst/>
          </a:prstGeom>
          <a:noFill/>
          <a:ln/>
        </p:spPr>
        <p:txBody>
          <a:bodyPr wrap="square" lIns="0" tIns="0" rIns="0" bIns="0" rtlCol="0" anchor="ctr"/>
          <a:lstStyle/>
          <a:p>
            <a:pPr indent="0" marL="0">
              <a:buNone/>
            </a:pPr>
            <a:r>
              <a:rPr lang="en-US" sz="1310" b="1" dirty="0">
                <a:solidFill>
                  <a:srgbClr val="12344D"/>
                </a:solidFill>
              </a:rPr>
              <a:t>API</a:t>
            </a:r>
            <a:endParaRPr lang="en-US" sz="1310" dirty="0"/>
          </a:p>
        </p:txBody>
      </p:sp>
      <p:sp>
        <p:nvSpPr>
          <p:cNvPr id="34" name="Text 32"/>
          <p:cNvSpPr/>
          <p:nvPr/>
        </p:nvSpPr>
        <p:spPr>
          <a:xfrm>
            <a:off x="2697480" y="4919472"/>
            <a:ext cx="3566160" cy="228600"/>
          </a:xfrm>
          <a:prstGeom prst="rect">
            <a:avLst/>
          </a:prstGeom>
          <a:noFill/>
          <a:ln/>
        </p:spPr>
        <p:txBody>
          <a:bodyPr wrap="square" lIns="0" tIns="0" rIns="0" bIns="0" rtlCol="0" anchor="ctr"/>
          <a:lstStyle/>
          <a:p>
            <a:pPr indent="0" marL="0">
              <a:buNone/>
            </a:pPr>
            <a:r>
              <a:rPr lang="en-US" sz="1060" dirty="0">
                <a:solidFill>
                  <a:srgbClr val="5D7182"/>
                </a:solidFill>
              </a:rPr>
              <a:t>Protected operation executes</a:t>
            </a:r>
            <a:endParaRPr lang="en-US" sz="1060" dirty="0"/>
          </a:p>
        </p:txBody>
      </p:sp>
      <p:sp>
        <p:nvSpPr>
          <p:cNvPr id="35" name="Shape 33"/>
          <p:cNvSpPr/>
          <p:nvPr/>
        </p:nvSpPr>
        <p:spPr>
          <a:xfrm>
            <a:off x="7333488" y="1298448"/>
            <a:ext cx="4251960" cy="4553712"/>
          </a:xfrm>
          <a:prstGeom prst="roundRect">
            <a:avLst>
              <a:gd name="adj" fmla="val 1720"/>
            </a:avLst>
          </a:prstGeom>
          <a:solidFill>
            <a:srgbClr val="FFFFFF"/>
          </a:solidFill>
          <a:ln w="11430">
            <a:solidFill>
              <a:srgbClr val="D7E2EB"/>
            </a:solidFill>
            <a:prstDash val="solid"/>
          </a:ln>
          <a:effectLst>
            <a:outerShdw sx="100000" sy="100000" kx="0" ky="0" algn="bl" rotWithShape="0" blurRad="12700" dist="50800" dir="2700000">
              <a:srgbClr val="B7C6D1">
                <a:alpha val="11000"/>
              </a:srgbClr>
            </a:outerShdw>
          </a:effectLst>
        </p:spPr>
      </p:sp>
      <p:sp>
        <p:nvSpPr>
          <p:cNvPr id="36" name="Text 34"/>
          <p:cNvSpPr/>
          <p:nvPr/>
        </p:nvSpPr>
        <p:spPr>
          <a:xfrm>
            <a:off x="7607808" y="1536192"/>
            <a:ext cx="2194560" cy="201168"/>
          </a:xfrm>
          <a:prstGeom prst="rect">
            <a:avLst/>
          </a:prstGeom>
          <a:noFill/>
          <a:ln/>
        </p:spPr>
        <p:txBody>
          <a:bodyPr wrap="square" lIns="0" tIns="0" rIns="0" bIns="0" rtlCol="0" anchor="ctr"/>
          <a:lstStyle/>
          <a:p>
            <a:pPr indent="0" marL="0">
              <a:buNone/>
            </a:pPr>
            <a:r>
              <a:rPr lang="en-US" sz="850" b="1" spc="110" kern="0" dirty="0">
                <a:solidFill>
                  <a:srgbClr val="16A34A"/>
                </a:solidFill>
              </a:rPr>
              <a:t>CRITICAL CHECKS</a:t>
            </a:r>
            <a:endParaRPr lang="en-US" sz="850" dirty="0"/>
          </a:p>
        </p:txBody>
      </p:sp>
      <p:sp>
        <p:nvSpPr>
          <p:cNvPr id="37" name="Shape 35"/>
          <p:cNvSpPr/>
          <p:nvPr/>
        </p:nvSpPr>
        <p:spPr>
          <a:xfrm>
            <a:off x="7635240" y="1920240"/>
            <a:ext cx="329184" cy="329184"/>
          </a:xfrm>
          <a:prstGeom prst="ellipse">
            <a:avLst/>
          </a:prstGeom>
          <a:solidFill>
            <a:srgbClr val="16A34A"/>
          </a:solidFill>
          <a:ln w="12700">
            <a:solidFill>
              <a:srgbClr val="16A34A"/>
            </a:solidFill>
            <a:prstDash val="solid"/>
          </a:ln>
        </p:spPr>
      </p:sp>
      <p:sp>
        <p:nvSpPr>
          <p:cNvPr id="38" name="Text 36"/>
          <p:cNvSpPr/>
          <p:nvPr/>
        </p:nvSpPr>
        <p:spPr>
          <a:xfrm>
            <a:off x="7635240" y="1929384"/>
            <a:ext cx="329184" cy="310896"/>
          </a:xfrm>
          <a:prstGeom prst="rect">
            <a:avLst/>
          </a:prstGeom>
          <a:noFill/>
          <a:ln/>
        </p:spPr>
        <p:txBody>
          <a:bodyPr wrap="square" lIns="0" tIns="0" rIns="0" bIns="0" rtlCol="0" anchor="ctr"/>
          <a:lstStyle/>
          <a:p>
            <a:pPr algn="ctr" indent="0" marL="0">
              <a:buNone/>
            </a:pPr>
            <a:r>
              <a:rPr lang="en-US" sz="1800" b="1" dirty="0">
                <a:solidFill>
                  <a:srgbClr val="FFFFFF"/>
                </a:solidFill>
              </a:rPr>
              <a:t>✓</a:t>
            </a:r>
            <a:endParaRPr lang="en-US" sz="1800" dirty="0"/>
          </a:p>
        </p:txBody>
      </p:sp>
      <p:sp>
        <p:nvSpPr>
          <p:cNvPr id="39" name="Text 37"/>
          <p:cNvSpPr/>
          <p:nvPr/>
        </p:nvSpPr>
        <p:spPr>
          <a:xfrm>
            <a:off x="8119872" y="1911096"/>
            <a:ext cx="914400" cy="201168"/>
          </a:xfrm>
          <a:prstGeom prst="rect">
            <a:avLst/>
          </a:prstGeom>
          <a:noFill/>
          <a:ln/>
        </p:spPr>
        <p:txBody>
          <a:bodyPr wrap="square" lIns="0" tIns="0" rIns="0" bIns="0" rtlCol="0" anchor="ctr"/>
          <a:lstStyle/>
          <a:p>
            <a:pPr indent="0" marL="0">
              <a:buNone/>
            </a:pPr>
            <a:r>
              <a:rPr lang="en-US" sz="1180" b="1" dirty="0">
                <a:solidFill>
                  <a:srgbClr val="12344D"/>
                </a:solidFill>
              </a:rPr>
              <a:t>Ownership</a:t>
            </a:r>
            <a:endParaRPr lang="en-US" sz="1180" dirty="0"/>
          </a:p>
        </p:txBody>
      </p:sp>
      <p:sp>
        <p:nvSpPr>
          <p:cNvPr id="40" name="Text 38"/>
          <p:cNvSpPr/>
          <p:nvPr/>
        </p:nvSpPr>
        <p:spPr>
          <a:xfrm>
            <a:off x="8979408" y="1920240"/>
            <a:ext cx="2286000" cy="310896"/>
          </a:xfrm>
          <a:prstGeom prst="rect">
            <a:avLst/>
          </a:prstGeom>
          <a:noFill/>
          <a:ln/>
        </p:spPr>
        <p:txBody>
          <a:bodyPr wrap="square" lIns="0" tIns="0" rIns="0" bIns="0" rtlCol="0" anchor="ctr">
            <a:normAutofit/>
          </a:bodyPr>
          <a:lstStyle/>
          <a:p>
            <a:pPr indent="0" marL="0">
              <a:buNone/>
            </a:pPr>
            <a:r>
              <a:rPr lang="en-US" sz="950" dirty="0">
                <a:solidFill>
                  <a:srgbClr val="5D7182"/>
                </a:solidFill>
              </a:rPr>
              <a:t>Prevents cross-user account/data access</a:t>
            </a:r>
            <a:endParaRPr lang="en-US" sz="950" dirty="0"/>
          </a:p>
        </p:txBody>
      </p:sp>
      <p:sp>
        <p:nvSpPr>
          <p:cNvPr id="41" name="Shape 39"/>
          <p:cNvSpPr/>
          <p:nvPr/>
        </p:nvSpPr>
        <p:spPr>
          <a:xfrm>
            <a:off x="7635240" y="2523744"/>
            <a:ext cx="329184" cy="329184"/>
          </a:xfrm>
          <a:prstGeom prst="ellipse">
            <a:avLst/>
          </a:prstGeom>
          <a:solidFill>
            <a:srgbClr val="F59E0B"/>
          </a:solidFill>
          <a:ln w="12700">
            <a:solidFill>
              <a:srgbClr val="F59E0B"/>
            </a:solidFill>
            <a:prstDash val="solid"/>
          </a:ln>
        </p:spPr>
      </p:sp>
      <p:sp>
        <p:nvSpPr>
          <p:cNvPr id="42" name="Text 40"/>
          <p:cNvSpPr/>
          <p:nvPr/>
        </p:nvSpPr>
        <p:spPr>
          <a:xfrm>
            <a:off x="7635240" y="2532888"/>
            <a:ext cx="329184" cy="310896"/>
          </a:xfrm>
          <a:prstGeom prst="rect">
            <a:avLst/>
          </a:prstGeom>
          <a:noFill/>
          <a:ln/>
        </p:spPr>
        <p:txBody>
          <a:bodyPr wrap="square" lIns="0" tIns="0" rIns="0" bIns="0" rtlCol="0" anchor="ctr"/>
          <a:lstStyle/>
          <a:p>
            <a:pPr algn="ctr" indent="0" marL="0">
              <a:buNone/>
            </a:pPr>
            <a:r>
              <a:rPr lang="en-US" sz="1800" b="1" dirty="0">
                <a:solidFill>
                  <a:srgbClr val="FFFFFF"/>
                </a:solidFill>
              </a:rPr>
              <a:t>✓</a:t>
            </a:r>
            <a:endParaRPr lang="en-US" sz="1800" dirty="0"/>
          </a:p>
        </p:txBody>
      </p:sp>
      <p:sp>
        <p:nvSpPr>
          <p:cNvPr id="43" name="Text 41"/>
          <p:cNvSpPr/>
          <p:nvPr/>
        </p:nvSpPr>
        <p:spPr>
          <a:xfrm>
            <a:off x="8119872" y="2514600"/>
            <a:ext cx="914400" cy="201168"/>
          </a:xfrm>
          <a:prstGeom prst="rect">
            <a:avLst/>
          </a:prstGeom>
          <a:noFill/>
          <a:ln/>
        </p:spPr>
        <p:txBody>
          <a:bodyPr wrap="square" lIns="0" tIns="0" rIns="0" bIns="0" rtlCol="0" anchor="ctr"/>
          <a:lstStyle/>
          <a:p>
            <a:pPr indent="0" marL="0">
              <a:buNone/>
            </a:pPr>
            <a:r>
              <a:rPr lang="en-US" sz="1180" b="1" dirty="0">
                <a:solidFill>
                  <a:srgbClr val="12344D"/>
                </a:solidFill>
              </a:rPr>
              <a:t>Balance</a:t>
            </a:r>
            <a:endParaRPr lang="en-US" sz="1180" dirty="0"/>
          </a:p>
        </p:txBody>
      </p:sp>
      <p:sp>
        <p:nvSpPr>
          <p:cNvPr id="44" name="Text 42"/>
          <p:cNvSpPr/>
          <p:nvPr/>
        </p:nvSpPr>
        <p:spPr>
          <a:xfrm>
            <a:off x="8979408" y="2523744"/>
            <a:ext cx="2286000" cy="310896"/>
          </a:xfrm>
          <a:prstGeom prst="rect">
            <a:avLst/>
          </a:prstGeom>
          <a:noFill/>
          <a:ln/>
        </p:spPr>
        <p:txBody>
          <a:bodyPr wrap="square" lIns="0" tIns="0" rIns="0" bIns="0" rtlCol="0" anchor="ctr">
            <a:normAutofit/>
          </a:bodyPr>
          <a:lstStyle/>
          <a:p>
            <a:pPr indent="0" marL="0">
              <a:buNone/>
            </a:pPr>
            <a:r>
              <a:rPr lang="en-US" sz="950" dirty="0">
                <a:solidFill>
                  <a:srgbClr val="5D7182"/>
                </a:solidFill>
              </a:rPr>
              <a:t>Reject transfer when funds are insufficient</a:t>
            </a:r>
            <a:endParaRPr lang="en-US" sz="950" dirty="0"/>
          </a:p>
        </p:txBody>
      </p:sp>
      <p:sp>
        <p:nvSpPr>
          <p:cNvPr id="45" name="Shape 43"/>
          <p:cNvSpPr/>
          <p:nvPr/>
        </p:nvSpPr>
        <p:spPr>
          <a:xfrm>
            <a:off x="7635240" y="3127248"/>
            <a:ext cx="329184" cy="329184"/>
          </a:xfrm>
          <a:prstGeom prst="ellipse">
            <a:avLst/>
          </a:prstGeom>
          <a:solidFill>
            <a:srgbClr val="2F80ED"/>
          </a:solidFill>
          <a:ln w="12700">
            <a:solidFill>
              <a:srgbClr val="2F80ED"/>
            </a:solidFill>
            <a:prstDash val="solid"/>
          </a:ln>
        </p:spPr>
      </p:sp>
      <p:sp>
        <p:nvSpPr>
          <p:cNvPr id="46" name="Text 44"/>
          <p:cNvSpPr/>
          <p:nvPr/>
        </p:nvSpPr>
        <p:spPr>
          <a:xfrm>
            <a:off x="7635240" y="3136392"/>
            <a:ext cx="329184" cy="310896"/>
          </a:xfrm>
          <a:prstGeom prst="rect">
            <a:avLst/>
          </a:prstGeom>
          <a:noFill/>
          <a:ln/>
        </p:spPr>
        <p:txBody>
          <a:bodyPr wrap="square" lIns="0" tIns="0" rIns="0" bIns="0" rtlCol="0" anchor="ctr"/>
          <a:lstStyle/>
          <a:p>
            <a:pPr algn="ctr" indent="0" marL="0">
              <a:buNone/>
            </a:pPr>
            <a:r>
              <a:rPr lang="en-US" sz="1800" b="1" dirty="0">
                <a:solidFill>
                  <a:srgbClr val="FFFFFF"/>
                </a:solidFill>
              </a:rPr>
              <a:t>✓</a:t>
            </a:r>
            <a:endParaRPr lang="en-US" sz="1800" dirty="0"/>
          </a:p>
        </p:txBody>
      </p:sp>
      <p:sp>
        <p:nvSpPr>
          <p:cNvPr id="47" name="Text 45"/>
          <p:cNvSpPr/>
          <p:nvPr/>
        </p:nvSpPr>
        <p:spPr>
          <a:xfrm>
            <a:off x="8119872" y="3118104"/>
            <a:ext cx="914400" cy="201168"/>
          </a:xfrm>
          <a:prstGeom prst="rect">
            <a:avLst/>
          </a:prstGeom>
          <a:noFill/>
          <a:ln/>
        </p:spPr>
        <p:txBody>
          <a:bodyPr wrap="square" lIns="0" tIns="0" rIns="0" bIns="0" rtlCol="0" anchor="ctr"/>
          <a:lstStyle/>
          <a:p>
            <a:pPr indent="0" marL="0">
              <a:buNone/>
            </a:pPr>
            <a:r>
              <a:rPr lang="en-US" sz="1180" b="1" dirty="0">
                <a:solidFill>
                  <a:srgbClr val="12344D"/>
                </a:solidFill>
              </a:rPr>
              <a:t>Validation</a:t>
            </a:r>
            <a:endParaRPr lang="en-US" sz="1180" dirty="0"/>
          </a:p>
        </p:txBody>
      </p:sp>
      <p:sp>
        <p:nvSpPr>
          <p:cNvPr id="48" name="Text 46"/>
          <p:cNvSpPr/>
          <p:nvPr/>
        </p:nvSpPr>
        <p:spPr>
          <a:xfrm>
            <a:off x="8979408" y="3127248"/>
            <a:ext cx="2286000" cy="310896"/>
          </a:xfrm>
          <a:prstGeom prst="rect">
            <a:avLst/>
          </a:prstGeom>
          <a:noFill/>
          <a:ln/>
        </p:spPr>
        <p:txBody>
          <a:bodyPr wrap="square" lIns="0" tIns="0" rIns="0" bIns="0" rtlCol="0" anchor="ctr">
            <a:normAutofit/>
          </a:bodyPr>
          <a:lstStyle/>
          <a:p>
            <a:pPr indent="0" marL="0">
              <a:buNone/>
            </a:pPr>
            <a:r>
              <a:rPr lang="en-US" sz="950" dirty="0">
                <a:solidFill>
                  <a:srgbClr val="5D7182"/>
                </a:solidFill>
              </a:rPr>
              <a:t>Jakarta Bean Validation on DTOs</a:t>
            </a:r>
            <a:endParaRPr lang="en-US" sz="950" dirty="0"/>
          </a:p>
        </p:txBody>
      </p:sp>
      <p:sp>
        <p:nvSpPr>
          <p:cNvPr id="49" name="Shape 47"/>
          <p:cNvSpPr/>
          <p:nvPr/>
        </p:nvSpPr>
        <p:spPr>
          <a:xfrm>
            <a:off x="7635240" y="3730752"/>
            <a:ext cx="329184" cy="329184"/>
          </a:xfrm>
          <a:prstGeom prst="ellipse">
            <a:avLst/>
          </a:prstGeom>
          <a:solidFill>
            <a:srgbClr val="7C3AED"/>
          </a:solidFill>
          <a:ln w="12700">
            <a:solidFill>
              <a:srgbClr val="7C3AED"/>
            </a:solidFill>
            <a:prstDash val="solid"/>
          </a:ln>
        </p:spPr>
      </p:sp>
      <p:sp>
        <p:nvSpPr>
          <p:cNvPr id="50" name="Text 48"/>
          <p:cNvSpPr/>
          <p:nvPr/>
        </p:nvSpPr>
        <p:spPr>
          <a:xfrm>
            <a:off x="7635240" y="3739896"/>
            <a:ext cx="329184" cy="310896"/>
          </a:xfrm>
          <a:prstGeom prst="rect">
            <a:avLst/>
          </a:prstGeom>
          <a:noFill/>
          <a:ln/>
        </p:spPr>
        <p:txBody>
          <a:bodyPr wrap="square" lIns="0" tIns="0" rIns="0" bIns="0" rtlCol="0" anchor="ctr"/>
          <a:lstStyle/>
          <a:p>
            <a:pPr algn="ctr" indent="0" marL="0">
              <a:buNone/>
            </a:pPr>
            <a:r>
              <a:rPr lang="en-US" sz="1800" b="1" dirty="0">
                <a:solidFill>
                  <a:srgbClr val="FFFFFF"/>
                </a:solidFill>
              </a:rPr>
              <a:t>✓</a:t>
            </a:r>
            <a:endParaRPr lang="en-US" sz="1800" dirty="0"/>
          </a:p>
        </p:txBody>
      </p:sp>
      <p:sp>
        <p:nvSpPr>
          <p:cNvPr id="51" name="Text 49"/>
          <p:cNvSpPr/>
          <p:nvPr/>
        </p:nvSpPr>
        <p:spPr>
          <a:xfrm>
            <a:off x="8119872" y="3721608"/>
            <a:ext cx="914400" cy="201168"/>
          </a:xfrm>
          <a:prstGeom prst="rect">
            <a:avLst/>
          </a:prstGeom>
          <a:noFill/>
          <a:ln/>
        </p:spPr>
        <p:txBody>
          <a:bodyPr wrap="square" lIns="0" tIns="0" rIns="0" bIns="0" rtlCol="0" anchor="ctr"/>
          <a:lstStyle/>
          <a:p>
            <a:pPr indent="0" marL="0">
              <a:buNone/>
            </a:pPr>
            <a:r>
              <a:rPr lang="en-US" sz="1180" b="1" dirty="0">
                <a:solidFill>
                  <a:srgbClr val="12344D"/>
                </a:solidFill>
              </a:rPr>
              <a:t>Atomicity</a:t>
            </a:r>
            <a:endParaRPr lang="en-US" sz="1180" dirty="0"/>
          </a:p>
        </p:txBody>
      </p:sp>
      <p:sp>
        <p:nvSpPr>
          <p:cNvPr id="52" name="Text 50"/>
          <p:cNvSpPr/>
          <p:nvPr/>
        </p:nvSpPr>
        <p:spPr>
          <a:xfrm>
            <a:off x="8979408" y="3730752"/>
            <a:ext cx="2286000" cy="310896"/>
          </a:xfrm>
          <a:prstGeom prst="rect">
            <a:avLst/>
          </a:prstGeom>
          <a:noFill/>
          <a:ln/>
        </p:spPr>
        <p:txBody>
          <a:bodyPr wrap="square" lIns="0" tIns="0" rIns="0" bIns="0" rtlCol="0" anchor="ctr">
            <a:normAutofit/>
          </a:bodyPr>
          <a:lstStyle/>
          <a:p>
            <a:pPr indent="0" marL="0">
              <a:buNone/>
            </a:pPr>
            <a:r>
              <a:rPr lang="en-US" sz="950" dirty="0">
                <a:solidFill>
                  <a:srgbClr val="5D7182"/>
                </a:solidFill>
              </a:rPr>
              <a:t>Financial state changes processed atomically</a:t>
            </a:r>
            <a:endParaRPr lang="en-US" sz="950" dirty="0"/>
          </a:p>
        </p:txBody>
      </p:sp>
      <p:sp>
        <p:nvSpPr>
          <p:cNvPr id="53" name="Shape 51"/>
          <p:cNvSpPr/>
          <p:nvPr/>
        </p:nvSpPr>
        <p:spPr>
          <a:xfrm>
            <a:off x="7635240" y="4334256"/>
            <a:ext cx="329184" cy="329184"/>
          </a:xfrm>
          <a:prstGeom prst="ellipse">
            <a:avLst/>
          </a:prstGeom>
          <a:solidFill>
            <a:srgbClr val="00B8D9"/>
          </a:solidFill>
          <a:ln w="12700">
            <a:solidFill>
              <a:srgbClr val="00B8D9"/>
            </a:solidFill>
            <a:prstDash val="solid"/>
          </a:ln>
        </p:spPr>
      </p:sp>
      <p:sp>
        <p:nvSpPr>
          <p:cNvPr id="54" name="Text 52"/>
          <p:cNvSpPr/>
          <p:nvPr/>
        </p:nvSpPr>
        <p:spPr>
          <a:xfrm>
            <a:off x="7635240" y="4343400"/>
            <a:ext cx="329184" cy="310896"/>
          </a:xfrm>
          <a:prstGeom prst="rect">
            <a:avLst/>
          </a:prstGeom>
          <a:noFill/>
          <a:ln/>
        </p:spPr>
        <p:txBody>
          <a:bodyPr wrap="square" lIns="0" tIns="0" rIns="0" bIns="0" rtlCol="0" anchor="ctr"/>
          <a:lstStyle/>
          <a:p>
            <a:pPr algn="ctr" indent="0" marL="0">
              <a:buNone/>
            </a:pPr>
            <a:r>
              <a:rPr lang="en-US" sz="1800" b="1" dirty="0">
                <a:solidFill>
                  <a:srgbClr val="FFFFFF"/>
                </a:solidFill>
              </a:rPr>
              <a:t>✓</a:t>
            </a:r>
            <a:endParaRPr lang="en-US" sz="1800" dirty="0"/>
          </a:p>
        </p:txBody>
      </p:sp>
      <p:sp>
        <p:nvSpPr>
          <p:cNvPr id="55" name="Text 53"/>
          <p:cNvSpPr/>
          <p:nvPr/>
        </p:nvSpPr>
        <p:spPr>
          <a:xfrm>
            <a:off x="8119872" y="4325112"/>
            <a:ext cx="914400" cy="201168"/>
          </a:xfrm>
          <a:prstGeom prst="rect">
            <a:avLst/>
          </a:prstGeom>
          <a:noFill/>
          <a:ln/>
        </p:spPr>
        <p:txBody>
          <a:bodyPr wrap="square" lIns="0" tIns="0" rIns="0" bIns="0" rtlCol="0" anchor="ctr"/>
          <a:lstStyle/>
          <a:p>
            <a:pPr indent="0" marL="0">
              <a:buNone/>
            </a:pPr>
            <a:r>
              <a:rPr lang="en-US" sz="1180" b="1" dirty="0">
                <a:solidFill>
                  <a:srgbClr val="12344D"/>
                </a:solidFill>
              </a:rPr>
              <a:t>CORS</a:t>
            </a:r>
            <a:endParaRPr lang="en-US" sz="1180" dirty="0"/>
          </a:p>
        </p:txBody>
      </p:sp>
      <p:sp>
        <p:nvSpPr>
          <p:cNvPr id="56" name="Text 54"/>
          <p:cNvSpPr/>
          <p:nvPr/>
        </p:nvSpPr>
        <p:spPr>
          <a:xfrm>
            <a:off x="8979408" y="4334256"/>
            <a:ext cx="2286000" cy="310896"/>
          </a:xfrm>
          <a:prstGeom prst="rect">
            <a:avLst/>
          </a:prstGeom>
          <a:noFill/>
          <a:ln/>
        </p:spPr>
        <p:txBody>
          <a:bodyPr wrap="square" lIns="0" tIns="0" rIns="0" bIns="0" rtlCol="0" anchor="ctr">
            <a:normAutofit/>
          </a:bodyPr>
          <a:lstStyle/>
          <a:p>
            <a:pPr indent="0" marL="0">
              <a:buNone/>
            </a:pPr>
            <a:r>
              <a:rPr lang="en-US" sz="950" dirty="0">
                <a:solidFill>
                  <a:srgbClr val="5D7182"/>
                </a:solidFill>
              </a:rPr>
              <a:t>Local Angular origin is explicitly configured</a:t>
            </a:r>
            <a:endParaRPr lang="en-US" sz="950" dirty="0"/>
          </a:p>
        </p:txBody>
      </p:sp>
      <p:sp>
        <p:nvSpPr>
          <p:cNvPr id="57" name="Shape 55"/>
          <p:cNvSpPr/>
          <p:nvPr/>
        </p:nvSpPr>
        <p:spPr>
          <a:xfrm>
            <a:off x="7635240" y="4937760"/>
            <a:ext cx="329184" cy="329184"/>
          </a:xfrm>
          <a:prstGeom prst="ellipse">
            <a:avLst/>
          </a:prstGeom>
          <a:solidFill>
            <a:srgbClr val="DC2626"/>
          </a:solidFill>
          <a:ln w="12700">
            <a:solidFill>
              <a:srgbClr val="DC2626"/>
            </a:solidFill>
            <a:prstDash val="solid"/>
          </a:ln>
        </p:spPr>
      </p:sp>
      <p:sp>
        <p:nvSpPr>
          <p:cNvPr id="58" name="Text 56"/>
          <p:cNvSpPr/>
          <p:nvPr/>
        </p:nvSpPr>
        <p:spPr>
          <a:xfrm>
            <a:off x="7635240" y="4946904"/>
            <a:ext cx="329184" cy="310896"/>
          </a:xfrm>
          <a:prstGeom prst="rect">
            <a:avLst/>
          </a:prstGeom>
          <a:noFill/>
          <a:ln/>
        </p:spPr>
        <p:txBody>
          <a:bodyPr wrap="square" lIns="0" tIns="0" rIns="0" bIns="0" rtlCol="0" anchor="ctr"/>
          <a:lstStyle/>
          <a:p>
            <a:pPr algn="ctr" indent="0" marL="0">
              <a:buNone/>
            </a:pPr>
            <a:r>
              <a:rPr lang="en-US" sz="1800" b="1" dirty="0">
                <a:solidFill>
                  <a:srgbClr val="FFFFFF"/>
                </a:solidFill>
              </a:rPr>
              <a:t>✓</a:t>
            </a:r>
            <a:endParaRPr lang="en-US" sz="1800" dirty="0"/>
          </a:p>
        </p:txBody>
      </p:sp>
      <p:sp>
        <p:nvSpPr>
          <p:cNvPr id="59" name="Text 57"/>
          <p:cNvSpPr/>
          <p:nvPr/>
        </p:nvSpPr>
        <p:spPr>
          <a:xfrm>
            <a:off x="8119872" y="4928616"/>
            <a:ext cx="914400" cy="201168"/>
          </a:xfrm>
          <a:prstGeom prst="rect">
            <a:avLst/>
          </a:prstGeom>
          <a:noFill/>
          <a:ln/>
        </p:spPr>
        <p:txBody>
          <a:bodyPr wrap="square" lIns="0" tIns="0" rIns="0" bIns="0" rtlCol="0" anchor="ctr"/>
          <a:lstStyle/>
          <a:p>
            <a:pPr indent="0" marL="0">
              <a:buNone/>
            </a:pPr>
            <a:r>
              <a:rPr lang="en-US" sz="1180" b="1" dirty="0">
                <a:solidFill>
                  <a:srgbClr val="12344D"/>
                </a:solidFill>
              </a:rPr>
              <a:t>Errors</a:t>
            </a:r>
            <a:endParaRPr lang="en-US" sz="1180" dirty="0"/>
          </a:p>
        </p:txBody>
      </p:sp>
      <p:sp>
        <p:nvSpPr>
          <p:cNvPr id="60" name="Text 58"/>
          <p:cNvSpPr/>
          <p:nvPr/>
        </p:nvSpPr>
        <p:spPr>
          <a:xfrm>
            <a:off x="8979408" y="4937760"/>
            <a:ext cx="2286000" cy="310896"/>
          </a:xfrm>
          <a:prstGeom prst="rect">
            <a:avLst/>
          </a:prstGeom>
          <a:noFill/>
          <a:ln/>
        </p:spPr>
        <p:txBody>
          <a:bodyPr wrap="square" lIns="0" tIns="0" rIns="0" bIns="0" rtlCol="0" anchor="ctr">
            <a:normAutofit/>
          </a:bodyPr>
          <a:lstStyle/>
          <a:p>
            <a:pPr indent="0" marL="0">
              <a:buNone/>
            </a:pPr>
            <a:r>
              <a:rPr lang="en-US" sz="950" dirty="0">
                <a:solidFill>
                  <a:srgbClr val="5D7182"/>
                </a:solidFill>
              </a:rPr>
              <a:t>Meaningful HTTP status + structured errors</a:t>
            </a:r>
            <a:endParaRPr lang="en-US" sz="950" dirty="0"/>
          </a:p>
        </p:txBody>
      </p:sp>
      <p:sp>
        <p:nvSpPr>
          <p:cNvPr id="61" name="Text 59"/>
          <p:cNvSpPr/>
          <p:nvPr/>
        </p:nvSpPr>
        <p:spPr>
          <a:xfrm>
            <a:off x="9372600" y="6144768"/>
            <a:ext cx="2240280" cy="164592"/>
          </a:xfrm>
          <a:prstGeom prst="rect">
            <a:avLst/>
          </a:prstGeom>
          <a:noFill/>
          <a:ln/>
        </p:spPr>
        <p:txBody>
          <a:bodyPr wrap="square" lIns="0" tIns="0" rIns="0" bIns="0" rtlCol="0" anchor="ctr"/>
          <a:lstStyle/>
          <a:p>
            <a:pPr algn="r" indent="0" marL="0">
              <a:buNone/>
            </a:pPr>
            <a:r>
              <a:rPr lang="en-US" sz="720" i="1" dirty="0">
                <a:solidFill>
                  <a:srgbClr val="8797A5"/>
                </a:solidFill>
              </a:rPr>
              <a:t>Source: Uploaded SRS, §4.1–4.3</a:t>
            </a:r>
            <a:endParaRPr lang="en-US" sz="720" dirty="0"/>
          </a:p>
        </p:txBody>
      </p:sp>
      <p:sp>
        <p:nvSpPr>
          <p:cNvPr id="25" name="Slide Number Placeholder 0"/>
          <p:cNvSpPr>
            <a:spLocks noGrp="1"/>
          </p:cNvSpPr>
          <p:nvPr>
            <p:ph type="sldNum" sz="quarter" idx="4294967295"/>
          </p:nvPr>
        </p:nvSpPr>
        <p:spPr>
          <a:xfrm>
            <a:off x="11631168" y="647395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B7C8C"/>
                </a:solidFill>
                <a:latin typeface="Aptos"/>
                <a:ea typeface="Aptos"/>
                <a:cs typeface="Aptos"/>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84048"/>
            <a:ext cx="8138160" cy="384048"/>
          </a:xfrm>
          <a:prstGeom prst="rect">
            <a:avLst/>
          </a:prstGeom>
          <a:noFill/>
          <a:ln/>
        </p:spPr>
        <p:txBody>
          <a:bodyPr wrap="square" lIns="0" tIns="0" rIns="0" bIns="0" rtlCol="0" anchor="ctr"/>
          <a:lstStyle/>
          <a:p>
            <a:pPr indent="0" marL="0">
              <a:buNone/>
            </a:pPr>
            <a:r>
              <a:rPr lang="en-US" sz="2500" b="1" dirty="0">
                <a:solidFill>
                  <a:srgbClr val="12344D"/>
                </a:solidFill>
                <a:latin typeface="Aptos Display" pitchFamily="34" charset="0"/>
                <a:ea typeface="Aptos Display" pitchFamily="34" charset="-122"/>
                <a:cs typeface="Aptos Display" pitchFamily="34" charset="-120"/>
              </a:rPr>
              <a:t>Database Design &amp; ER Model</a:t>
            </a:r>
            <a:endParaRPr lang="en-US" sz="2500" dirty="0"/>
          </a:p>
        </p:txBody>
      </p:sp>
      <p:sp>
        <p:nvSpPr>
          <p:cNvPr id="3" name="Text 1"/>
          <p:cNvSpPr/>
          <p:nvPr/>
        </p:nvSpPr>
        <p:spPr>
          <a:xfrm>
            <a:off x="585216" y="786384"/>
            <a:ext cx="10789920" cy="292608"/>
          </a:xfrm>
          <a:prstGeom prst="rect">
            <a:avLst/>
          </a:prstGeom>
          <a:noFill/>
          <a:ln/>
        </p:spPr>
        <p:txBody>
          <a:bodyPr wrap="square" lIns="0" tIns="0" rIns="0" bIns="0" rtlCol="0" anchor="ctr"/>
          <a:lstStyle/>
          <a:p>
            <a:pPr indent="0" marL="0">
              <a:buNone/>
            </a:pPr>
            <a:r>
              <a:rPr lang="en-US" sz="1050" dirty="0">
                <a:solidFill>
                  <a:srgbClr val="5D7182"/>
                </a:solidFill>
              </a:rPr>
              <a:t>Core entities and relationships are based on the supplied JPA implementation.</a:t>
            </a:r>
            <a:endParaRPr lang="en-US" sz="1050" dirty="0"/>
          </a:p>
        </p:txBody>
      </p:sp>
      <p:sp>
        <p:nvSpPr>
          <p:cNvPr id="4" name="Shape 2"/>
          <p:cNvSpPr/>
          <p:nvPr/>
        </p:nvSpPr>
        <p:spPr>
          <a:xfrm>
            <a:off x="594360" y="1234440"/>
            <a:ext cx="2743200" cy="4846320"/>
          </a:xfrm>
          <a:prstGeom prst="roundRect">
            <a:avLst>
              <a:gd name="adj" fmla="val 2667"/>
            </a:avLst>
          </a:prstGeom>
          <a:solidFill>
            <a:srgbClr val="FFFFFF"/>
          </a:solidFill>
          <a:ln w="11430">
            <a:solidFill>
              <a:srgbClr val="D7E2EB"/>
            </a:solidFill>
            <a:prstDash val="solid"/>
          </a:ln>
          <a:effectLst>
            <a:outerShdw sx="100000" sy="100000" kx="0" ky="0" algn="bl" rotWithShape="0" blurRad="12700" dist="50800" dir="2700000">
              <a:srgbClr val="B7C6D1">
                <a:alpha val="11000"/>
              </a:srgbClr>
            </a:outerShdw>
          </a:effectLst>
        </p:spPr>
      </p:sp>
      <p:sp>
        <p:nvSpPr>
          <p:cNvPr id="5" name="Text 3"/>
          <p:cNvSpPr/>
          <p:nvPr/>
        </p:nvSpPr>
        <p:spPr>
          <a:xfrm>
            <a:off x="868680" y="1481328"/>
            <a:ext cx="2194560" cy="201168"/>
          </a:xfrm>
          <a:prstGeom prst="rect">
            <a:avLst/>
          </a:prstGeom>
          <a:noFill/>
          <a:ln/>
        </p:spPr>
        <p:txBody>
          <a:bodyPr wrap="square" lIns="0" tIns="0" rIns="0" bIns="0" rtlCol="0" anchor="ctr"/>
          <a:lstStyle/>
          <a:p>
            <a:pPr indent="0" marL="0">
              <a:buNone/>
            </a:pPr>
            <a:r>
              <a:rPr lang="en-US" sz="850" b="1" spc="110" kern="0" dirty="0">
                <a:solidFill>
                  <a:srgbClr val="2F80ED"/>
                </a:solidFill>
              </a:rPr>
              <a:t>CORE ENTITIES</a:t>
            </a:r>
            <a:endParaRPr lang="en-US" sz="850" dirty="0"/>
          </a:p>
        </p:txBody>
      </p:sp>
      <p:sp>
        <p:nvSpPr>
          <p:cNvPr id="6" name="Shape 4"/>
          <p:cNvSpPr/>
          <p:nvPr/>
        </p:nvSpPr>
        <p:spPr>
          <a:xfrm>
            <a:off x="868680" y="1874520"/>
            <a:ext cx="2148840" cy="640080"/>
          </a:xfrm>
          <a:prstGeom prst="roundRect">
            <a:avLst>
              <a:gd name="adj" fmla="val 8571"/>
            </a:avLst>
          </a:prstGeom>
          <a:solidFill>
            <a:srgbClr val="EAF3FF"/>
          </a:solidFill>
          <a:ln w="10160">
            <a:solidFill>
              <a:srgbClr val="2F80ED"/>
            </a:solidFill>
            <a:prstDash val="solid"/>
          </a:ln>
        </p:spPr>
      </p:sp>
      <p:sp>
        <p:nvSpPr>
          <p:cNvPr id="7" name="Text 5"/>
          <p:cNvSpPr/>
          <p:nvPr/>
        </p:nvSpPr>
        <p:spPr>
          <a:xfrm>
            <a:off x="1024128" y="1965960"/>
            <a:ext cx="777240" cy="182880"/>
          </a:xfrm>
          <a:prstGeom prst="rect">
            <a:avLst/>
          </a:prstGeom>
          <a:noFill/>
          <a:ln/>
        </p:spPr>
        <p:txBody>
          <a:bodyPr wrap="square" lIns="0" tIns="0" rIns="0" bIns="0" rtlCol="0" anchor="ctr"/>
          <a:lstStyle/>
          <a:p>
            <a:pPr indent="0" marL="0">
              <a:buNone/>
            </a:pPr>
            <a:r>
              <a:rPr lang="en-US" sz="1050" b="1" dirty="0">
                <a:solidFill>
                  <a:srgbClr val="12344D"/>
                </a:solidFill>
              </a:rPr>
              <a:t>Identity</a:t>
            </a:r>
            <a:endParaRPr lang="en-US" sz="1050" dirty="0"/>
          </a:p>
        </p:txBody>
      </p:sp>
      <p:sp>
        <p:nvSpPr>
          <p:cNvPr id="8" name="Text 6"/>
          <p:cNvSpPr/>
          <p:nvPr/>
        </p:nvSpPr>
        <p:spPr>
          <a:xfrm>
            <a:off x="1024128" y="2185416"/>
            <a:ext cx="1783080" cy="210312"/>
          </a:xfrm>
          <a:prstGeom prst="rect">
            <a:avLst/>
          </a:prstGeom>
          <a:noFill/>
          <a:ln/>
        </p:spPr>
        <p:txBody>
          <a:bodyPr wrap="square" lIns="0" tIns="0" rIns="0" bIns="0" rtlCol="0" anchor="ctr">
            <a:normAutofit/>
          </a:bodyPr>
          <a:lstStyle/>
          <a:p>
            <a:pPr indent="0" marL="0">
              <a:buNone/>
            </a:pPr>
            <a:r>
              <a:rPr lang="en-US" sz="940" dirty="0">
                <a:solidFill>
                  <a:srgbClr val="5D7182"/>
                </a:solidFill>
              </a:rPr>
              <a:t>User • Role</a:t>
            </a:r>
            <a:endParaRPr lang="en-US" sz="940" dirty="0"/>
          </a:p>
        </p:txBody>
      </p:sp>
      <p:sp>
        <p:nvSpPr>
          <p:cNvPr id="9" name="Shape 7"/>
          <p:cNvSpPr/>
          <p:nvPr/>
        </p:nvSpPr>
        <p:spPr>
          <a:xfrm>
            <a:off x="868680" y="2697480"/>
            <a:ext cx="2148840" cy="640080"/>
          </a:xfrm>
          <a:prstGeom prst="roundRect">
            <a:avLst>
              <a:gd name="adj" fmla="val 8571"/>
            </a:avLst>
          </a:prstGeom>
          <a:solidFill>
            <a:srgbClr val="EAF8F0"/>
          </a:solidFill>
          <a:ln w="10160">
            <a:solidFill>
              <a:srgbClr val="16A34A"/>
            </a:solidFill>
            <a:prstDash val="solid"/>
          </a:ln>
        </p:spPr>
      </p:sp>
      <p:sp>
        <p:nvSpPr>
          <p:cNvPr id="10" name="Text 8"/>
          <p:cNvSpPr/>
          <p:nvPr/>
        </p:nvSpPr>
        <p:spPr>
          <a:xfrm>
            <a:off x="1024128" y="2788920"/>
            <a:ext cx="777240" cy="182880"/>
          </a:xfrm>
          <a:prstGeom prst="rect">
            <a:avLst/>
          </a:prstGeom>
          <a:noFill/>
          <a:ln/>
        </p:spPr>
        <p:txBody>
          <a:bodyPr wrap="square" lIns="0" tIns="0" rIns="0" bIns="0" rtlCol="0" anchor="ctr"/>
          <a:lstStyle/>
          <a:p>
            <a:pPr indent="0" marL="0">
              <a:buNone/>
            </a:pPr>
            <a:r>
              <a:rPr lang="en-US" sz="1050" b="1" dirty="0">
                <a:solidFill>
                  <a:srgbClr val="12344D"/>
                </a:solidFill>
              </a:rPr>
              <a:t>Banking</a:t>
            </a:r>
            <a:endParaRPr lang="en-US" sz="1050" dirty="0"/>
          </a:p>
        </p:txBody>
      </p:sp>
      <p:sp>
        <p:nvSpPr>
          <p:cNvPr id="11" name="Text 9"/>
          <p:cNvSpPr/>
          <p:nvPr/>
        </p:nvSpPr>
        <p:spPr>
          <a:xfrm>
            <a:off x="1024128" y="3008376"/>
            <a:ext cx="1783080" cy="210312"/>
          </a:xfrm>
          <a:prstGeom prst="rect">
            <a:avLst/>
          </a:prstGeom>
          <a:noFill/>
          <a:ln/>
        </p:spPr>
        <p:txBody>
          <a:bodyPr wrap="square" lIns="0" tIns="0" rIns="0" bIns="0" rtlCol="0" anchor="ctr">
            <a:normAutofit/>
          </a:bodyPr>
          <a:lstStyle/>
          <a:p>
            <a:pPr indent="0" marL="0">
              <a:buNone/>
            </a:pPr>
            <a:r>
              <a:rPr lang="en-US" sz="940" dirty="0">
                <a:solidFill>
                  <a:srgbClr val="5D7182"/>
                </a:solidFill>
              </a:rPr>
              <a:t>BankAccount • Beneficiary • FundTransfer</a:t>
            </a:r>
            <a:endParaRPr lang="en-US" sz="940" dirty="0"/>
          </a:p>
        </p:txBody>
      </p:sp>
      <p:sp>
        <p:nvSpPr>
          <p:cNvPr id="12" name="Shape 10"/>
          <p:cNvSpPr/>
          <p:nvPr/>
        </p:nvSpPr>
        <p:spPr>
          <a:xfrm>
            <a:off x="868680" y="3520440"/>
            <a:ext cx="2148840" cy="640080"/>
          </a:xfrm>
          <a:prstGeom prst="roundRect">
            <a:avLst>
              <a:gd name="adj" fmla="val 8571"/>
            </a:avLst>
          </a:prstGeom>
          <a:solidFill>
            <a:srgbClr val="FFF6E5"/>
          </a:solidFill>
          <a:ln w="10160">
            <a:solidFill>
              <a:srgbClr val="F59E0B"/>
            </a:solidFill>
            <a:prstDash val="solid"/>
          </a:ln>
        </p:spPr>
      </p:sp>
      <p:sp>
        <p:nvSpPr>
          <p:cNvPr id="13" name="Text 11"/>
          <p:cNvSpPr/>
          <p:nvPr/>
        </p:nvSpPr>
        <p:spPr>
          <a:xfrm>
            <a:off x="1024128" y="3611880"/>
            <a:ext cx="777240" cy="182880"/>
          </a:xfrm>
          <a:prstGeom prst="rect">
            <a:avLst/>
          </a:prstGeom>
          <a:noFill/>
          <a:ln/>
        </p:spPr>
        <p:txBody>
          <a:bodyPr wrap="square" lIns="0" tIns="0" rIns="0" bIns="0" rtlCol="0" anchor="ctr"/>
          <a:lstStyle/>
          <a:p>
            <a:pPr indent="0" marL="0">
              <a:buNone/>
            </a:pPr>
            <a:r>
              <a:rPr lang="en-US" sz="1050" b="1" dirty="0">
                <a:solidFill>
                  <a:srgbClr val="12344D"/>
                </a:solidFill>
              </a:rPr>
              <a:t>Services</a:t>
            </a:r>
            <a:endParaRPr lang="en-US" sz="1050" dirty="0"/>
          </a:p>
        </p:txBody>
      </p:sp>
      <p:sp>
        <p:nvSpPr>
          <p:cNvPr id="14" name="Text 12"/>
          <p:cNvSpPr/>
          <p:nvPr/>
        </p:nvSpPr>
        <p:spPr>
          <a:xfrm>
            <a:off x="1024128" y="3831336"/>
            <a:ext cx="1783080" cy="210312"/>
          </a:xfrm>
          <a:prstGeom prst="rect">
            <a:avLst/>
          </a:prstGeom>
          <a:noFill/>
          <a:ln/>
        </p:spPr>
        <p:txBody>
          <a:bodyPr wrap="square" lIns="0" tIns="0" rIns="0" bIns="0" rtlCol="0" anchor="ctr">
            <a:normAutofit/>
          </a:bodyPr>
          <a:lstStyle/>
          <a:p>
            <a:pPr indent="0" marL="0">
              <a:buNone/>
            </a:pPr>
            <a:r>
              <a:rPr lang="en-US" sz="940" dirty="0">
                <a:solidFill>
                  <a:srgbClr val="5D7182"/>
                </a:solidFill>
              </a:rPr>
              <a:t>BillPayment • LoanApplication</a:t>
            </a:r>
            <a:endParaRPr lang="en-US" sz="940" dirty="0"/>
          </a:p>
        </p:txBody>
      </p:sp>
      <p:sp>
        <p:nvSpPr>
          <p:cNvPr id="15" name="Shape 13"/>
          <p:cNvSpPr/>
          <p:nvPr/>
        </p:nvSpPr>
        <p:spPr>
          <a:xfrm>
            <a:off x="868680" y="4343400"/>
            <a:ext cx="2148840" cy="640080"/>
          </a:xfrm>
          <a:prstGeom prst="roundRect">
            <a:avLst>
              <a:gd name="adj" fmla="val 8571"/>
            </a:avLst>
          </a:prstGeom>
          <a:solidFill>
            <a:srgbClr val="F3EEFF"/>
          </a:solidFill>
          <a:ln w="10160">
            <a:solidFill>
              <a:srgbClr val="7C3AED"/>
            </a:solidFill>
            <a:prstDash val="solid"/>
          </a:ln>
        </p:spPr>
      </p:sp>
      <p:sp>
        <p:nvSpPr>
          <p:cNvPr id="16" name="Text 14"/>
          <p:cNvSpPr/>
          <p:nvPr/>
        </p:nvSpPr>
        <p:spPr>
          <a:xfrm>
            <a:off x="1024128" y="4434840"/>
            <a:ext cx="777240" cy="182880"/>
          </a:xfrm>
          <a:prstGeom prst="rect">
            <a:avLst/>
          </a:prstGeom>
          <a:noFill/>
          <a:ln/>
        </p:spPr>
        <p:txBody>
          <a:bodyPr wrap="square" lIns="0" tIns="0" rIns="0" bIns="0" rtlCol="0" anchor="ctr"/>
          <a:lstStyle/>
          <a:p>
            <a:pPr indent="0" marL="0">
              <a:buNone/>
            </a:pPr>
            <a:r>
              <a:rPr lang="en-US" sz="1050" b="1" dirty="0">
                <a:solidFill>
                  <a:srgbClr val="12344D"/>
                </a:solidFill>
              </a:rPr>
              <a:t>Wealth</a:t>
            </a:r>
            <a:endParaRPr lang="en-US" sz="1050" dirty="0"/>
          </a:p>
        </p:txBody>
      </p:sp>
      <p:sp>
        <p:nvSpPr>
          <p:cNvPr id="17" name="Text 15"/>
          <p:cNvSpPr/>
          <p:nvPr/>
        </p:nvSpPr>
        <p:spPr>
          <a:xfrm>
            <a:off x="1024128" y="4654296"/>
            <a:ext cx="1783080" cy="210312"/>
          </a:xfrm>
          <a:prstGeom prst="rect">
            <a:avLst/>
          </a:prstGeom>
          <a:noFill/>
          <a:ln/>
        </p:spPr>
        <p:txBody>
          <a:bodyPr wrap="square" lIns="0" tIns="0" rIns="0" bIns="0" rtlCol="0" anchor="ctr">
            <a:normAutofit/>
          </a:bodyPr>
          <a:lstStyle/>
          <a:p>
            <a:pPr indent="0" marL="0">
              <a:buNone/>
            </a:pPr>
            <a:r>
              <a:rPr lang="en-US" sz="940" dirty="0">
                <a:solidFill>
                  <a:srgbClr val="5D7182"/>
                </a:solidFill>
              </a:rPr>
              <a:t>Investment • InvestmentProduct</a:t>
            </a:r>
            <a:endParaRPr lang="en-US" sz="940" dirty="0"/>
          </a:p>
        </p:txBody>
      </p:sp>
      <p:sp>
        <p:nvSpPr>
          <p:cNvPr id="18" name="Shape 16"/>
          <p:cNvSpPr/>
          <p:nvPr/>
        </p:nvSpPr>
        <p:spPr>
          <a:xfrm>
            <a:off x="868680" y="5166360"/>
            <a:ext cx="2148840" cy="640080"/>
          </a:xfrm>
          <a:prstGeom prst="roundRect">
            <a:avLst>
              <a:gd name="adj" fmla="val 8571"/>
            </a:avLst>
          </a:prstGeom>
          <a:solidFill>
            <a:srgbClr val="E9FBFF"/>
          </a:solidFill>
          <a:ln w="10160">
            <a:solidFill>
              <a:srgbClr val="00B8D9"/>
            </a:solidFill>
            <a:prstDash val="solid"/>
          </a:ln>
        </p:spPr>
      </p:sp>
      <p:sp>
        <p:nvSpPr>
          <p:cNvPr id="19" name="Text 17"/>
          <p:cNvSpPr/>
          <p:nvPr/>
        </p:nvSpPr>
        <p:spPr>
          <a:xfrm>
            <a:off x="1024128" y="5257800"/>
            <a:ext cx="777240" cy="182880"/>
          </a:xfrm>
          <a:prstGeom prst="rect">
            <a:avLst/>
          </a:prstGeom>
          <a:noFill/>
          <a:ln/>
        </p:spPr>
        <p:txBody>
          <a:bodyPr wrap="square" lIns="0" tIns="0" rIns="0" bIns="0" rtlCol="0" anchor="ctr"/>
          <a:lstStyle/>
          <a:p>
            <a:pPr indent="0" marL="0">
              <a:buNone/>
            </a:pPr>
            <a:r>
              <a:rPr lang="en-US" sz="1050" b="1" dirty="0">
                <a:solidFill>
                  <a:srgbClr val="12344D"/>
                </a:solidFill>
              </a:rPr>
              <a:t>Audit</a:t>
            </a:r>
            <a:endParaRPr lang="en-US" sz="1050" dirty="0"/>
          </a:p>
        </p:txBody>
      </p:sp>
      <p:sp>
        <p:nvSpPr>
          <p:cNvPr id="20" name="Text 18"/>
          <p:cNvSpPr/>
          <p:nvPr/>
        </p:nvSpPr>
        <p:spPr>
          <a:xfrm>
            <a:off x="1024128" y="5477256"/>
            <a:ext cx="1783080" cy="210312"/>
          </a:xfrm>
          <a:prstGeom prst="rect">
            <a:avLst/>
          </a:prstGeom>
          <a:noFill/>
          <a:ln/>
        </p:spPr>
        <p:txBody>
          <a:bodyPr wrap="square" lIns="0" tIns="0" rIns="0" bIns="0" rtlCol="0" anchor="ctr">
            <a:normAutofit/>
          </a:bodyPr>
          <a:lstStyle/>
          <a:p>
            <a:pPr indent="0" marL="0">
              <a:buNone/>
            </a:pPr>
            <a:r>
              <a:rPr lang="en-US" sz="940" dirty="0">
                <a:solidFill>
                  <a:srgbClr val="5D7182"/>
                </a:solidFill>
              </a:rPr>
              <a:t>AuditLog</a:t>
            </a:r>
            <a:endParaRPr lang="en-US" sz="940" dirty="0"/>
          </a:p>
        </p:txBody>
      </p:sp>
      <p:sp>
        <p:nvSpPr>
          <p:cNvPr id="21" name="Shape 19"/>
          <p:cNvSpPr/>
          <p:nvPr/>
        </p:nvSpPr>
        <p:spPr>
          <a:xfrm>
            <a:off x="3566160" y="1234440"/>
            <a:ext cx="8001000" cy="4846320"/>
          </a:xfrm>
          <a:prstGeom prst="roundRect">
            <a:avLst>
              <a:gd name="adj" fmla="val 1509"/>
            </a:avLst>
          </a:prstGeom>
          <a:solidFill>
            <a:srgbClr val="FFFFFF"/>
          </a:solidFill>
          <a:ln w="11430">
            <a:solidFill>
              <a:srgbClr val="D7E2EB"/>
            </a:solidFill>
            <a:prstDash val="solid"/>
          </a:ln>
        </p:spPr>
      </p:sp>
      <p:pic>
        <p:nvPicPr>
          <p:cNvPr id="22" name="Image 0" descr="/mnt/data/bankease_page_7.png">    </p:cNvPr>
          <p:cNvPicPr>
            <a:picLocks noChangeAspect="1"/>
          </p:cNvPicPr>
          <p:nvPr/>
        </p:nvPicPr>
        <p:blipFill>
          <a:blip r:embed="rId1"/>
          <a:stretch>
            <a:fillRect/>
          </a:stretch>
        </p:blipFill>
        <p:spPr>
          <a:xfrm>
            <a:off x="3794760" y="1508760"/>
            <a:ext cx="7543800" cy="4315968"/>
          </a:xfrm>
          <a:prstGeom prst="rect">
            <a:avLst/>
          </a:prstGeom>
        </p:spPr>
      </p:pic>
      <p:sp>
        <p:nvSpPr>
          <p:cNvPr id="23" name="Shape 20"/>
          <p:cNvSpPr/>
          <p:nvPr/>
        </p:nvSpPr>
        <p:spPr>
          <a:xfrm>
            <a:off x="3685032" y="1371600"/>
            <a:ext cx="7726680" cy="2880360"/>
          </a:xfrm>
          <a:prstGeom prst="rect">
            <a:avLst/>
          </a:prstGeom>
          <a:solidFill>
            <a:srgbClr val="FFFFFF"/>
          </a:solidFill>
          <a:ln w="12700">
            <a:solidFill>
              <a:srgbClr val="FFFFFF"/>
            </a:solidFill>
            <a:prstDash val="solid"/>
          </a:ln>
        </p:spPr>
      </p:sp>
      <p:pic>
        <p:nvPicPr>
          <p:cNvPr id="24" name="Image 1" descr="/mnt/data/bankease_er_crop.png">    </p:cNvPr>
          <p:cNvPicPr>
            <a:picLocks noChangeAspect="1"/>
          </p:cNvPicPr>
          <p:nvPr/>
        </p:nvPicPr>
        <p:blipFill>
          <a:blip r:embed="rId2"/>
          <a:stretch>
            <a:fillRect/>
          </a:stretch>
        </p:blipFill>
        <p:spPr>
          <a:xfrm>
            <a:off x="3730752" y="1828800"/>
            <a:ext cx="7680960" cy="3657600"/>
          </a:xfrm>
          <a:prstGeom prst="rect">
            <a:avLst/>
          </a:prstGeom>
        </p:spPr>
      </p:pic>
      <p:sp>
        <p:nvSpPr>
          <p:cNvPr id="25" name="Text 21"/>
          <p:cNvSpPr/>
          <p:nvPr/>
        </p:nvSpPr>
        <p:spPr>
          <a:xfrm>
            <a:off x="3840480" y="5577840"/>
            <a:ext cx="7315200" cy="182880"/>
          </a:xfrm>
          <a:prstGeom prst="rect">
            <a:avLst/>
          </a:prstGeom>
          <a:noFill/>
          <a:ln/>
        </p:spPr>
        <p:txBody>
          <a:bodyPr wrap="square" lIns="0" tIns="0" rIns="0" bIns="0" rtlCol="0" anchor="ctr"/>
          <a:lstStyle/>
          <a:p>
            <a:pPr indent="0" marL="0">
              <a:buNone/>
            </a:pPr>
            <a:r>
              <a:rPr lang="en-US" sz="780" i="1" dirty="0">
                <a:solidFill>
                  <a:srgbClr val="8797A5"/>
                </a:solidFill>
              </a:rPr>
              <a:t>Relationships simplified for readability; ownership and references follow the JPA mappings.</a:t>
            </a:r>
            <a:endParaRPr lang="en-US" sz="780" dirty="0"/>
          </a:p>
        </p:txBody>
      </p:sp>
      <p:sp>
        <p:nvSpPr>
          <p:cNvPr id="26" name="Text 22"/>
          <p:cNvSpPr/>
          <p:nvPr/>
        </p:nvSpPr>
        <p:spPr>
          <a:xfrm>
            <a:off x="9372600" y="6144768"/>
            <a:ext cx="2240280" cy="164592"/>
          </a:xfrm>
          <a:prstGeom prst="rect">
            <a:avLst/>
          </a:prstGeom>
          <a:noFill/>
          <a:ln/>
        </p:spPr>
        <p:txBody>
          <a:bodyPr wrap="square" lIns="0" tIns="0" rIns="0" bIns="0" rtlCol="0" anchor="ctr"/>
          <a:lstStyle/>
          <a:p>
            <a:pPr algn="r" indent="0" marL="0">
              <a:buNone/>
            </a:pPr>
            <a:r>
              <a:rPr lang="en-US" sz="720" i="1" dirty="0">
                <a:solidFill>
                  <a:srgbClr val="8797A5"/>
                </a:solidFill>
              </a:rPr>
              <a:t>Source: Uploaded SRS, page 7</a:t>
            </a:r>
            <a:endParaRPr lang="en-US" sz="720" dirty="0"/>
          </a:p>
        </p:txBody>
      </p:sp>
      <p:sp>
        <p:nvSpPr>
          <p:cNvPr id="25" name="Slide Number Placeholder 0"/>
          <p:cNvSpPr>
            <a:spLocks noGrp="1"/>
          </p:cNvSpPr>
          <p:nvPr>
            <p:ph type="sldNum" sz="quarter" idx="4294967295"/>
          </p:nvPr>
        </p:nvSpPr>
        <p:spPr>
          <a:xfrm>
            <a:off x="11631168" y="647395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B7C8C"/>
                </a:solidFill>
                <a:latin typeface="Aptos"/>
                <a:ea typeface="Aptos"/>
                <a:cs typeface="Aptos"/>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84048"/>
            <a:ext cx="8138160" cy="384048"/>
          </a:xfrm>
          <a:prstGeom prst="rect">
            <a:avLst/>
          </a:prstGeom>
          <a:noFill/>
          <a:ln/>
        </p:spPr>
        <p:txBody>
          <a:bodyPr wrap="square" lIns="0" tIns="0" rIns="0" bIns="0" rtlCol="0" anchor="ctr"/>
          <a:lstStyle/>
          <a:p>
            <a:pPr indent="0" marL="0">
              <a:buNone/>
            </a:pPr>
            <a:r>
              <a:rPr lang="en-US" sz="2500" b="1" dirty="0">
                <a:solidFill>
                  <a:srgbClr val="12344D"/>
                </a:solidFill>
                <a:latin typeface="Aptos Display" pitchFamily="34" charset="0"/>
                <a:ea typeface="Aptos Display" pitchFamily="34" charset="-122"/>
                <a:cs typeface="Aptos Display" pitchFamily="34" charset="-120"/>
              </a:rPr>
              <a:t>Fund Transfer Flow</a:t>
            </a:r>
            <a:endParaRPr lang="en-US" sz="2500" dirty="0"/>
          </a:p>
        </p:txBody>
      </p:sp>
      <p:sp>
        <p:nvSpPr>
          <p:cNvPr id="3" name="Text 1"/>
          <p:cNvSpPr/>
          <p:nvPr/>
        </p:nvSpPr>
        <p:spPr>
          <a:xfrm>
            <a:off x="585216" y="786384"/>
            <a:ext cx="10789920" cy="292608"/>
          </a:xfrm>
          <a:prstGeom prst="rect">
            <a:avLst/>
          </a:prstGeom>
          <a:noFill/>
          <a:ln/>
        </p:spPr>
        <p:txBody>
          <a:bodyPr wrap="square" lIns="0" tIns="0" rIns="0" bIns="0" rtlCol="0" anchor="ctr"/>
          <a:lstStyle/>
          <a:p>
            <a:pPr indent="0" marL="0">
              <a:buNone/>
            </a:pPr>
            <a:r>
              <a:rPr lang="en-US" sz="1050" dirty="0">
                <a:solidFill>
                  <a:srgbClr val="5D7182"/>
                </a:solidFill>
              </a:rPr>
              <a:t>This is the most important business flow because it changes financial state.</a:t>
            </a:r>
            <a:endParaRPr lang="en-US" sz="1050" dirty="0"/>
          </a:p>
        </p:txBody>
      </p:sp>
      <p:sp>
        <p:nvSpPr>
          <p:cNvPr id="4" name="Shape 2"/>
          <p:cNvSpPr/>
          <p:nvPr/>
        </p:nvSpPr>
        <p:spPr>
          <a:xfrm>
            <a:off x="594360" y="1234440"/>
            <a:ext cx="10972800" cy="4800600"/>
          </a:xfrm>
          <a:prstGeom prst="roundRect">
            <a:avLst>
              <a:gd name="adj" fmla="val 1524"/>
            </a:avLst>
          </a:prstGeom>
          <a:solidFill>
            <a:srgbClr val="FFFFFF"/>
          </a:solidFill>
          <a:ln w="11430">
            <a:solidFill>
              <a:srgbClr val="D7E2EB"/>
            </a:solidFill>
            <a:prstDash val="solid"/>
          </a:ln>
          <a:effectLst>
            <a:outerShdw sx="100000" sy="100000" kx="0" ky="0" algn="bl" rotWithShape="0" blurRad="12700" dist="50800" dir="2700000">
              <a:srgbClr val="B7C6D1">
                <a:alpha val="11000"/>
              </a:srgbClr>
            </a:outerShdw>
          </a:effectLst>
        </p:spPr>
      </p:sp>
      <p:sp>
        <p:nvSpPr>
          <p:cNvPr id="5" name="Text 3"/>
          <p:cNvSpPr/>
          <p:nvPr/>
        </p:nvSpPr>
        <p:spPr>
          <a:xfrm>
            <a:off x="896112" y="1517904"/>
            <a:ext cx="2194560" cy="201168"/>
          </a:xfrm>
          <a:prstGeom prst="rect">
            <a:avLst/>
          </a:prstGeom>
          <a:noFill/>
          <a:ln/>
        </p:spPr>
        <p:txBody>
          <a:bodyPr wrap="square" lIns="0" tIns="0" rIns="0" bIns="0" rtlCol="0" anchor="ctr"/>
          <a:lstStyle/>
          <a:p>
            <a:pPr indent="0" marL="0">
              <a:buNone/>
            </a:pPr>
            <a:r>
              <a:rPr lang="en-US" sz="850" b="1" spc="110" kern="0" dirty="0">
                <a:solidFill>
                  <a:srgbClr val="2F80ED"/>
                </a:solidFill>
              </a:rPr>
              <a:t>HAPPY PATH + REJECTION PATH</a:t>
            </a:r>
            <a:endParaRPr lang="en-US" sz="850" dirty="0"/>
          </a:p>
        </p:txBody>
      </p:sp>
      <p:sp>
        <p:nvSpPr>
          <p:cNvPr id="6" name="Shape 4"/>
          <p:cNvSpPr/>
          <p:nvPr/>
        </p:nvSpPr>
        <p:spPr>
          <a:xfrm>
            <a:off x="868680" y="2240280"/>
            <a:ext cx="1600200" cy="749808"/>
          </a:xfrm>
          <a:prstGeom prst="roundRect">
            <a:avLst>
              <a:gd name="adj" fmla="val 9756"/>
            </a:avLst>
          </a:prstGeom>
          <a:solidFill>
            <a:srgbClr val="EAF3FF"/>
          </a:solidFill>
          <a:ln w="11430">
            <a:solidFill>
              <a:srgbClr val="2F80ED"/>
            </a:solidFill>
            <a:prstDash val="solid"/>
          </a:ln>
        </p:spPr>
      </p:sp>
      <p:sp>
        <p:nvSpPr>
          <p:cNvPr id="7" name="Text 5"/>
          <p:cNvSpPr/>
          <p:nvPr/>
        </p:nvSpPr>
        <p:spPr>
          <a:xfrm>
            <a:off x="868680" y="2414016"/>
            <a:ext cx="1600200" cy="210312"/>
          </a:xfrm>
          <a:prstGeom prst="rect">
            <a:avLst/>
          </a:prstGeom>
          <a:noFill/>
          <a:ln/>
        </p:spPr>
        <p:txBody>
          <a:bodyPr wrap="square" lIns="0" tIns="0" rIns="0" bIns="0" rtlCol="0" anchor="ctr"/>
          <a:lstStyle/>
          <a:p>
            <a:pPr algn="ctr" indent="0" marL="0">
              <a:buNone/>
            </a:pPr>
            <a:r>
              <a:rPr lang="en-US" sz="1350" b="1" dirty="0">
                <a:solidFill>
                  <a:srgbClr val="12344D"/>
                </a:solidFill>
              </a:rPr>
              <a:t>Login / JWT</a:t>
            </a:r>
            <a:endParaRPr lang="en-US" sz="1350" dirty="0"/>
          </a:p>
        </p:txBody>
      </p:sp>
      <p:sp>
        <p:nvSpPr>
          <p:cNvPr id="8" name="Text 6"/>
          <p:cNvSpPr/>
          <p:nvPr/>
        </p:nvSpPr>
        <p:spPr>
          <a:xfrm>
            <a:off x="923544" y="2688336"/>
            <a:ext cx="1490472" cy="182880"/>
          </a:xfrm>
          <a:prstGeom prst="rect">
            <a:avLst/>
          </a:prstGeom>
          <a:noFill/>
          <a:ln/>
        </p:spPr>
        <p:txBody>
          <a:bodyPr wrap="square" lIns="0" tIns="0" rIns="0" bIns="0" rtlCol="0" anchor="ctr"/>
          <a:lstStyle/>
          <a:p>
            <a:pPr algn="ctr" indent="0" marL="0">
              <a:buNone/>
            </a:pPr>
            <a:r>
              <a:rPr lang="en-US" sz="870" dirty="0">
                <a:solidFill>
                  <a:srgbClr val="5D7182"/>
                </a:solidFill>
              </a:rPr>
              <a:t>Authenticate</a:t>
            </a:r>
            <a:endParaRPr lang="en-US" sz="870" dirty="0"/>
          </a:p>
        </p:txBody>
      </p:sp>
      <p:sp>
        <p:nvSpPr>
          <p:cNvPr id="9" name="Shape 7"/>
          <p:cNvSpPr/>
          <p:nvPr/>
        </p:nvSpPr>
        <p:spPr>
          <a:xfrm>
            <a:off x="2788920" y="2240280"/>
            <a:ext cx="1664208" cy="749808"/>
          </a:xfrm>
          <a:prstGeom prst="roundRect">
            <a:avLst>
              <a:gd name="adj" fmla="val 9756"/>
            </a:avLst>
          </a:prstGeom>
          <a:solidFill>
            <a:srgbClr val="E9FBFF"/>
          </a:solidFill>
          <a:ln w="11430">
            <a:solidFill>
              <a:srgbClr val="00B8D9"/>
            </a:solidFill>
            <a:prstDash val="solid"/>
          </a:ln>
        </p:spPr>
      </p:sp>
      <p:sp>
        <p:nvSpPr>
          <p:cNvPr id="10" name="Text 8"/>
          <p:cNvSpPr/>
          <p:nvPr/>
        </p:nvSpPr>
        <p:spPr>
          <a:xfrm>
            <a:off x="2788920" y="2414016"/>
            <a:ext cx="1664208" cy="210312"/>
          </a:xfrm>
          <a:prstGeom prst="rect">
            <a:avLst/>
          </a:prstGeom>
          <a:noFill/>
          <a:ln/>
        </p:spPr>
        <p:txBody>
          <a:bodyPr wrap="square" lIns="0" tIns="0" rIns="0" bIns="0" rtlCol="0" anchor="ctr"/>
          <a:lstStyle/>
          <a:p>
            <a:pPr algn="ctr" indent="0" marL="0">
              <a:buNone/>
            </a:pPr>
            <a:r>
              <a:rPr lang="en-US" sz="1350" b="1" dirty="0">
                <a:solidFill>
                  <a:srgbClr val="12344D"/>
                </a:solidFill>
              </a:rPr>
              <a:t>Transfer request</a:t>
            </a:r>
            <a:endParaRPr lang="en-US" sz="1350" dirty="0"/>
          </a:p>
        </p:txBody>
      </p:sp>
      <p:sp>
        <p:nvSpPr>
          <p:cNvPr id="11" name="Text 9"/>
          <p:cNvSpPr/>
          <p:nvPr/>
        </p:nvSpPr>
        <p:spPr>
          <a:xfrm>
            <a:off x="2843784" y="2688336"/>
            <a:ext cx="1554480" cy="182880"/>
          </a:xfrm>
          <a:prstGeom prst="rect">
            <a:avLst/>
          </a:prstGeom>
          <a:noFill/>
          <a:ln/>
        </p:spPr>
        <p:txBody>
          <a:bodyPr wrap="square" lIns="0" tIns="0" rIns="0" bIns="0" rtlCol="0" anchor="ctr"/>
          <a:lstStyle/>
          <a:p>
            <a:pPr algn="ctr" indent="0" marL="0">
              <a:buNone/>
            </a:pPr>
            <a:r>
              <a:rPr lang="en-US" sz="870" dirty="0">
                <a:solidFill>
                  <a:srgbClr val="5D7182"/>
                </a:solidFill>
              </a:rPr>
              <a:t>Source + beneficiary</a:t>
            </a:r>
            <a:endParaRPr lang="en-US" sz="870" dirty="0"/>
          </a:p>
        </p:txBody>
      </p:sp>
      <p:sp>
        <p:nvSpPr>
          <p:cNvPr id="12" name="Shape 10"/>
          <p:cNvSpPr/>
          <p:nvPr/>
        </p:nvSpPr>
        <p:spPr>
          <a:xfrm>
            <a:off x="4736592" y="2240280"/>
            <a:ext cx="1965960" cy="749808"/>
          </a:xfrm>
          <a:prstGeom prst="roundRect">
            <a:avLst>
              <a:gd name="adj" fmla="val 9756"/>
            </a:avLst>
          </a:prstGeom>
          <a:solidFill>
            <a:srgbClr val="EAF8F0"/>
          </a:solidFill>
          <a:ln w="11430">
            <a:solidFill>
              <a:srgbClr val="16A34A"/>
            </a:solidFill>
            <a:prstDash val="solid"/>
          </a:ln>
        </p:spPr>
      </p:sp>
      <p:sp>
        <p:nvSpPr>
          <p:cNvPr id="13" name="Text 11"/>
          <p:cNvSpPr/>
          <p:nvPr/>
        </p:nvSpPr>
        <p:spPr>
          <a:xfrm>
            <a:off x="4736592" y="2414016"/>
            <a:ext cx="1965960" cy="210312"/>
          </a:xfrm>
          <a:prstGeom prst="rect">
            <a:avLst/>
          </a:prstGeom>
          <a:noFill/>
          <a:ln/>
        </p:spPr>
        <p:txBody>
          <a:bodyPr wrap="square" lIns="0" tIns="0" rIns="0" bIns="0" rtlCol="0" anchor="ctr"/>
          <a:lstStyle/>
          <a:p>
            <a:pPr algn="ctr" indent="0" marL="0">
              <a:buNone/>
            </a:pPr>
            <a:r>
              <a:rPr lang="en-US" sz="1350" b="1" dirty="0">
                <a:solidFill>
                  <a:srgbClr val="12344D"/>
                </a:solidFill>
              </a:rPr>
              <a:t>Validate ownership</a:t>
            </a:r>
            <a:endParaRPr lang="en-US" sz="1350" dirty="0"/>
          </a:p>
        </p:txBody>
      </p:sp>
      <p:sp>
        <p:nvSpPr>
          <p:cNvPr id="14" name="Text 12"/>
          <p:cNvSpPr/>
          <p:nvPr/>
        </p:nvSpPr>
        <p:spPr>
          <a:xfrm>
            <a:off x="4791456" y="2688336"/>
            <a:ext cx="1856232" cy="182880"/>
          </a:xfrm>
          <a:prstGeom prst="rect">
            <a:avLst/>
          </a:prstGeom>
          <a:noFill/>
          <a:ln/>
        </p:spPr>
        <p:txBody>
          <a:bodyPr wrap="square" lIns="0" tIns="0" rIns="0" bIns="0" rtlCol="0" anchor="ctr"/>
          <a:lstStyle/>
          <a:p>
            <a:pPr algn="ctr" indent="0" marL="0">
              <a:buNone/>
            </a:pPr>
            <a:r>
              <a:rPr lang="en-US" sz="870" dirty="0">
                <a:solidFill>
                  <a:srgbClr val="5D7182"/>
                </a:solidFill>
              </a:rPr>
              <a:t>Account + beneficiary</a:t>
            </a:r>
            <a:endParaRPr lang="en-US" sz="870" dirty="0"/>
          </a:p>
        </p:txBody>
      </p:sp>
      <p:sp>
        <p:nvSpPr>
          <p:cNvPr id="15" name="Shape 13"/>
          <p:cNvSpPr/>
          <p:nvPr/>
        </p:nvSpPr>
        <p:spPr>
          <a:xfrm>
            <a:off x="6995160" y="2240280"/>
            <a:ext cx="1737360" cy="749808"/>
          </a:xfrm>
          <a:prstGeom prst="roundRect">
            <a:avLst>
              <a:gd name="adj" fmla="val 9756"/>
            </a:avLst>
          </a:prstGeom>
          <a:solidFill>
            <a:srgbClr val="FFF6E5"/>
          </a:solidFill>
          <a:ln w="11430">
            <a:solidFill>
              <a:srgbClr val="F59E0B"/>
            </a:solidFill>
            <a:prstDash val="solid"/>
          </a:ln>
        </p:spPr>
      </p:sp>
      <p:sp>
        <p:nvSpPr>
          <p:cNvPr id="16" name="Text 14"/>
          <p:cNvSpPr/>
          <p:nvPr/>
        </p:nvSpPr>
        <p:spPr>
          <a:xfrm>
            <a:off x="6995160" y="2414016"/>
            <a:ext cx="1737360" cy="210312"/>
          </a:xfrm>
          <a:prstGeom prst="rect">
            <a:avLst/>
          </a:prstGeom>
          <a:noFill/>
          <a:ln/>
        </p:spPr>
        <p:txBody>
          <a:bodyPr wrap="square" lIns="0" tIns="0" rIns="0" bIns="0" rtlCol="0" anchor="ctr"/>
          <a:lstStyle/>
          <a:p>
            <a:pPr algn="ctr" indent="0" marL="0">
              <a:buNone/>
            </a:pPr>
            <a:r>
              <a:rPr lang="en-US" sz="1350" b="1" dirty="0">
                <a:solidFill>
                  <a:srgbClr val="12344D"/>
                </a:solidFill>
              </a:rPr>
              <a:t>Check balance</a:t>
            </a:r>
            <a:endParaRPr lang="en-US" sz="1350" dirty="0"/>
          </a:p>
        </p:txBody>
      </p:sp>
      <p:sp>
        <p:nvSpPr>
          <p:cNvPr id="17" name="Text 15"/>
          <p:cNvSpPr/>
          <p:nvPr/>
        </p:nvSpPr>
        <p:spPr>
          <a:xfrm>
            <a:off x="7050024" y="2688336"/>
            <a:ext cx="1627632" cy="182880"/>
          </a:xfrm>
          <a:prstGeom prst="rect">
            <a:avLst/>
          </a:prstGeom>
          <a:noFill/>
          <a:ln/>
        </p:spPr>
        <p:txBody>
          <a:bodyPr wrap="square" lIns="0" tIns="0" rIns="0" bIns="0" rtlCol="0" anchor="ctr"/>
          <a:lstStyle/>
          <a:p>
            <a:pPr algn="ctr" indent="0" marL="0">
              <a:buNone/>
            </a:pPr>
            <a:r>
              <a:rPr lang="en-US" sz="870" dirty="0">
                <a:solidFill>
                  <a:srgbClr val="5D7182"/>
                </a:solidFill>
              </a:rPr>
              <a:t>Enough funds?</a:t>
            </a:r>
            <a:endParaRPr lang="en-US" sz="870" dirty="0"/>
          </a:p>
        </p:txBody>
      </p:sp>
      <p:sp>
        <p:nvSpPr>
          <p:cNvPr id="18" name="Shape 16"/>
          <p:cNvSpPr/>
          <p:nvPr/>
        </p:nvSpPr>
        <p:spPr>
          <a:xfrm>
            <a:off x="9070848" y="2240280"/>
            <a:ext cx="1828800" cy="749808"/>
          </a:xfrm>
          <a:prstGeom prst="roundRect">
            <a:avLst>
              <a:gd name="adj" fmla="val 9756"/>
            </a:avLst>
          </a:prstGeom>
          <a:solidFill>
            <a:srgbClr val="F3EEFF"/>
          </a:solidFill>
          <a:ln w="11430">
            <a:solidFill>
              <a:srgbClr val="7C3AED"/>
            </a:solidFill>
            <a:prstDash val="solid"/>
          </a:ln>
        </p:spPr>
      </p:sp>
      <p:sp>
        <p:nvSpPr>
          <p:cNvPr id="19" name="Text 17"/>
          <p:cNvSpPr/>
          <p:nvPr/>
        </p:nvSpPr>
        <p:spPr>
          <a:xfrm>
            <a:off x="9070848" y="2414016"/>
            <a:ext cx="1828800" cy="210312"/>
          </a:xfrm>
          <a:prstGeom prst="rect">
            <a:avLst/>
          </a:prstGeom>
          <a:noFill/>
          <a:ln/>
        </p:spPr>
        <p:txBody>
          <a:bodyPr wrap="square" lIns="0" tIns="0" rIns="0" bIns="0" rtlCol="0" anchor="ctr"/>
          <a:lstStyle/>
          <a:p>
            <a:pPr algn="ctr" indent="0" marL="0">
              <a:buNone/>
            </a:pPr>
            <a:r>
              <a:rPr lang="en-US" sz="1350" b="1" dirty="0">
                <a:solidFill>
                  <a:srgbClr val="12344D"/>
                </a:solidFill>
              </a:rPr>
              <a:t>Create transfer</a:t>
            </a:r>
            <a:endParaRPr lang="en-US" sz="1350" dirty="0"/>
          </a:p>
        </p:txBody>
      </p:sp>
      <p:sp>
        <p:nvSpPr>
          <p:cNvPr id="20" name="Text 18"/>
          <p:cNvSpPr/>
          <p:nvPr/>
        </p:nvSpPr>
        <p:spPr>
          <a:xfrm>
            <a:off x="9125712" y="2688336"/>
            <a:ext cx="1719072" cy="182880"/>
          </a:xfrm>
          <a:prstGeom prst="rect">
            <a:avLst/>
          </a:prstGeom>
          <a:noFill/>
          <a:ln/>
        </p:spPr>
        <p:txBody>
          <a:bodyPr wrap="square" lIns="0" tIns="0" rIns="0" bIns="0" rtlCol="0" anchor="ctr"/>
          <a:lstStyle/>
          <a:p>
            <a:pPr algn="ctr" indent="0" marL="0">
              <a:buNone/>
            </a:pPr>
            <a:r>
              <a:rPr lang="en-US" sz="870" dirty="0">
                <a:solidFill>
                  <a:srgbClr val="5D7182"/>
                </a:solidFill>
              </a:rPr>
              <a:t>Debit + reference</a:t>
            </a:r>
            <a:endParaRPr lang="en-US" sz="870" dirty="0"/>
          </a:p>
        </p:txBody>
      </p:sp>
      <p:sp>
        <p:nvSpPr>
          <p:cNvPr id="21" name="Shape 19"/>
          <p:cNvSpPr/>
          <p:nvPr/>
        </p:nvSpPr>
        <p:spPr>
          <a:xfrm>
            <a:off x="9070848" y="3840480"/>
            <a:ext cx="1828800" cy="749808"/>
          </a:xfrm>
          <a:prstGeom prst="roundRect">
            <a:avLst>
              <a:gd name="adj" fmla="val 9756"/>
            </a:avLst>
          </a:prstGeom>
          <a:solidFill>
            <a:srgbClr val="EAF8F0"/>
          </a:solidFill>
          <a:ln w="11430">
            <a:solidFill>
              <a:srgbClr val="16A34A"/>
            </a:solidFill>
            <a:prstDash val="solid"/>
          </a:ln>
        </p:spPr>
      </p:sp>
      <p:sp>
        <p:nvSpPr>
          <p:cNvPr id="22" name="Text 20"/>
          <p:cNvSpPr/>
          <p:nvPr/>
        </p:nvSpPr>
        <p:spPr>
          <a:xfrm>
            <a:off x="9070848" y="4014216"/>
            <a:ext cx="1828800" cy="210312"/>
          </a:xfrm>
          <a:prstGeom prst="rect">
            <a:avLst/>
          </a:prstGeom>
          <a:noFill/>
          <a:ln/>
        </p:spPr>
        <p:txBody>
          <a:bodyPr wrap="square" lIns="0" tIns="0" rIns="0" bIns="0" rtlCol="0" anchor="ctr"/>
          <a:lstStyle/>
          <a:p>
            <a:pPr algn="ctr" indent="0" marL="0">
              <a:buNone/>
            </a:pPr>
            <a:r>
              <a:rPr lang="en-US" sz="1350" b="1" dirty="0">
                <a:solidFill>
                  <a:srgbClr val="12344D"/>
                </a:solidFill>
              </a:rPr>
              <a:t>Success</a:t>
            </a:r>
            <a:endParaRPr lang="en-US" sz="1350" dirty="0"/>
          </a:p>
        </p:txBody>
      </p:sp>
      <p:sp>
        <p:nvSpPr>
          <p:cNvPr id="23" name="Text 21"/>
          <p:cNvSpPr/>
          <p:nvPr/>
        </p:nvSpPr>
        <p:spPr>
          <a:xfrm>
            <a:off x="9125712" y="4288536"/>
            <a:ext cx="1719072" cy="182880"/>
          </a:xfrm>
          <a:prstGeom prst="rect">
            <a:avLst/>
          </a:prstGeom>
          <a:noFill/>
          <a:ln/>
        </p:spPr>
        <p:txBody>
          <a:bodyPr wrap="square" lIns="0" tIns="0" rIns="0" bIns="0" rtlCol="0" anchor="ctr"/>
          <a:lstStyle/>
          <a:p>
            <a:pPr algn="ctr" indent="0" marL="0">
              <a:buNone/>
            </a:pPr>
            <a:r>
              <a:rPr lang="en-US" sz="870" dirty="0">
                <a:solidFill>
                  <a:srgbClr val="5D7182"/>
                </a:solidFill>
              </a:rPr>
              <a:t>Reference returned</a:t>
            </a:r>
            <a:endParaRPr lang="en-US" sz="870" dirty="0"/>
          </a:p>
        </p:txBody>
      </p:sp>
      <p:sp>
        <p:nvSpPr>
          <p:cNvPr id="24" name="Shape 22"/>
          <p:cNvSpPr/>
          <p:nvPr/>
        </p:nvSpPr>
        <p:spPr>
          <a:xfrm>
            <a:off x="2788920" y="3840480"/>
            <a:ext cx="1965960" cy="749808"/>
          </a:xfrm>
          <a:prstGeom prst="roundRect">
            <a:avLst>
              <a:gd name="adj" fmla="val 9756"/>
            </a:avLst>
          </a:prstGeom>
          <a:solidFill>
            <a:srgbClr val="FFF0F0"/>
          </a:solidFill>
          <a:ln w="11430">
            <a:solidFill>
              <a:srgbClr val="DC2626"/>
            </a:solidFill>
            <a:prstDash val="solid"/>
          </a:ln>
        </p:spPr>
      </p:sp>
      <p:sp>
        <p:nvSpPr>
          <p:cNvPr id="25" name="Text 23"/>
          <p:cNvSpPr/>
          <p:nvPr/>
        </p:nvSpPr>
        <p:spPr>
          <a:xfrm>
            <a:off x="2788920" y="4014216"/>
            <a:ext cx="1965960" cy="210312"/>
          </a:xfrm>
          <a:prstGeom prst="rect">
            <a:avLst/>
          </a:prstGeom>
          <a:noFill/>
          <a:ln/>
        </p:spPr>
        <p:txBody>
          <a:bodyPr wrap="square" lIns="0" tIns="0" rIns="0" bIns="0" rtlCol="0" anchor="ctr"/>
          <a:lstStyle/>
          <a:p>
            <a:pPr algn="ctr" indent="0" marL="0">
              <a:buNone/>
            </a:pPr>
            <a:r>
              <a:rPr lang="en-US" sz="1350" b="1" dirty="0">
                <a:solidFill>
                  <a:srgbClr val="12344D"/>
                </a:solidFill>
              </a:rPr>
              <a:t>Reject</a:t>
            </a:r>
            <a:endParaRPr lang="en-US" sz="1350" dirty="0"/>
          </a:p>
        </p:txBody>
      </p:sp>
      <p:sp>
        <p:nvSpPr>
          <p:cNvPr id="26" name="Text 24"/>
          <p:cNvSpPr/>
          <p:nvPr/>
        </p:nvSpPr>
        <p:spPr>
          <a:xfrm>
            <a:off x="2843784" y="4288536"/>
            <a:ext cx="1856232" cy="182880"/>
          </a:xfrm>
          <a:prstGeom prst="rect">
            <a:avLst/>
          </a:prstGeom>
          <a:noFill/>
          <a:ln/>
        </p:spPr>
        <p:txBody>
          <a:bodyPr wrap="square" lIns="0" tIns="0" rIns="0" bIns="0" rtlCol="0" anchor="ctr"/>
          <a:lstStyle/>
          <a:p>
            <a:pPr algn="ctr" indent="0" marL="0">
              <a:buNone/>
            </a:pPr>
            <a:r>
              <a:rPr lang="en-US" sz="870" dirty="0">
                <a:solidFill>
                  <a:srgbClr val="5D7182"/>
                </a:solidFill>
              </a:rPr>
              <a:t>Meaningful error</a:t>
            </a:r>
            <a:endParaRPr lang="en-US" sz="870" dirty="0"/>
          </a:p>
        </p:txBody>
      </p:sp>
      <p:sp>
        <p:nvSpPr>
          <p:cNvPr id="27" name="Shape 25"/>
          <p:cNvSpPr/>
          <p:nvPr/>
        </p:nvSpPr>
        <p:spPr>
          <a:xfrm>
            <a:off x="2487168" y="2615184"/>
            <a:ext cx="301752" cy="0"/>
          </a:xfrm>
          <a:prstGeom prst="line">
            <a:avLst/>
          </a:prstGeom>
          <a:noFill/>
          <a:ln w="16510">
            <a:solidFill>
              <a:srgbClr val="7B8C9B"/>
            </a:solidFill>
            <a:prstDash val="solid"/>
            <a:tailEnd type="triangle"/>
          </a:ln>
        </p:spPr>
      </p:sp>
      <p:sp>
        <p:nvSpPr>
          <p:cNvPr id="28" name="Shape 26"/>
          <p:cNvSpPr/>
          <p:nvPr/>
        </p:nvSpPr>
        <p:spPr>
          <a:xfrm>
            <a:off x="4453128" y="2615184"/>
            <a:ext cx="283464" cy="0"/>
          </a:xfrm>
          <a:prstGeom prst="line">
            <a:avLst/>
          </a:prstGeom>
          <a:noFill/>
          <a:ln w="16510">
            <a:solidFill>
              <a:srgbClr val="7B8C9B"/>
            </a:solidFill>
            <a:prstDash val="solid"/>
            <a:tailEnd type="triangle"/>
          </a:ln>
        </p:spPr>
      </p:sp>
      <p:sp>
        <p:nvSpPr>
          <p:cNvPr id="29" name="Shape 27"/>
          <p:cNvSpPr/>
          <p:nvPr/>
        </p:nvSpPr>
        <p:spPr>
          <a:xfrm>
            <a:off x="6702552" y="2615184"/>
            <a:ext cx="292608" cy="0"/>
          </a:xfrm>
          <a:prstGeom prst="line">
            <a:avLst/>
          </a:prstGeom>
          <a:noFill/>
          <a:ln w="16510">
            <a:solidFill>
              <a:srgbClr val="7B8C9B"/>
            </a:solidFill>
            <a:prstDash val="solid"/>
            <a:tailEnd type="triangle"/>
          </a:ln>
        </p:spPr>
      </p:sp>
      <p:sp>
        <p:nvSpPr>
          <p:cNvPr id="30" name="Shape 28"/>
          <p:cNvSpPr/>
          <p:nvPr/>
        </p:nvSpPr>
        <p:spPr>
          <a:xfrm>
            <a:off x="8732520" y="2615184"/>
            <a:ext cx="338328" cy="0"/>
          </a:xfrm>
          <a:prstGeom prst="line">
            <a:avLst/>
          </a:prstGeom>
          <a:noFill/>
          <a:ln w="16510">
            <a:solidFill>
              <a:srgbClr val="7B8C9B"/>
            </a:solidFill>
            <a:prstDash val="solid"/>
            <a:tailEnd type="triangle"/>
          </a:ln>
        </p:spPr>
      </p:sp>
      <p:sp>
        <p:nvSpPr>
          <p:cNvPr id="31" name="Text 29"/>
          <p:cNvSpPr/>
          <p:nvPr/>
        </p:nvSpPr>
        <p:spPr>
          <a:xfrm>
            <a:off x="8627364" y="2432304"/>
            <a:ext cx="548640" cy="182880"/>
          </a:xfrm>
          <a:prstGeom prst="rect">
            <a:avLst/>
          </a:prstGeom>
          <a:noFill/>
          <a:ln/>
        </p:spPr>
        <p:txBody>
          <a:bodyPr wrap="square" lIns="0" tIns="0" rIns="0" bIns="0" rtlCol="0" anchor="ctr"/>
          <a:lstStyle/>
          <a:p>
            <a:pPr algn="ctr" indent="0" marL="0">
              <a:buNone/>
            </a:pPr>
            <a:r>
              <a:rPr lang="en-US" sz="850" b="1" dirty="0">
                <a:solidFill>
                  <a:srgbClr val="5D7182"/>
                </a:solidFill>
              </a:rPr>
              <a:t>valid</a:t>
            </a:r>
            <a:endParaRPr lang="en-US" sz="850" dirty="0"/>
          </a:p>
        </p:txBody>
      </p:sp>
      <p:sp>
        <p:nvSpPr>
          <p:cNvPr id="32" name="Shape 30"/>
          <p:cNvSpPr/>
          <p:nvPr/>
        </p:nvSpPr>
        <p:spPr>
          <a:xfrm>
            <a:off x="9985248" y="2990088"/>
            <a:ext cx="0" cy="850392"/>
          </a:xfrm>
          <a:prstGeom prst="line">
            <a:avLst/>
          </a:prstGeom>
          <a:noFill/>
          <a:ln w="16510">
            <a:solidFill>
              <a:srgbClr val="7B8C9B"/>
            </a:solidFill>
            <a:prstDash val="solid"/>
            <a:tailEnd type="triangle"/>
          </a:ln>
        </p:spPr>
      </p:sp>
      <p:sp>
        <p:nvSpPr>
          <p:cNvPr id="33" name="Text 31"/>
          <p:cNvSpPr/>
          <p:nvPr/>
        </p:nvSpPr>
        <p:spPr>
          <a:xfrm>
            <a:off x="9710928" y="3232404"/>
            <a:ext cx="548640" cy="182880"/>
          </a:xfrm>
          <a:prstGeom prst="rect">
            <a:avLst/>
          </a:prstGeom>
          <a:noFill/>
          <a:ln/>
        </p:spPr>
        <p:txBody>
          <a:bodyPr wrap="square" lIns="0" tIns="0" rIns="0" bIns="0" rtlCol="0" anchor="ctr"/>
          <a:lstStyle/>
          <a:p>
            <a:pPr algn="ctr" indent="0" marL="0">
              <a:buNone/>
            </a:pPr>
            <a:r>
              <a:rPr lang="en-US" sz="850" b="1" dirty="0">
                <a:solidFill>
                  <a:srgbClr val="5D7182"/>
                </a:solidFill>
              </a:rPr>
              <a:t>success</a:t>
            </a:r>
            <a:endParaRPr lang="en-US" sz="850" dirty="0"/>
          </a:p>
        </p:txBody>
      </p:sp>
      <p:sp>
        <p:nvSpPr>
          <p:cNvPr id="34" name="Shape 32"/>
          <p:cNvSpPr/>
          <p:nvPr/>
        </p:nvSpPr>
        <p:spPr>
          <a:xfrm>
            <a:off x="6766560" y="2990088"/>
            <a:ext cx="-2971800" cy="850392"/>
          </a:xfrm>
          <a:prstGeom prst="line">
            <a:avLst/>
          </a:prstGeom>
          <a:noFill/>
          <a:ln w="16510">
            <a:solidFill>
              <a:srgbClr val="7B8C9B"/>
            </a:solidFill>
            <a:prstDash val="solid"/>
            <a:tailEnd type="triangle"/>
          </a:ln>
        </p:spPr>
      </p:sp>
      <p:sp>
        <p:nvSpPr>
          <p:cNvPr id="35" name="Text 33"/>
          <p:cNvSpPr/>
          <p:nvPr/>
        </p:nvSpPr>
        <p:spPr>
          <a:xfrm>
            <a:off x="5006340" y="3232404"/>
            <a:ext cx="548640" cy="182880"/>
          </a:xfrm>
          <a:prstGeom prst="rect">
            <a:avLst/>
          </a:prstGeom>
          <a:noFill/>
          <a:ln/>
        </p:spPr>
        <p:txBody>
          <a:bodyPr wrap="square" lIns="0" tIns="0" rIns="0" bIns="0" rtlCol="0" anchor="ctr"/>
          <a:lstStyle/>
          <a:p>
            <a:pPr algn="ctr" indent="0" marL="0">
              <a:buNone/>
            </a:pPr>
            <a:r>
              <a:rPr lang="en-US" sz="850" b="1" dirty="0">
                <a:solidFill>
                  <a:srgbClr val="5D7182"/>
                </a:solidFill>
              </a:rPr>
              <a:t>invalid</a:t>
            </a:r>
            <a:endParaRPr lang="en-US" sz="850" dirty="0"/>
          </a:p>
        </p:txBody>
      </p:sp>
      <p:sp>
        <p:nvSpPr>
          <p:cNvPr id="36" name="Shape 34"/>
          <p:cNvSpPr/>
          <p:nvPr/>
        </p:nvSpPr>
        <p:spPr>
          <a:xfrm>
            <a:off x="4754880" y="4215384"/>
            <a:ext cx="-1965960" cy="0"/>
          </a:xfrm>
          <a:prstGeom prst="line">
            <a:avLst/>
          </a:prstGeom>
          <a:noFill/>
          <a:ln w="16510">
            <a:solidFill>
              <a:srgbClr val="7B8C9B"/>
            </a:solidFill>
            <a:prstDash val="solid"/>
            <a:tailEnd type="triangle"/>
          </a:ln>
        </p:spPr>
      </p:sp>
      <p:sp>
        <p:nvSpPr>
          <p:cNvPr id="37" name="Text 35"/>
          <p:cNvSpPr/>
          <p:nvPr/>
        </p:nvSpPr>
        <p:spPr>
          <a:xfrm>
            <a:off x="896112" y="5010912"/>
            <a:ext cx="1417320" cy="228600"/>
          </a:xfrm>
          <a:prstGeom prst="rect">
            <a:avLst/>
          </a:prstGeom>
          <a:noFill/>
          <a:ln/>
        </p:spPr>
        <p:txBody>
          <a:bodyPr wrap="square" lIns="0" tIns="0" rIns="0" bIns="0" rtlCol="0" anchor="ctr"/>
          <a:lstStyle/>
          <a:p>
            <a:pPr indent="0" marL="0">
              <a:buNone/>
            </a:pPr>
            <a:r>
              <a:rPr lang="en-US" sz="1200" b="1" dirty="0">
                <a:solidFill>
                  <a:srgbClr val="12344D"/>
                </a:solidFill>
              </a:rPr>
              <a:t>Key validations</a:t>
            </a:r>
            <a:endParaRPr lang="en-US" sz="1200" dirty="0"/>
          </a:p>
        </p:txBody>
      </p:sp>
      <p:sp>
        <p:nvSpPr>
          <p:cNvPr id="38" name="Shape 36"/>
          <p:cNvSpPr/>
          <p:nvPr/>
        </p:nvSpPr>
        <p:spPr>
          <a:xfrm>
            <a:off x="2423160" y="4965192"/>
            <a:ext cx="1097280" cy="301752"/>
          </a:xfrm>
          <a:prstGeom prst="roundRect">
            <a:avLst>
              <a:gd name="adj" fmla="val 21212"/>
            </a:avLst>
          </a:prstGeom>
          <a:solidFill>
            <a:srgbClr val="EAF8F0"/>
          </a:solidFill>
          <a:ln w="12700">
            <a:solidFill>
              <a:srgbClr val="EAF8F0"/>
            </a:solidFill>
            <a:prstDash val="solid"/>
          </a:ln>
        </p:spPr>
      </p:sp>
      <p:sp>
        <p:nvSpPr>
          <p:cNvPr id="39" name="Text 37"/>
          <p:cNvSpPr/>
          <p:nvPr/>
        </p:nvSpPr>
        <p:spPr>
          <a:xfrm>
            <a:off x="2423160" y="4983480"/>
            <a:ext cx="1097280" cy="228600"/>
          </a:xfrm>
          <a:prstGeom prst="rect">
            <a:avLst/>
          </a:prstGeom>
          <a:noFill/>
          <a:ln/>
        </p:spPr>
        <p:txBody>
          <a:bodyPr wrap="square" lIns="0" tIns="0" rIns="0" bIns="0" rtlCol="0" anchor="ctr"/>
          <a:lstStyle/>
          <a:p>
            <a:pPr algn="ctr" indent="0" marL="0">
              <a:buNone/>
            </a:pPr>
            <a:r>
              <a:rPr lang="en-US" sz="950" b="1" dirty="0">
                <a:solidFill>
                  <a:srgbClr val="16A34A"/>
                </a:solidFill>
              </a:rPr>
              <a:t>Ownership</a:t>
            </a:r>
            <a:endParaRPr lang="en-US" sz="950" dirty="0"/>
          </a:p>
        </p:txBody>
      </p:sp>
      <p:sp>
        <p:nvSpPr>
          <p:cNvPr id="40" name="Shape 38"/>
          <p:cNvSpPr/>
          <p:nvPr/>
        </p:nvSpPr>
        <p:spPr>
          <a:xfrm>
            <a:off x="3639312" y="4965192"/>
            <a:ext cx="1188720" cy="301752"/>
          </a:xfrm>
          <a:prstGeom prst="roundRect">
            <a:avLst>
              <a:gd name="adj" fmla="val 21212"/>
            </a:avLst>
          </a:prstGeom>
          <a:solidFill>
            <a:srgbClr val="EAF3FF"/>
          </a:solidFill>
          <a:ln w="12700">
            <a:solidFill>
              <a:srgbClr val="EAF3FF"/>
            </a:solidFill>
            <a:prstDash val="solid"/>
          </a:ln>
        </p:spPr>
      </p:sp>
      <p:sp>
        <p:nvSpPr>
          <p:cNvPr id="41" name="Text 39"/>
          <p:cNvSpPr/>
          <p:nvPr/>
        </p:nvSpPr>
        <p:spPr>
          <a:xfrm>
            <a:off x="3639312" y="4983480"/>
            <a:ext cx="1188720" cy="228600"/>
          </a:xfrm>
          <a:prstGeom prst="rect">
            <a:avLst/>
          </a:prstGeom>
          <a:noFill/>
          <a:ln/>
        </p:spPr>
        <p:txBody>
          <a:bodyPr wrap="square" lIns="0" tIns="0" rIns="0" bIns="0" rtlCol="0" anchor="ctr"/>
          <a:lstStyle/>
          <a:p>
            <a:pPr algn="ctr" indent="0" marL="0">
              <a:buNone/>
            </a:pPr>
            <a:r>
              <a:rPr lang="en-US" sz="950" b="1" dirty="0">
                <a:solidFill>
                  <a:srgbClr val="2F80ED"/>
                </a:solidFill>
              </a:rPr>
              <a:t>Beneficiary</a:t>
            </a:r>
            <a:endParaRPr lang="en-US" sz="950" dirty="0"/>
          </a:p>
        </p:txBody>
      </p:sp>
      <p:sp>
        <p:nvSpPr>
          <p:cNvPr id="42" name="Shape 40"/>
          <p:cNvSpPr/>
          <p:nvPr/>
        </p:nvSpPr>
        <p:spPr>
          <a:xfrm>
            <a:off x="4956048" y="4965192"/>
            <a:ext cx="1325880" cy="301752"/>
          </a:xfrm>
          <a:prstGeom prst="roundRect">
            <a:avLst>
              <a:gd name="adj" fmla="val 21212"/>
            </a:avLst>
          </a:prstGeom>
          <a:solidFill>
            <a:srgbClr val="F3EEFF"/>
          </a:solidFill>
          <a:ln w="12700">
            <a:solidFill>
              <a:srgbClr val="F3EEFF"/>
            </a:solidFill>
            <a:prstDash val="solid"/>
          </a:ln>
        </p:spPr>
      </p:sp>
      <p:sp>
        <p:nvSpPr>
          <p:cNvPr id="43" name="Text 41"/>
          <p:cNvSpPr/>
          <p:nvPr/>
        </p:nvSpPr>
        <p:spPr>
          <a:xfrm>
            <a:off x="4956048" y="4983480"/>
            <a:ext cx="1325880" cy="228600"/>
          </a:xfrm>
          <a:prstGeom prst="rect">
            <a:avLst/>
          </a:prstGeom>
          <a:noFill/>
          <a:ln/>
        </p:spPr>
        <p:txBody>
          <a:bodyPr wrap="square" lIns="0" tIns="0" rIns="0" bIns="0" rtlCol="0" anchor="ctr"/>
          <a:lstStyle/>
          <a:p>
            <a:pPr algn="ctr" indent="0" marL="0">
              <a:buNone/>
            </a:pPr>
            <a:r>
              <a:rPr lang="en-US" sz="950" b="1" dirty="0">
                <a:solidFill>
                  <a:srgbClr val="7C3AED"/>
                </a:solidFill>
              </a:rPr>
              <a:t>Account status</a:t>
            </a:r>
            <a:endParaRPr lang="en-US" sz="950" dirty="0"/>
          </a:p>
        </p:txBody>
      </p:sp>
      <p:sp>
        <p:nvSpPr>
          <p:cNvPr id="44" name="Shape 42"/>
          <p:cNvSpPr/>
          <p:nvPr/>
        </p:nvSpPr>
        <p:spPr>
          <a:xfrm>
            <a:off x="6428232" y="4965192"/>
            <a:ext cx="960120" cy="301752"/>
          </a:xfrm>
          <a:prstGeom prst="roundRect">
            <a:avLst>
              <a:gd name="adj" fmla="val 21212"/>
            </a:avLst>
          </a:prstGeom>
          <a:solidFill>
            <a:srgbClr val="FFF6E5"/>
          </a:solidFill>
          <a:ln w="12700">
            <a:solidFill>
              <a:srgbClr val="FFF6E5"/>
            </a:solidFill>
            <a:prstDash val="solid"/>
          </a:ln>
        </p:spPr>
      </p:sp>
      <p:sp>
        <p:nvSpPr>
          <p:cNvPr id="45" name="Text 43"/>
          <p:cNvSpPr/>
          <p:nvPr/>
        </p:nvSpPr>
        <p:spPr>
          <a:xfrm>
            <a:off x="6428232" y="4983480"/>
            <a:ext cx="960120" cy="228600"/>
          </a:xfrm>
          <a:prstGeom prst="rect">
            <a:avLst/>
          </a:prstGeom>
          <a:noFill/>
          <a:ln/>
        </p:spPr>
        <p:txBody>
          <a:bodyPr wrap="square" lIns="0" tIns="0" rIns="0" bIns="0" rtlCol="0" anchor="ctr"/>
          <a:lstStyle/>
          <a:p>
            <a:pPr algn="ctr" indent="0" marL="0">
              <a:buNone/>
            </a:pPr>
            <a:r>
              <a:rPr lang="en-US" sz="950" b="1" dirty="0">
                <a:solidFill>
                  <a:srgbClr val="F59E0B"/>
                </a:solidFill>
              </a:rPr>
              <a:t>Balance</a:t>
            </a:r>
            <a:endParaRPr lang="en-US" sz="950" dirty="0"/>
          </a:p>
        </p:txBody>
      </p:sp>
      <p:sp>
        <p:nvSpPr>
          <p:cNvPr id="46" name="Shape 44"/>
          <p:cNvSpPr/>
          <p:nvPr/>
        </p:nvSpPr>
        <p:spPr>
          <a:xfrm>
            <a:off x="7543800" y="4965192"/>
            <a:ext cx="1600200" cy="301752"/>
          </a:xfrm>
          <a:prstGeom prst="roundRect">
            <a:avLst>
              <a:gd name="adj" fmla="val 21212"/>
            </a:avLst>
          </a:prstGeom>
          <a:solidFill>
            <a:srgbClr val="EEF2F6"/>
          </a:solidFill>
          <a:ln w="12700">
            <a:solidFill>
              <a:srgbClr val="EEF2F6"/>
            </a:solidFill>
            <a:prstDash val="solid"/>
          </a:ln>
        </p:spPr>
      </p:sp>
      <p:sp>
        <p:nvSpPr>
          <p:cNvPr id="47" name="Text 45"/>
          <p:cNvSpPr/>
          <p:nvPr/>
        </p:nvSpPr>
        <p:spPr>
          <a:xfrm>
            <a:off x="7543800" y="4983480"/>
            <a:ext cx="1600200" cy="228600"/>
          </a:xfrm>
          <a:prstGeom prst="rect">
            <a:avLst/>
          </a:prstGeom>
          <a:noFill/>
          <a:ln/>
        </p:spPr>
        <p:txBody>
          <a:bodyPr wrap="square" lIns="0" tIns="0" rIns="0" bIns="0" rtlCol="0" anchor="ctr"/>
          <a:lstStyle/>
          <a:p>
            <a:pPr algn="ctr" indent="0" marL="0">
              <a:buNone/>
            </a:pPr>
            <a:r>
              <a:rPr lang="en-US" sz="950" b="1" dirty="0">
                <a:solidFill>
                  <a:srgbClr val="415A77"/>
                </a:solidFill>
              </a:rPr>
              <a:t>Reference + status</a:t>
            </a:r>
            <a:endParaRPr lang="en-US" sz="950" dirty="0"/>
          </a:p>
        </p:txBody>
      </p:sp>
      <p:sp>
        <p:nvSpPr>
          <p:cNvPr id="48" name="Shape 46"/>
          <p:cNvSpPr/>
          <p:nvPr/>
        </p:nvSpPr>
        <p:spPr>
          <a:xfrm>
            <a:off x="9281160" y="4965192"/>
            <a:ext cx="1298448" cy="301752"/>
          </a:xfrm>
          <a:prstGeom prst="roundRect">
            <a:avLst>
              <a:gd name="adj" fmla="val 21212"/>
            </a:avLst>
          </a:prstGeom>
          <a:solidFill>
            <a:srgbClr val="F3EEFF"/>
          </a:solidFill>
          <a:ln w="12700">
            <a:solidFill>
              <a:srgbClr val="F3EEFF"/>
            </a:solidFill>
            <a:prstDash val="solid"/>
          </a:ln>
        </p:spPr>
      </p:sp>
      <p:sp>
        <p:nvSpPr>
          <p:cNvPr id="49" name="Text 47"/>
          <p:cNvSpPr/>
          <p:nvPr/>
        </p:nvSpPr>
        <p:spPr>
          <a:xfrm>
            <a:off x="9281160" y="4983480"/>
            <a:ext cx="1298448" cy="228600"/>
          </a:xfrm>
          <a:prstGeom prst="rect">
            <a:avLst/>
          </a:prstGeom>
          <a:noFill/>
          <a:ln/>
        </p:spPr>
        <p:txBody>
          <a:bodyPr wrap="square" lIns="0" tIns="0" rIns="0" bIns="0" rtlCol="0" anchor="ctr"/>
          <a:lstStyle/>
          <a:p>
            <a:pPr algn="ctr" indent="0" marL="0">
              <a:buNone/>
            </a:pPr>
            <a:r>
              <a:rPr lang="en-US" sz="950" b="1" dirty="0">
                <a:solidFill>
                  <a:srgbClr val="7C3AED"/>
                </a:solidFill>
              </a:rPr>
              <a:t>Atomic update</a:t>
            </a:r>
            <a:endParaRPr lang="en-US" sz="950" dirty="0"/>
          </a:p>
        </p:txBody>
      </p:sp>
      <p:sp>
        <p:nvSpPr>
          <p:cNvPr id="50" name="Text 48"/>
          <p:cNvSpPr/>
          <p:nvPr/>
        </p:nvSpPr>
        <p:spPr>
          <a:xfrm>
            <a:off x="9372600" y="6144768"/>
            <a:ext cx="2240280" cy="164592"/>
          </a:xfrm>
          <a:prstGeom prst="rect">
            <a:avLst/>
          </a:prstGeom>
          <a:noFill/>
          <a:ln/>
        </p:spPr>
        <p:txBody>
          <a:bodyPr wrap="square" lIns="0" tIns="0" rIns="0" bIns="0" rtlCol="0" anchor="ctr"/>
          <a:lstStyle/>
          <a:p>
            <a:pPr algn="r" indent="0" marL="0">
              <a:buNone/>
            </a:pPr>
            <a:r>
              <a:rPr lang="en-US" sz="720" i="1" dirty="0">
                <a:solidFill>
                  <a:srgbClr val="8797A5"/>
                </a:solidFill>
              </a:rPr>
              <a:t>Source: Uploaded SRS, §§3.4 and 6.4; flow visual based on page 7</a:t>
            </a:r>
            <a:endParaRPr lang="en-US" sz="720" dirty="0"/>
          </a:p>
        </p:txBody>
      </p:sp>
      <p:sp>
        <p:nvSpPr>
          <p:cNvPr id="25" name="Slide Number Placeholder 0"/>
          <p:cNvSpPr>
            <a:spLocks noGrp="1"/>
          </p:cNvSpPr>
          <p:nvPr>
            <p:ph type="sldNum" sz="quarter" idx="4294967295"/>
          </p:nvPr>
        </p:nvSpPr>
        <p:spPr>
          <a:xfrm>
            <a:off x="11631168" y="647395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B7C8C"/>
                </a:solidFill>
                <a:latin typeface="Aptos"/>
                <a:ea typeface="Aptos"/>
                <a:cs typeface="Aptos"/>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384048"/>
            <a:ext cx="8138160" cy="384048"/>
          </a:xfrm>
          <a:prstGeom prst="rect">
            <a:avLst/>
          </a:prstGeom>
          <a:noFill/>
          <a:ln/>
        </p:spPr>
        <p:txBody>
          <a:bodyPr wrap="square" lIns="0" tIns="0" rIns="0" bIns="0" rtlCol="0" anchor="ctr"/>
          <a:lstStyle/>
          <a:p>
            <a:pPr indent="0" marL="0">
              <a:buNone/>
            </a:pPr>
            <a:r>
              <a:rPr lang="en-US" sz="2500" b="1" dirty="0">
                <a:solidFill>
                  <a:srgbClr val="12344D"/>
                </a:solidFill>
                <a:latin typeface="Aptos Display" pitchFamily="34" charset="0"/>
                <a:ea typeface="Aptos Display" pitchFamily="34" charset="-122"/>
                <a:cs typeface="Aptos Display" pitchFamily="34" charset="-120"/>
              </a:rPr>
              <a:t>Testing, Future Scope &amp; Takeaway</a:t>
            </a:r>
            <a:endParaRPr lang="en-US" sz="2500" dirty="0"/>
          </a:p>
        </p:txBody>
      </p:sp>
      <p:sp>
        <p:nvSpPr>
          <p:cNvPr id="3" name="Text 1"/>
          <p:cNvSpPr/>
          <p:nvPr/>
        </p:nvSpPr>
        <p:spPr>
          <a:xfrm>
            <a:off x="585216" y="786384"/>
            <a:ext cx="10789920" cy="292608"/>
          </a:xfrm>
          <a:prstGeom prst="rect">
            <a:avLst/>
          </a:prstGeom>
          <a:noFill/>
          <a:ln/>
        </p:spPr>
        <p:txBody>
          <a:bodyPr wrap="square" lIns="0" tIns="0" rIns="0" bIns="0" rtlCol="0" anchor="ctr"/>
          <a:lstStyle/>
          <a:p>
            <a:pPr indent="0" marL="0">
              <a:buNone/>
            </a:pPr>
            <a:r>
              <a:rPr lang="en-US" sz="1050" dirty="0">
                <a:solidFill>
                  <a:srgbClr val="5D7182"/>
                </a:solidFill>
              </a:rPr>
              <a:t>The SRS defines 10 core test cases and identifies clear production-grade enhancements.</a:t>
            </a:r>
            <a:endParaRPr lang="en-US" sz="1050" dirty="0"/>
          </a:p>
        </p:txBody>
      </p:sp>
      <p:sp>
        <p:nvSpPr>
          <p:cNvPr id="4" name="Shape 2"/>
          <p:cNvSpPr/>
          <p:nvPr/>
        </p:nvSpPr>
        <p:spPr>
          <a:xfrm>
            <a:off x="594360" y="1234440"/>
            <a:ext cx="6492240" cy="4800600"/>
          </a:xfrm>
          <a:prstGeom prst="roundRect">
            <a:avLst>
              <a:gd name="adj" fmla="val 1524"/>
            </a:avLst>
          </a:prstGeom>
          <a:solidFill>
            <a:srgbClr val="FFFFFF"/>
          </a:solidFill>
          <a:ln w="11430">
            <a:solidFill>
              <a:srgbClr val="D7E2EB"/>
            </a:solidFill>
            <a:prstDash val="solid"/>
          </a:ln>
          <a:effectLst>
            <a:outerShdw sx="100000" sy="100000" kx="0" ky="0" algn="bl" rotWithShape="0" blurRad="12700" dist="50800" dir="2700000">
              <a:srgbClr val="B7C6D1">
                <a:alpha val="11000"/>
              </a:srgbClr>
            </a:outerShdw>
          </a:effectLst>
        </p:spPr>
      </p:sp>
      <p:sp>
        <p:nvSpPr>
          <p:cNvPr id="5" name="Text 3"/>
          <p:cNvSpPr/>
          <p:nvPr/>
        </p:nvSpPr>
        <p:spPr>
          <a:xfrm>
            <a:off x="868680" y="1481328"/>
            <a:ext cx="2194560" cy="201168"/>
          </a:xfrm>
          <a:prstGeom prst="rect">
            <a:avLst/>
          </a:prstGeom>
          <a:noFill/>
          <a:ln/>
        </p:spPr>
        <p:txBody>
          <a:bodyPr wrap="square" lIns="0" tIns="0" rIns="0" bIns="0" rtlCol="0" anchor="ctr"/>
          <a:lstStyle/>
          <a:p>
            <a:pPr indent="0" marL="0">
              <a:buNone/>
            </a:pPr>
            <a:r>
              <a:rPr lang="en-US" sz="850" b="1" spc="110" kern="0" dirty="0">
                <a:solidFill>
                  <a:srgbClr val="2F80ED"/>
                </a:solidFill>
              </a:rPr>
              <a:t>TESTING</a:t>
            </a:r>
            <a:endParaRPr lang="en-US" sz="850" dirty="0"/>
          </a:p>
        </p:txBody>
      </p:sp>
      <p:sp>
        <p:nvSpPr>
          <p:cNvPr id="6" name="Text 4"/>
          <p:cNvSpPr/>
          <p:nvPr/>
        </p:nvSpPr>
        <p:spPr>
          <a:xfrm>
            <a:off x="868680" y="1783080"/>
            <a:ext cx="3291840" cy="256032"/>
          </a:xfrm>
          <a:prstGeom prst="rect">
            <a:avLst/>
          </a:prstGeom>
          <a:noFill/>
          <a:ln/>
        </p:spPr>
        <p:txBody>
          <a:bodyPr wrap="square" lIns="0" tIns="0" rIns="0" bIns="0" rtlCol="0" anchor="ctr"/>
          <a:lstStyle/>
          <a:p>
            <a:pPr indent="0" marL="0">
              <a:buNone/>
            </a:pPr>
            <a:r>
              <a:rPr lang="en-US" sz="1700" b="1" dirty="0">
                <a:solidFill>
                  <a:srgbClr val="12344D"/>
                </a:solidFill>
              </a:rPr>
              <a:t>Representative test coverage</a:t>
            </a:r>
            <a:endParaRPr lang="en-US" sz="1700" dirty="0"/>
          </a:p>
        </p:txBody>
      </p:sp>
      <p:sp>
        <p:nvSpPr>
          <p:cNvPr id="7" name="Text 5"/>
          <p:cNvSpPr/>
          <p:nvPr/>
        </p:nvSpPr>
        <p:spPr>
          <a:xfrm>
            <a:off x="868680" y="2212848"/>
            <a:ext cx="566928" cy="182880"/>
          </a:xfrm>
          <a:prstGeom prst="rect">
            <a:avLst/>
          </a:prstGeom>
          <a:noFill/>
          <a:ln/>
        </p:spPr>
        <p:txBody>
          <a:bodyPr wrap="square" lIns="0" tIns="0" rIns="0" bIns="0" rtlCol="0" anchor="ctr"/>
          <a:lstStyle/>
          <a:p>
            <a:pPr indent="0" marL="0">
              <a:buNone/>
            </a:pPr>
            <a:r>
              <a:rPr lang="en-US" sz="920" b="1" dirty="0">
                <a:solidFill>
                  <a:srgbClr val="2F80ED"/>
                </a:solidFill>
              </a:rPr>
              <a:t>TC-01</a:t>
            </a:r>
            <a:endParaRPr lang="en-US" sz="920" dirty="0"/>
          </a:p>
        </p:txBody>
      </p:sp>
      <p:sp>
        <p:nvSpPr>
          <p:cNvPr id="8" name="Text 6"/>
          <p:cNvSpPr/>
          <p:nvPr/>
        </p:nvSpPr>
        <p:spPr>
          <a:xfrm>
            <a:off x="1527048" y="2212848"/>
            <a:ext cx="2331720" cy="182880"/>
          </a:xfrm>
          <a:prstGeom prst="rect">
            <a:avLst/>
          </a:prstGeom>
          <a:noFill/>
          <a:ln/>
        </p:spPr>
        <p:txBody>
          <a:bodyPr wrap="square" lIns="0" tIns="0" rIns="0" bIns="0" rtlCol="0" anchor="ctr">
            <a:normAutofit/>
          </a:bodyPr>
          <a:lstStyle/>
          <a:p>
            <a:pPr indent="0" marL="0">
              <a:buNone/>
            </a:pPr>
            <a:r>
              <a:rPr lang="en-US" sz="1010" dirty="0">
                <a:solidFill>
                  <a:srgbClr val="263238"/>
                </a:solidFill>
              </a:rPr>
              <a:t>Valid registration</a:t>
            </a:r>
            <a:endParaRPr lang="en-US" sz="1010" dirty="0"/>
          </a:p>
        </p:txBody>
      </p:sp>
      <p:sp>
        <p:nvSpPr>
          <p:cNvPr id="9" name="Shape 7"/>
          <p:cNvSpPr/>
          <p:nvPr/>
        </p:nvSpPr>
        <p:spPr>
          <a:xfrm>
            <a:off x="4023360" y="2194560"/>
            <a:ext cx="1874520" cy="301752"/>
          </a:xfrm>
          <a:prstGeom prst="roundRect">
            <a:avLst>
              <a:gd name="adj" fmla="val 21212"/>
            </a:avLst>
          </a:prstGeom>
          <a:solidFill>
            <a:srgbClr val="EAF8F0"/>
          </a:solidFill>
          <a:ln w="12700">
            <a:solidFill>
              <a:srgbClr val="EAF8F0"/>
            </a:solidFill>
            <a:prstDash val="solid"/>
          </a:ln>
        </p:spPr>
      </p:sp>
      <p:sp>
        <p:nvSpPr>
          <p:cNvPr id="10" name="Text 8"/>
          <p:cNvSpPr/>
          <p:nvPr/>
        </p:nvSpPr>
        <p:spPr>
          <a:xfrm>
            <a:off x="4023360" y="2212848"/>
            <a:ext cx="1874520" cy="228600"/>
          </a:xfrm>
          <a:prstGeom prst="rect">
            <a:avLst/>
          </a:prstGeom>
          <a:noFill/>
          <a:ln/>
        </p:spPr>
        <p:txBody>
          <a:bodyPr wrap="square" lIns="0" tIns="0" rIns="0" bIns="0" rtlCol="0" anchor="ctr"/>
          <a:lstStyle/>
          <a:p>
            <a:pPr algn="ctr" indent="0" marL="0">
              <a:buNone/>
            </a:pPr>
            <a:r>
              <a:rPr lang="en-US" sz="950" b="1" dirty="0">
                <a:solidFill>
                  <a:srgbClr val="16A34A"/>
                </a:solidFill>
              </a:rPr>
              <a:t>User created</a:t>
            </a:r>
            <a:endParaRPr lang="en-US" sz="950" dirty="0"/>
          </a:p>
        </p:txBody>
      </p:sp>
      <p:sp>
        <p:nvSpPr>
          <p:cNvPr id="11" name="Text 9"/>
          <p:cNvSpPr/>
          <p:nvPr/>
        </p:nvSpPr>
        <p:spPr>
          <a:xfrm>
            <a:off x="868680" y="2688336"/>
            <a:ext cx="566928" cy="182880"/>
          </a:xfrm>
          <a:prstGeom prst="rect">
            <a:avLst/>
          </a:prstGeom>
          <a:noFill/>
          <a:ln/>
        </p:spPr>
        <p:txBody>
          <a:bodyPr wrap="square" lIns="0" tIns="0" rIns="0" bIns="0" rtlCol="0" anchor="ctr"/>
          <a:lstStyle/>
          <a:p>
            <a:pPr indent="0" marL="0">
              <a:buNone/>
            </a:pPr>
            <a:r>
              <a:rPr lang="en-US" sz="920" b="1" dirty="0">
                <a:solidFill>
                  <a:srgbClr val="2F80ED"/>
                </a:solidFill>
              </a:rPr>
              <a:t>TC-02</a:t>
            </a:r>
            <a:endParaRPr lang="en-US" sz="920" dirty="0"/>
          </a:p>
        </p:txBody>
      </p:sp>
      <p:sp>
        <p:nvSpPr>
          <p:cNvPr id="12" name="Text 10"/>
          <p:cNvSpPr/>
          <p:nvPr/>
        </p:nvSpPr>
        <p:spPr>
          <a:xfrm>
            <a:off x="1527048" y="2688336"/>
            <a:ext cx="2331720" cy="182880"/>
          </a:xfrm>
          <a:prstGeom prst="rect">
            <a:avLst/>
          </a:prstGeom>
          <a:noFill/>
          <a:ln/>
        </p:spPr>
        <p:txBody>
          <a:bodyPr wrap="square" lIns="0" tIns="0" rIns="0" bIns="0" rtlCol="0" anchor="ctr">
            <a:normAutofit/>
          </a:bodyPr>
          <a:lstStyle/>
          <a:p>
            <a:pPr indent="0" marL="0">
              <a:buNone/>
            </a:pPr>
            <a:r>
              <a:rPr lang="en-US" sz="1010" dirty="0">
                <a:solidFill>
                  <a:srgbClr val="263238"/>
                </a:solidFill>
              </a:rPr>
              <a:t>Valid login</a:t>
            </a:r>
            <a:endParaRPr lang="en-US" sz="1010" dirty="0"/>
          </a:p>
        </p:txBody>
      </p:sp>
      <p:sp>
        <p:nvSpPr>
          <p:cNvPr id="13" name="Shape 11"/>
          <p:cNvSpPr/>
          <p:nvPr/>
        </p:nvSpPr>
        <p:spPr>
          <a:xfrm>
            <a:off x="4023360" y="2670048"/>
            <a:ext cx="1874520" cy="301752"/>
          </a:xfrm>
          <a:prstGeom prst="roundRect">
            <a:avLst>
              <a:gd name="adj" fmla="val 21212"/>
            </a:avLst>
          </a:prstGeom>
          <a:solidFill>
            <a:srgbClr val="EAF8F0"/>
          </a:solidFill>
          <a:ln w="12700">
            <a:solidFill>
              <a:srgbClr val="EAF8F0"/>
            </a:solidFill>
            <a:prstDash val="solid"/>
          </a:ln>
        </p:spPr>
      </p:sp>
      <p:sp>
        <p:nvSpPr>
          <p:cNvPr id="14" name="Text 12"/>
          <p:cNvSpPr/>
          <p:nvPr/>
        </p:nvSpPr>
        <p:spPr>
          <a:xfrm>
            <a:off x="4023360" y="2688336"/>
            <a:ext cx="1874520" cy="228600"/>
          </a:xfrm>
          <a:prstGeom prst="rect">
            <a:avLst/>
          </a:prstGeom>
          <a:noFill/>
          <a:ln/>
        </p:spPr>
        <p:txBody>
          <a:bodyPr wrap="square" lIns="0" tIns="0" rIns="0" bIns="0" rtlCol="0" anchor="ctr"/>
          <a:lstStyle/>
          <a:p>
            <a:pPr algn="ctr" indent="0" marL="0">
              <a:buNone/>
            </a:pPr>
            <a:r>
              <a:rPr lang="en-US" sz="950" b="1" dirty="0">
                <a:solidFill>
                  <a:srgbClr val="16A34A"/>
                </a:solidFill>
              </a:rPr>
              <a:t>JWT returned</a:t>
            </a:r>
            <a:endParaRPr lang="en-US" sz="950" dirty="0"/>
          </a:p>
        </p:txBody>
      </p:sp>
      <p:sp>
        <p:nvSpPr>
          <p:cNvPr id="15" name="Text 13"/>
          <p:cNvSpPr/>
          <p:nvPr/>
        </p:nvSpPr>
        <p:spPr>
          <a:xfrm>
            <a:off x="868680" y="3163824"/>
            <a:ext cx="566928" cy="182880"/>
          </a:xfrm>
          <a:prstGeom prst="rect">
            <a:avLst/>
          </a:prstGeom>
          <a:noFill/>
          <a:ln/>
        </p:spPr>
        <p:txBody>
          <a:bodyPr wrap="square" lIns="0" tIns="0" rIns="0" bIns="0" rtlCol="0" anchor="ctr"/>
          <a:lstStyle/>
          <a:p>
            <a:pPr indent="0" marL="0">
              <a:buNone/>
            </a:pPr>
            <a:r>
              <a:rPr lang="en-US" sz="920" b="1" dirty="0">
                <a:solidFill>
                  <a:srgbClr val="2F80ED"/>
                </a:solidFill>
              </a:rPr>
              <a:t>TC-04</a:t>
            </a:r>
            <a:endParaRPr lang="en-US" sz="920" dirty="0"/>
          </a:p>
        </p:txBody>
      </p:sp>
      <p:sp>
        <p:nvSpPr>
          <p:cNvPr id="16" name="Text 14"/>
          <p:cNvSpPr/>
          <p:nvPr/>
        </p:nvSpPr>
        <p:spPr>
          <a:xfrm>
            <a:off x="1527048" y="3163824"/>
            <a:ext cx="2331720" cy="182880"/>
          </a:xfrm>
          <a:prstGeom prst="rect">
            <a:avLst/>
          </a:prstGeom>
          <a:noFill/>
          <a:ln/>
        </p:spPr>
        <p:txBody>
          <a:bodyPr wrap="square" lIns="0" tIns="0" rIns="0" bIns="0" rtlCol="0" anchor="ctr">
            <a:normAutofit/>
          </a:bodyPr>
          <a:lstStyle/>
          <a:p>
            <a:pPr indent="0" marL="0">
              <a:buNone/>
            </a:pPr>
            <a:r>
              <a:rPr lang="en-US" sz="1010" dirty="0">
                <a:solidFill>
                  <a:srgbClr val="263238"/>
                </a:solidFill>
              </a:rPr>
              <a:t>Unauthorized account access</a:t>
            </a:r>
            <a:endParaRPr lang="en-US" sz="1010" dirty="0"/>
          </a:p>
        </p:txBody>
      </p:sp>
      <p:sp>
        <p:nvSpPr>
          <p:cNvPr id="17" name="Shape 15"/>
          <p:cNvSpPr/>
          <p:nvPr/>
        </p:nvSpPr>
        <p:spPr>
          <a:xfrm>
            <a:off x="4023360" y="3145536"/>
            <a:ext cx="1874520" cy="301752"/>
          </a:xfrm>
          <a:prstGeom prst="roundRect">
            <a:avLst>
              <a:gd name="adj" fmla="val 21212"/>
            </a:avLst>
          </a:prstGeom>
          <a:solidFill>
            <a:srgbClr val="EAF8F0"/>
          </a:solidFill>
          <a:ln w="12700">
            <a:solidFill>
              <a:srgbClr val="EAF8F0"/>
            </a:solidFill>
            <a:prstDash val="solid"/>
          </a:ln>
        </p:spPr>
      </p:sp>
      <p:sp>
        <p:nvSpPr>
          <p:cNvPr id="18" name="Text 16"/>
          <p:cNvSpPr/>
          <p:nvPr/>
        </p:nvSpPr>
        <p:spPr>
          <a:xfrm>
            <a:off x="4023360" y="3163824"/>
            <a:ext cx="1874520" cy="228600"/>
          </a:xfrm>
          <a:prstGeom prst="rect">
            <a:avLst/>
          </a:prstGeom>
          <a:noFill/>
          <a:ln/>
        </p:spPr>
        <p:txBody>
          <a:bodyPr wrap="square" lIns="0" tIns="0" rIns="0" bIns="0" rtlCol="0" anchor="ctr"/>
          <a:lstStyle/>
          <a:p>
            <a:pPr algn="ctr" indent="0" marL="0">
              <a:buNone/>
            </a:pPr>
            <a:r>
              <a:rPr lang="en-US" sz="950" b="1" dirty="0">
                <a:solidFill>
                  <a:srgbClr val="16A34A"/>
                </a:solidFill>
              </a:rPr>
              <a:t>Access denied</a:t>
            </a:r>
            <a:endParaRPr lang="en-US" sz="950" dirty="0"/>
          </a:p>
        </p:txBody>
      </p:sp>
      <p:sp>
        <p:nvSpPr>
          <p:cNvPr id="19" name="Text 17"/>
          <p:cNvSpPr/>
          <p:nvPr/>
        </p:nvSpPr>
        <p:spPr>
          <a:xfrm>
            <a:off x="868680" y="3639312"/>
            <a:ext cx="566928" cy="182880"/>
          </a:xfrm>
          <a:prstGeom prst="rect">
            <a:avLst/>
          </a:prstGeom>
          <a:noFill/>
          <a:ln/>
        </p:spPr>
        <p:txBody>
          <a:bodyPr wrap="square" lIns="0" tIns="0" rIns="0" bIns="0" rtlCol="0" anchor="ctr"/>
          <a:lstStyle/>
          <a:p>
            <a:pPr indent="0" marL="0">
              <a:buNone/>
            </a:pPr>
            <a:r>
              <a:rPr lang="en-US" sz="920" b="1" dirty="0">
                <a:solidFill>
                  <a:srgbClr val="2F80ED"/>
                </a:solidFill>
              </a:rPr>
              <a:t>TC-06</a:t>
            </a:r>
            <a:endParaRPr lang="en-US" sz="920" dirty="0"/>
          </a:p>
        </p:txBody>
      </p:sp>
      <p:sp>
        <p:nvSpPr>
          <p:cNvPr id="20" name="Text 18"/>
          <p:cNvSpPr/>
          <p:nvPr/>
        </p:nvSpPr>
        <p:spPr>
          <a:xfrm>
            <a:off x="1527048" y="3639312"/>
            <a:ext cx="2331720" cy="182880"/>
          </a:xfrm>
          <a:prstGeom prst="rect">
            <a:avLst/>
          </a:prstGeom>
          <a:noFill/>
          <a:ln/>
        </p:spPr>
        <p:txBody>
          <a:bodyPr wrap="square" lIns="0" tIns="0" rIns="0" bIns="0" rtlCol="0" anchor="ctr">
            <a:normAutofit/>
          </a:bodyPr>
          <a:lstStyle/>
          <a:p>
            <a:pPr indent="0" marL="0">
              <a:buNone/>
            </a:pPr>
            <a:r>
              <a:rPr lang="en-US" sz="1010" dirty="0">
                <a:solidFill>
                  <a:srgbClr val="263238"/>
                </a:solidFill>
              </a:rPr>
              <a:t>Transfer within balance</a:t>
            </a:r>
            <a:endParaRPr lang="en-US" sz="1010" dirty="0"/>
          </a:p>
        </p:txBody>
      </p:sp>
      <p:sp>
        <p:nvSpPr>
          <p:cNvPr id="21" name="Shape 19"/>
          <p:cNvSpPr/>
          <p:nvPr/>
        </p:nvSpPr>
        <p:spPr>
          <a:xfrm>
            <a:off x="4023360" y="3621024"/>
            <a:ext cx="1874520" cy="301752"/>
          </a:xfrm>
          <a:prstGeom prst="roundRect">
            <a:avLst>
              <a:gd name="adj" fmla="val 21212"/>
            </a:avLst>
          </a:prstGeom>
          <a:solidFill>
            <a:srgbClr val="EAF8F0"/>
          </a:solidFill>
          <a:ln w="12700">
            <a:solidFill>
              <a:srgbClr val="EAF8F0"/>
            </a:solidFill>
            <a:prstDash val="solid"/>
          </a:ln>
        </p:spPr>
      </p:sp>
      <p:sp>
        <p:nvSpPr>
          <p:cNvPr id="22" name="Text 20"/>
          <p:cNvSpPr/>
          <p:nvPr/>
        </p:nvSpPr>
        <p:spPr>
          <a:xfrm>
            <a:off x="4023360" y="3639312"/>
            <a:ext cx="1874520" cy="228600"/>
          </a:xfrm>
          <a:prstGeom prst="rect">
            <a:avLst/>
          </a:prstGeom>
          <a:noFill/>
          <a:ln/>
        </p:spPr>
        <p:txBody>
          <a:bodyPr wrap="square" lIns="0" tIns="0" rIns="0" bIns="0" rtlCol="0" anchor="ctr"/>
          <a:lstStyle/>
          <a:p>
            <a:pPr algn="ctr" indent="0" marL="0">
              <a:buNone/>
            </a:pPr>
            <a:r>
              <a:rPr lang="en-US" sz="950" b="1" dirty="0">
                <a:solidFill>
                  <a:srgbClr val="16A34A"/>
                </a:solidFill>
              </a:rPr>
              <a:t>Balance updated</a:t>
            </a:r>
            <a:endParaRPr lang="en-US" sz="950" dirty="0"/>
          </a:p>
        </p:txBody>
      </p:sp>
      <p:sp>
        <p:nvSpPr>
          <p:cNvPr id="23" name="Text 21"/>
          <p:cNvSpPr/>
          <p:nvPr/>
        </p:nvSpPr>
        <p:spPr>
          <a:xfrm>
            <a:off x="868680" y="4114800"/>
            <a:ext cx="566928" cy="182880"/>
          </a:xfrm>
          <a:prstGeom prst="rect">
            <a:avLst/>
          </a:prstGeom>
          <a:noFill/>
          <a:ln/>
        </p:spPr>
        <p:txBody>
          <a:bodyPr wrap="square" lIns="0" tIns="0" rIns="0" bIns="0" rtlCol="0" anchor="ctr"/>
          <a:lstStyle/>
          <a:p>
            <a:pPr indent="0" marL="0">
              <a:buNone/>
            </a:pPr>
            <a:r>
              <a:rPr lang="en-US" sz="920" b="1" dirty="0">
                <a:solidFill>
                  <a:srgbClr val="2F80ED"/>
                </a:solidFill>
              </a:rPr>
              <a:t>TC-07</a:t>
            </a:r>
            <a:endParaRPr lang="en-US" sz="920" dirty="0"/>
          </a:p>
        </p:txBody>
      </p:sp>
      <p:sp>
        <p:nvSpPr>
          <p:cNvPr id="24" name="Text 22"/>
          <p:cNvSpPr/>
          <p:nvPr/>
        </p:nvSpPr>
        <p:spPr>
          <a:xfrm>
            <a:off x="1527048" y="4114800"/>
            <a:ext cx="2331720" cy="182880"/>
          </a:xfrm>
          <a:prstGeom prst="rect">
            <a:avLst/>
          </a:prstGeom>
          <a:noFill/>
          <a:ln/>
        </p:spPr>
        <p:txBody>
          <a:bodyPr wrap="square" lIns="0" tIns="0" rIns="0" bIns="0" rtlCol="0" anchor="ctr">
            <a:normAutofit/>
          </a:bodyPr>
          <a:lstStyle/>
          <a:p>
            <a:pPr indent="0" marL="0">
              <a:buNone/>
            </a:pPr>
            <a:r>
              <a:rPr lang="en-US" sz="1010" dirty="0">
                <a:solidFill>
                  <a:srgbClr val="263238"/>
                </a:solidFill>
              </a:rPr>
              <a:t>Transfer above balance</a:t>
            </a:r>
            <a:endParaRPr lang="en-US" sz="1010" dirty="0"/>
          </a:p>
        </p:txBody>
      </p:sp>
      <p:sp>
        <p:nvSpPr>
          <p:cNvPr id="25" name="Shape 23"/>
          <p:cNvSpPr/>
          <p:nvPr/>
        </p:nvSpPr>
        <p:spPr>
          <a:xfrm>
            <a:off x="4023360" y="4096512"/>
            <a:ext cx="1874520" cy="301752"/>
          </a:xfrm>
          <a:prstGeom prst="roundRect">
            <a:avLst>
              <a:gd name="adj" fmla="val 21212"/>
            </a:avLst>
          </a:prstGeom>
          <a:solidFill>
            <a:srgbClr val="FFF0F0"/>
          </a:solidFill>
          <a:ln w="12700">
            <a:solidFill>
              <a:srgbClr val="FFF0F0"/>
            </a:solidFill>
            <a:prstDash val="solid"/>
          </a:ln>
        </p:spPr>
      </p:sp>
      <p:sp>
        <p:nvSpPr>
          <p:cNvPr id="26" name="Text 24"/>
          <p:cNvSpPr/>
          <p:nvPr/>
        </p:nvSpPr>
        <p:spPr>
          <a:xfrm>
            <a:off x="4023360" y="4114800"/>
            <a:ext cx="1874520" cy="228600"/>
          </a:xfrm>
          <a:prstGeom prst="rect">
            <a:avLst/>
          </a:prstGeom>
          <a:noFill/>
          <a:ln/>
        </p:spPr>
        <p:txBody>
          <a:bodyPr wrap="square" lIns="0" tIns="0" rIns="0" bIns="0" rtlCol="0" anchor="ctr"/>
          <a:lstStyle/>
          <a:p>
            <a:pPr algn="ctr" indent="0" marL="0">
              <a:buNone/>
            </a:pPr>
            <a:r>
              <a:rPr lang="en-US" sz="950" b="1" dirty="0">
                <a:solidFill>
                  <a:srgbClr val="DC2626"/>
                </a:solidFill>
              </a:rPr>
              <a:t>Transfer rejected</a:t>
            </a:r>
            <a:endParaRPr lang="en-US" sz="950" dirty="0"/>
          </a:p>
        </p:txBody>
      </p:sp>
      <p:sp>
        <p:nvSpPr>
          <p:cNvPr id="27" name="Text 25"/>
          <p:cNvSpPr/>
          <p:nvPr/>
        </p:nvSpPr>
        <p:spPr>
          <a:xfrm>
            <a:off x="868680" y="4590288"/>
            <a:ext cx="566928" cy="182880"/>
          </a:xfrm>
          <a:prstGeom prst="rect">
            <a:avLst/>
          </a:prstGeom>
          <a:noFill/>
          <a:ln/>
        </p:spPr>
        <p:txBody>
          <a:bodyPr wrap="square" lIns="0" tIns="0" rIns="0" bIns="0" rtlCol="0" anchor="ctr"/>
          <a:lstStyle/>
          <a:p>
            <a:pPr indent="0" marL="0">
              <a:buNone/>
            </a:pPr>
            <a:r>
              <a:rPr lang="en-US" sz="920" b="1" dirty="0">
                <a:solidFill>
                  <a:srgbClr val="2F80ED"/>
                </a:solidFill>
              </a:rPr>
              <a:t>TC-10</a:t>
            </a:r>
            <a:endParaRPr lang="en-US" sz="920" dirty="0"/>
          </a:p>
        </p:txBody>
      </p:sp>
      <p:sp>
        <p:nvSpPr>
          <p:cNvPr id="28" name="Text 26"/>
          <p:cNvSpPr/>
          <p:nvPr/>
        </p:nvSpPr>
        <p:spPr>
          <a:xfrm>
            <a:off x="1527048" y="4590288"/>
            <a:ext cx="2331720" cy="182880"/>
          </a:xfrm>
          <a:prstGeom prst="rect">
            <a:avLst/>
          </a:prstGeom>
          <a:noFill/>
          <a:ln/>
        </p:spPr>
        <p:txBody>
          <a:bodyPr wrap="square" lIns="0" tIns="0" rIns="0" bIns="0" rtlCol="0" anchor="ctr">
            <a:normAutofit/>
          </a:bodyPr>
          <a:lstStyle/>
          <a:p>
            <a:pPr indent="0" marL="0">
              <a:buNone/>
            </a:pPr>
            <a:r>
              <a:rPr lang="en-US" sz="1010" dirty="0">
                <a:solidFill>
                  <a:srgbClr val="263238"/>
                </a:solidFill>
              </a:rPr>
              <a:t>Admin loan decision</a:t>
            </a:r>
            <a:endParaRPr lang="en-US" sz="1010" dirty="0"/>
          </a:p>
        </p:txBody>
      </p:sp>
      <p:sp>
        <p:nvSpPr>
          <p:cNvPr id="29" name="Shape 27"/>
          <p:cNvSpPr/>
          <p:nvPr/>
        </p:nvSpPr>
        <p:spPr>
          <a:xfrm>
            <a:off x="4023360" y="4572000"/>
            <a:ext cx="1874520" cy="301752"/>
          </a:xfrm>
          <a:prstGeom prst="roundRect">
            <a:avLst>
              <a:gd name="adj" fmla="val 21212"/>
            </a:avLst>
          </a:prstGeom>
          <a:solidFill>
            <a:srgbClr val="EAF8F0"/>
          </a:solidFill>
          <a:ln w="12700">
            <a:solidFill>
              <a:srgbClr val="EAF8F0"/>
            </a:solidFill>
            <a:prstDash val="solid"/>
          </a:ln>
        </p:spPr>
      </p:sp>
      <p:sp>
        <p:nvSpPr>
          <p:cNvPr id="30" name="Text 28"/>
          <p:cNvSpPr/>
          <p:nvPr/>
        </p:nvSpPr>
        <p:spPr>
          <a:xfrm>
            <a:off x="4023360" y="4590288"/>
            <a:ext cx="1874520" cy="228600"/>
          </a:xfrm>
          <a:prstGeom prst="rect">
            <a:avLst/>
          </a:prstGeom>
          <a:noFill/>
          <a:ln/>
        </p:spPr>
        <p:txBody>
          <a:bodyPr wrap="square" lIns="0" tIns="0" rIns="0" bIns="0" rtlCol="0" anchor="ctr"/>
          <a:lstStyle/>
          <a:p>
            <a:pPr algn="ctr" indent="0" marL="0">
              <a:buNone/>
            </a:pPr>
            <a:r>
              <a:rPr lang="en-US" sz="950" b="1" dirty="0">
                <a:solidFill>
                  <a:srgbClr val="16A34A"/>
                </a:solidFill>
              </a:rPr>
              <a:t>ADMIN only</a:t>
            </a:r>
            <a:endParaRPr lang="en-US" sz="950" dirty="0"/>
          </a:p>
        </p:txBody>
      </p:sp>
      <p:sp>
        <p:nvSpPr>
          <p:cNvPr id="31" name="Shape 29"/>
          <p:cNvSpPr/>
          <p:nvPr/>
        </p:nvSpPr>
        <p:spPr>
          <a:xfrm>
            <a:off x="7333488" y="1234440"/>
            <a:ext cx="4251960" cy="3063240"/>
          </a:xfrm>
          <a:prstGeom prst="roundRect">
            <a:avLst>
              <a:gd name="adj" fmla="val 2388"/>
            </a:avLst>
          </a:prstGeom>
          <a:solidFill>
            <a:srgbClr val="FFFFFF"/>
          </a:solidFill>
          <a:ln w="11430">
            <a:solidFill>
              <a:srgbClr val="D7E2EB"/>
            </a:solidFill>
            <a:prstDash val="solid"/>
          </a:ln>
          <a:effectLst>
            <a:outerShdw sx="100000" sy="100000" kx="0" ky="0" algn="bl" rotWithShape="0" blurRad="12700" dist="50800" dir="2700000">
              <a:srgbClr val="B7C6D1">
                <a:alpha val="11000"/>
              </a:srgbClr>
            </a:outerShdw>
          </a:effectLst>
        </p:spPr>
      </p:sp>
      <p:sp>
        <p:nvSpPr>
          <p:cNvPr id="32" name="Text 30"/>
          <p:cNvSpPr/>
          <p:nvPr/>
        </p:nvSpPr>
        <p:spPr>
          <a:xfrm>
            <a:off x="7607808" y="1481328"/>
            <a:ext cx="2194560" cy="201168"/>
          </a:xfrm>
          <a:prstGeom prst="rect">
            <a:avLst/>
          </a:prstGeom>
          <a:noFill/>
          <a:ln/>
        </p:spPr>
        <p:txBody>
          <a:bodyPr wrap="square" lIns="0" tIns="0" rIns="0" bIns="0" rtlCol="0" anchor="ctr"/>
          <a:lstStyle/>
          <a:p>
            <a:pPr indent="0" marL="0">
              <a:buNone/>
            </a:pPr>
            <a:r>
              <a:rPr lang="en-US" sz="850" b="1" spc="110" kern="0" dirty="0">
                <a:solidFill>
                  <a:srgbClr val="7C3AED"/>
                </a:solidFill>
              </a:rPr>
              <a:t>FUTURE SCOPE</a:t>
            </a:r>
            <a:endParaRPr lang="en-US" sz="850" dirty="0"/>
          </a:p>
        </p:txBody>
      </p:sp>
      <p:sp>
        <p:nvSpPr>
          <p:cNvPr id="33" name="Shape 31"/>
          <p:cNvSpPr/>
          <p:nvPr/>
        </p:nvSpPr>
        <p:spPr>
          <a:xfrm>
            <a:off x="7607808" y="1901952"/>
            <a:ext cx="82296" cy="82296"/>
          </a:xfrm>
          <a:prstGeom prst="ellipse">
            <a:avLst/>
          </a:prstGeom>
          <a:solidFill>
            <a:srgbClr val="2F80ED"/>
          </a:solidFill>
          <a:ln w="12700">
            <a:solidFill>
              <a:srgbClr val="2F80ED"/>
            </a:solidFill>
            <a:prstDash val="solid"/>
          </a:ln>
        </p:spPr>
      </p:sp>
      <p:sp>
        <p:nvSpPr>
          <p:cNvPr id="34" name="Text 32"/>
          <p:cNvSpPr/>
          <p:nvPr/>
        </p:nvSpPr>
        <p:spPr>
          <a:xfrm>
            <a:off x="7772400" y="1828800"/>
            <a:ext cx="3447288" cy="292608"/>
          </a:xfrm>
          <a:prstGeom prst="rect">
            <a:avLst/>
          </a:prstGeom>
          <a:noFill/>
          <a:ln/>
        </p:spPr>
        <p:txBody>
          <a:bodyPr wrap="square" lIns="0" tIns="0" rIns="0" bIns="0" rtlCol="0" anchor="ctr">
            <a:normAutofit/>
          </a:bodyPr>
          <a:lstStyle/>
          <a:p>
            <a:pPr indent="0" marL="0">
              <a:buNone/>
            </a:pPr>
            <a:r>
              <a:rPr lang="en-US" sz="1060" dirty="0">
                <a:solidFill>
                  <a:srgbClr val="263238"/>
                </a:solidFill>
              </a:rPr>
              <a:t>Two-factor authentication &amp; stronger device/session security</a:t>
            </a:r>
            <a:endParaRPr lang="en-US" sz="1060" dirty="0"/>
          </a:p>
        </p:txBody>
      </p:sp>
      <p:sp>
        <p:nvSpPr>
          <p:cNvPr id="35" name="Shape 33"/>
          <p:cNvSpPr/>
          <p:nvPr/>
        </p:nvSpPr>
        <p:spPr>
          <a:xfrm>
            <a:off x="7607808" y="5815584"/>
            <a:ext cx="82296" cy="82296"/>
          </a:xfrm>
          <a:prstGeom prst="ellipse">
            <a:avLst/>
          </a:prstGeom>
          <a:solidFill>
            <a:srgbClr val="2F80ED"/>
          </a:solidFill>
          <a:ln w="12700">
            <a:solidFill>
              <a:srgbClr val="2F80ED"/>
            </a:solidFill>
            <a:prstDash val="solid"/>
          </a:ln>
        </p:spPr>
      </p:sp>
      <p:sp>
        <p:nvSpPr>
          <p:cNvPr id="36" name="Text 34"/>
          <p:cNvSpPr/>
          <p:nvPr/>
        </p:nvSpPr>
        <p:spPr>
          <a:xfrm>
            <a:off x="7772400" y="5742432"/>
            <a:ext cx="3447288" cy="292608"/>
          </a:xfrm>
          <a:prstGeom prst="rect">
            <a:avLst/>
          </a:prstGeom>
          <a:noFill/>
          <a:ln/>
        </p:spPr>
        <p:txBody>
          <a:bodyPr wrap="square" lIns="0" tIns="0" rIns="0" bIns="0" rtlCol="0" anchor="ctr">
            <a:normAutofit/>
          </a:bodyPr>
          <a:lstStyle/>
          <a:p>
            <a:pPr indent="0" marL="0">
              <a:buNone/>
            </a:pPr>
            <a:r>
              <a:rPr lang="en-US" sz="1060" dirty="0">
                <a:solidFill>
                  <a:srgbClr val="263238"/>
                </a:solidFill>
              </a:rPr>
              <a:t>Fraud/anomaly detection &amp; transaction risk scoring</a:t>
            </a:r>
            <a:endParaRPr lang="en-US" sz="1060" dirty="0"/>
          </a:p>
        </p:txBody>
      </p:sp>
      <p:sp>
        <p:nvSpPr>
          <p:cNvPr id="37" name="Shape 35"/>
          <p:cNvSpPr/>
          <p:nvPr/>
        </p:nvSpPr>
        <p:spPr>
          <a:xfrm>
            <a:off x="7607808" y="9729216"/>
            <a:ext cx="82296" cy="82296"/>
          </a:xfrm>
          <a:prstGeom prst="ellipse">
            <a:avLst/>
          </a:prstGeom>
          <a:solidFill>
            <a:srgbClr val="2F80ED"/>
          </a:solidFill>
          <a:ln w="12700">
            <a:solidFill>
              <a:srgbClr val="2F80ED"/>
            </a:solidFill>
            <a:prstDash val="solid"/>
          </a:ln>
        </p:spPr>
      </p:sp>
      <p:sp>
        <p:nvSpPr>
          <p:cNvPr id="38" name="Text 36"/>
          <p:cNvSpPr/>
          <p:nvPr/>
        </p:nvSpPr>
        <p:spPr>
          <a:xfrm>
            <a:off x="7772400" y="9656064"/>
            <a:ext cx="3447288" cy="292608"/>
          </a:xfrm>
          <a:prstGeom prst="rect">
            <a:avLst/>
          </a:prstGeom>
          <a:noFill/>
          <a:ln/>
        </p:spPr>
        <p:txBody>
          <a:bodyPr wrap="square" lIns="0" tIns="0" rIns="0" bIns="0" rtlCol="0" anchor="ctr">
            <a:normAutofit/>
          </a:bodyPr>
          <a:lstStyle/>
          <a:p>
            <a:pPr indent="0" marL="0">
              <a:buNone/>
            </a:pPr>
            <a:r>
              <a:rPr lang="en-US" sz="1060" dirty="0">
                <a:solidFill>
                  <a:srgbClr val="263238"/>
                </a:solidFill>
              </a:rPr>
              <a:t>Authorized payment/biller integrations and notifications</a:t>
            </a:r>
            <a:endParaRPr lang="en-US" sz="1060" dirty="0"/>
          </a:p>
        </p:txBody>
      </p:sp>
      <p:sp>
        <p:nvSpPr>
          <p:cNvPr id="39" name="Shape 37"/>
          <p:cNvSpPr/>
          <p:nvPr/>
        </p:nvSpPr>
        <p:spPr>
          <a:xfrm>
            <a:off x="7607808" y="13642848"/>
            <a:ext cx="82296" cy="82296"/>
          </a:xfrm>
          <a:prstGeom prst="ellipse">
            <a:avLst/>
          </a:prstGeom>
          <a:solidFill>
            <a:srgbClr val="2F80ED"/>
          </a:solidFill>
          <a:ln w="12700">
            <a:solidFill>
              <a:srgbClr val="2F80ED"/>
            </a:solidFill>
            <a:prstDash val="solid"/>
          </a:ln>
        </p:spPr>
      </p:sp>
      <p:sp>
        <p:nvSpPr>
          <p:cNvPr id="40" name="Text 38"/>
          <p:cNvSpPr/>
          <p:nvPr/>
        </p:nvSpPr>
        <p:spPr>
          <a:xfrm>
            <a:off x="7772400" y="13569696"/>
            <a:ext cx="3447288" cy="292608"/>
          </a:xfrm>
          <a:prstGeom prst="rect">
            <a:avLst/>
          </a:prstGeom>
          <a:noFill/>
          <a:ln/>
        </p:spPr>
        <p:txBody>
          <a:bodyPr wrap="square" lIns="0" tIns="0" rIns="0" bIns="0" rtlCol="0" anchor="ctr">
            <a:normAutofit/>
          </a:bodyPr>
          <a:lstStyle/>
          <a:p>
            <a:pPr indent="0" marL="0">
              <a:buNone/>
            </a:pPr>
            <a:r>
              <a:rPr lang="en-US" sz="1060" dirty="0">
                <a:solidFill>
                  <a:srgbClr val="263238"/>
                </a:solidFill>
              </a:rPr>
              <a:t>Loan repayment schedules &amp; investment analytics</a:t>
            </a:r>
            <a:endParaRPr lang="en-US" sz="1060" dirty="0"/>
          </a:p>
        </p:txBody>
      </p:sp>
      <p:sp>
        <p:nvSpPr>
          <p:cNvPr id="41" name="Shape 39"/>
          <p:cNvSpPr/>
          <p:nvPr/>
        </p:nvSpPr>
        <p:spPr>
          <a:xfrm>
            <a:off x="7607808" y="17556480"/>
            <a:ext cx="82296" cy="82296"/>
          </a:xfrm>
          <a:prstGeom prst="ellipse">
            <a:avLst/>
          </a:prstGeom>
          <a:solidFill>
            <a:srgbClr val="2F80ED"/>
          </a:solidFill>
          <a:ln w="12700">
            <a:solidFill>
              <a:srgbClr val="2F80ED"/>
            </a:solidFill>
            <a:prstDash val="solid"/>
          </a:ln>
        </p:spPr>
      </p:sp>
      <p:sp>
        <p:nvSpPr>
          <p:cNvPr id="42" name="Text 40"/>
          <p:cNvSpPr/>
          <p:nvPr/>
        </p:nvSpPr>
        <p:spPr>
          <a:xfrm>
            <a:off x="7772400" y="17483328"/>
            <a:ext cx="3447288" cy="292608"/>
          </a:xfrm>
          <a:prstGeom prst="rect">
            <a:avLst/>
          </a:prstGeom>
          <a:noFill/>
          <a:ln/>
        </p:spPr>
        <p:txBody>
          <a:bodyPr wrap="square" lIns="0" tIns="0" rIns="0" bIns="0" rtlCol="0" anchor="ctr">
            <a:normAutofit/>
          </a:bodyPr>
          <a:lstStyle/>
          <a:p>
            <a:pPr indent="0" marL="0">
              <a:buNone/>
            </a:pPr>
            <a:r>
              <a:rPr lang="en-US" sz="1060" dirty="0">
                <a:solidFill>
                  <a:srgbClr val="263238"/>
                </a:solidFill>
              </a:rPr>
              <a:t>Containerized deployment, logging, backups &amp; disaster recovery</a:t>
            </a:r>
            <a:endParaRPr lang="en-US" sz="1060" dirty="0"/>
          </a:p>
        </p:txBody>
      </p:sp>
      <p:sp>
        <p:nvSpPr>
          <p:cNvPr id="43" name="Shape 41"/>
          <p:cNvSpPr/>
          <p:nvPr/>
        </p:nvSpPr>
        <p:spPr>
          <a:xfrm>
            <a:off x="7333488" y="4480560"/>
            <a:ext cx="4251960" cy="1554480"/>
          </a:xfrm>
          <a:prstGeom prst="roundRect">
            <a:avLst>
              <a:gd name="adj" fmla="val 4706"/>
            </a:avLst>
          </a:prstGeom>
          <a:solidFill>
            <a:srgbClr val="12344D"/>
          </a:solidFill>
          <a:ln w="11430">
            <a:solidFill>
              <a:srgbClr val="12344D"/>
            </a:solidFill>
            <a:prstDash val="solid"/>
          </a:ln>
          <a:effectLst>
            <a:outerShdw sx="100000" sy="100000" kx="0" ky="0" algn="bl" rotWithShape="0" blurRad="12700" dist="50800" dir="2700000">
              <a:srgbClr val="B7C6D1">
                <a:alpha val="11000"/>
              </a:srgbClr>
            </a:outerShdw>
          </a:effectLst>
        </p:spPr>
      </p:sp>
      <p:sp>
        <p:nvSpPr>
          <p:cNvPr id="44" name="Text 42"/>
          <p:cNvSpPr/>
          <p:nvPr/>
        </p:nvSpPr>
        <p:spPr>
          <a:xfrm>
            <a:off x="7607808" y="4736592"/>
            <a:ext cx="1280160" cy="219456"/>
          </a:xfrm>
          <a:prstGeom prst="rect">
            <a:avLst/>
          </a:prstGeom>
          <a:noFill/>
          <a:ln/>
        </p:spPr>
        <p:txBody>
          <a:bodyPr wrap="square" lIns="0" tIns="0" rIns="0" bIns="0" rtlCol="0" anchor="ctr"/>
          <a:lstStyle/>
          <a:p>
            <a:pPr indent="0" marL="0">
              <a:buNone/>
            </a:pPr>
            <a:r>
              <a:rPr lang="en-US" sz="1200" b="1" dirty="0">
                <a:solidFill>
                  <a:srgbClr val="9ED7FF"/>
                </a:solidFill>
              </a:rPr>
              <a:t>Takeaway</a:t>
            </a:r>
            <a:endParaRPr lang="en-US" sz="1200" dirty="0"/>
          </a:p>
        </p:txBody>
      </p:sp>
      <p:sp>
        <p:nvSpPr>
          <p:cNvPr id="45" name="Text 43"/>
          <p:cNvSpPr/>
          <p:nvPr/>
        </p:nvSpPr>
        <p:spPr>
          <a:xfrm>
            <a:off x="7607808" y="5074920"/>
            <a:ext cx="3611880" cy="548640"/>
          </a:xfrm>
          <a:prstGeom prst="rect">
            <a:avLst/>
          </a:prstGeom>
          <a:noFill/>
          <a:ln/>
        </p:spPr>
        <p:txBody>
          <a:bodyPr wrap="square" lIns="0" tIns="0" rIns="0" bIns="0" rtlCol="0" anchor="ctr">
            <a:normAutofit/>
          </a:bodyPr>
          <a:lstStyle/>
          <a:p>
            <a:pPr indent="0" marL="0">
              <a:buNone/>
            </a:pPr>
            <a:r>
              <a:rPr lang="en-US" sz="1800" b="1" dirty="0">
                <a:solidFill>
                  <a:srgbClr val="FFFFFF"/>
                </a:solidFill>
              </a:rPr>
              <a:t>BankEase centralizes everyday banking services in one secure, structured web application.</a:t>
            </a:r>
            <a:endParaRPr lang="en-US" sz="1800" dirty="0"/>
          </a:p>
        </p:txBody>
      </p:sp>
      <p:sp>
        <p:nvSpPr>
          <p:cNvPr id="46" name="Text 44"/>
          <p:cNvSpPr/>
          <p:nvPr/>
        </p:nvSpPr>
        <p:spPr>
          <a:xfrm>
            <a:off x="9372600" y="6144768"/>
            <a:ext cx="2240280" cy="164592"/>
          </a:xfrm>
          <a:prstGeom prst="rect">
            <a:avLst/>
          </a:prstGeom>
          <a:noFill/>
          <a:ln/>
        </p:spPr>
        <p:txBody>
          <a:bodyPr wrap="square" lIns="0" tIns="0" rIns="0" bIns="0" rtlCol="0" anchor="ctr"/>
          <a:lstStyle/>
          <a:p>
            <a:pPr algn="r" indent="0" marL="0">
              <a:buNone/>
            </a:pPr>
            <a:r>
              <a:rPr lang="en-US" sz="720" i="1" dirty="0">
                <a:solidFill>
                  <a:srgbClr val="8797A5"/>
                </a:solidFill>
              </a:rPr>
              <a:t>Source: Uploaded SRS, page 8</a:t>
            </a:r>
            <a:endParaRPr lang="en-US" sz="720" dirty="0"/>
          </a:p>
        </p:txBody>
      </p:sp>
      <p:sp>
        <p:nvSpPr>
          <p:cNvPr id="25" name="Slide Number Placeholder 0"/>
          <p:cNvSpPr>
            <a:spLocks noGrp="1"/>
          </p:cNvSpPr>
          <p:nvPr>
            <p:ph type="sldNum" sz="quarter" idx="4294967295"/>
          </p:nvPr>
        </p:nvSpPr>
        <p:spPr>
          <a:xfrm>
            <a:off x="11631168" y="647395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B7C8C"/>
                </a:solidFill>
                <a:latin typeface="Aptos"/>
                <a:ea typeface="Aptos"/>
                <a:cs typeface="Aptos"/>
              </a:defRPr>
            </a:lvl1pPr>
          </a:lstStyle>
          <a:p>
            <a:pPr algn="l"/>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ABES Engineering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BankEase - College Project Presentation</dc:title>
  <dc:subject>BankEase: NextGen Net Banking</dc:subject>
  <dc:creator>Abhay Uttam</dc:creator>
  <cp:lastModifiedBy>Abhay Uttam</cp:lastModifiedBy>
  <cp:revision>1</cp:revision>
  <dcterms:created xsi:type="dcterms:W3CDTF">2026-10-01T06:23:21Z</dcterms:created>
  <dcterms:modified xsi:type="dcterms:W3CDTF">2026-10-01T06:23:21Z</dcterms:modified>
</cp:coreProperties>
</file>